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2">
  <p:sldMasterIdLst>
    <p:sldMasterId id="2147483648" r:id="rId1"/>
    <p:sldMasterId id="2147483663" r:id="rId2"/>
    <p:sldMasterId id="2147483675" r:id="rId3"/>
  </p:sldMasterIdLst>
  <p:notesMasterIdLst>
    <p:notesMasterId r:id="rId42"/>
  </p:notesMasterIdLst>
  <p:handoutMasterIdLst>
    <p:handoutMasterId r:id="rId43"/>
  </p:handoutMasterIdLst>
  <p:sldIdLst>
    <p:sldId id="307" r:id="rId4"/>
    <p:sldId id="3206" r:id="rId5"/>
    <p:sldId id="3187" r:id="rId6"/>
    <p:sldId id="3188" r:id="rId7"/>
    <p:sldId id="3189" r:id="rId8"/>
    <p:sldId id="3190" r:id="rId9"/>
    <p:sldId id="3191" r:id="rId10"/>
    <p:sldId id="3192" r:id="rId11"/>
    <p:sldId id="3193" r:id="rId12"/>
    <p:sldId id="3194" r:id="rId13"/>
    <p:sldId id="3195" r:id="rId14"/>
    <p:sldId id="3196" r:id="rId15"/>
    <p:sldId id="3197" r:id="rId16"/>
    <p:sldId id="3198" r:id="rId17"/>
    <p:sldId id="3199" r:id="rId18"/>
    <p:sldId id="3200" r:id="rId19"/>
    <p:sldId id="3201" r:id="rId20"/>
    <p:sldId id="3202" r:id="rId21"/>
    <p:sldId id="3099" r:id="rId22"/>
    <p:sldId id="3203" r:id="rId23"/>
    <p:sldId id="3204" r:id="rId24"/>
    <p:sldId id="3205" r:id="rId25"/>
    <p:sldId id="3100" r:id="rId26"/>
    <p:sldId id="3101" r:id="rId27"/>
    <p:sldId id="3106" r:id="rId28"/>
    <p:sldId id="3108" r:id="rId29"/>
    <p:sldId id="3107" r:id="rId30"/>
    <p:sldId id="3109" r:id="rId31"/>
    <p:sldId id="3110" r:id="rId32"/>
    <p:sldId id="3112" r:id="rId33"/>
    <p:sldId id="3111" r:id="rId34"/>
    <p:sldId id="3113" r:id="rId35"/>
    <p:sldId id="3114" r:id="rId36"/>
    <p:sldId id="3115" r:id="rId37"/>
    <p:sldId id="3116" r:id="rId38"/>
    <p:sldId id="3117" r:id="rId39"/>
    <p:sldId id="3118" r:id="rId40"/>
    <p:sldId id="3119" r:id="rId41"/>
  </p:sldIdLst>
  <p:sldSz cx="9144000" cy="6858000" type="screen4x3"/>
  <p:notesSz cx="6807200" cy="9939338"/>
  <p:defaultTextStyle>
    <a:defPPr>
      <a:defRPr lang="en-AU"/>
    </a:defPPr>
    <a:lvl1pPr algn="l" rtl="0" fontAlgn="base">
      <a:spcBef>
        <a:spcPct val="0"/>
      </a:spcBef>
      <a:spcAft>
        <a:spcPct val="0"/>
      </a:spcAft>
      <a:defRPr sz="1000" b="1" kern="1200">
        <a:solidFill>
          <a:schemeClr val="bg1"/>
        </a:solidFill>
        <a:latin typeface="Verdana" pitchFamily="34" charset="0"/>
        <a:ea typeface="+mn-ea"/>
        <a:cs typeface="Arial" charset="0"/>
      </a:defRPr>
    </a:lvl1pPr>
    <a:lvl2pPr marL="457200" algn="l" rtl="0" fontAlgn="base">
      <a:spcBef>
        <a:spcPct val="0"/>
      </a:spcBef>
      <a:spcAft>
        <a:spcPct val="0"/>
      </a:spcAft>
      <a:defRPr sz="1000" b="1" kern="1200">
        <a:solidFill>
          <a:schemeClr val="bg1"/>
        </a:solidFill>
        <a:latin typeface="Verdana" pitchFamily="34" charset="0"/>
        <a:ea typeface="+mn-ea"/>
        <a:cs typeface="Arial" charset="0"/>
      </a:defRPr>
    </a:lvl2pPr>
    <a:lvl3pPr marL="914400" algn="l" rtl="0" fontAlgn="base">
      <a:spcBef>
        <a:spcPct val="0"/>
      </a:spcBef>
      <a:spcAft>
        <a:spcPct val="0"/>
      </a:spcAft>
      <a:defRPr sz="1000" b="1" kern="1200">
        <a:solidFill>
          <a:schemeClr val="bg1"/>
        </a:solidFill>
        <a:latin typeface="Verdana" pitchFamily="34" charset="0"/>
        <a:ea typeface="+mn-ea"/>
        <a:cs typeface="Arial" charset="0"/>
      </a:defRPr>
    </a:lvl3pPr>
    <a:lvl4pPr marL="1371600" algn="l" rtl="0" fontAlgn="base">
      <a:spcBef>
        <a:spcPct val="0"/>
      </a:spcBef>
      <a:spcAft>
        <a:spcPct val="0"/>
      </a:spcAft>
      <a:defRPr sz="1000" b="1" kern="1200">
        <a:solidFill>
          <a:schemeClr val="bg1"/>
        </a:solidFill>
        <a:latin typeface="Verdana" pitchFamily="34" charset="0"/>
        <a:ea typeface="+mn-ea"/>
        <a:cs typeface="Arial" charset="0"/>
      </a:defRPr>
    </a:lvl4pPr>
    <a:lvl5pPr marL="1828800" algn="l" rtl="0" fontAlgn="base">
      <a:spcBef>
        <a:spcPct val="0"/>
      </a:spcBef>
      <a:spcAft>
        <a:spcPct val="0"/>
      </a:spcAft>
      <a:defRPr sz="1000" b="1" kern="1200">
        <a:solidFill>
          <a:schemeClr val="bg1"/>
        </a:solidFill>
        <a:latin typeface="Verdana" pitchFamily="34" charset="0"/>
        <a:ea typeface="+mn-ea"/>
        <a:cs typeface="Arial" charset="0"/>
      </a:defRPr>
    </a:lvl5pPr>
    <a:lvl6pPr marL="2286000" algn="l" defTabSz="914400" rtl="0" eaLnBrk="1" latinLnBrk="0" hangingPunct="1">
      <a:defRPr sz="1000" b="1" kern="1200">
        <a:solidFill>
          <a:schemeClr val="bg1"/>
        </a:solidFill>
        <a:latin typeface="Verdana" pitchFamily="34" charset="0"/>
        <a:ea typeface="+mn-ea"/>
        <a:cs typeface="Arial" charset="0"/>
      </a:defRPr>
    </a:lvl6pPr>
    <a:lvl7pPr marL="2743200" algn="l" defTabSz="914400" rtl="0" eaLnBrk="1" latinLnBrk="0" hangingPunct="1">
      <a:defRPr sz="1000" b="1" kern="1200">
        <a:solidFill>
          <a:schemeClr val="bg1"/>
        </a:solidFill>
        <a:latin typeface="Verdana" pitchFamily="34" charset="0"/>
        <a:ea typeface="+mn-ea"/>
        <a:cs typeface="Arial" charset="0"/>
      </a:defRPr>
    </a:lvl7pPr>
    <a:lvl8pPr marL="3200400" algn="l" defTabSz="914400" rtl="0" eaLnBrk="1" latinLnBrk="0" hangingPunct="1">
      <a:defRPr sz="1000" b="1" kern="1200">
        <a:solidFill>
          <a:schemeClr val="bg1"/>
        </a:solidFill>
        <a:latin typeface="Verdana" pitchFamily="34" charset="0"/>
        <a:ea typeface="+mn-ea"/>
        <a:cs typeface="Arial" charset="0"/>
      </a:defRPr>
    </a:lvl8pPr>
    <a:lvl9pPr marL="3657600" algn="l" defTabSz="914400" rtl="0" eaLnBrk="1" latinLnBrk="0" hangingPunct="1">
      <a:defRPr sz="1000" b="1" kern="1200">
        <a:solidFill>
          <a:schemeClr val="bg1"/>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3131">
          <p15:clr>
            <a:srgbClr val="A4A3A4"/>
          </p15:clr>
        </p15:guide>
        <p15:guide id="2" pos="214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3300"/>
    <a:srgbClr val="FFFF4B"/>
    <a:srgbClr val="C0C0C0"/>
    <a:srgbClr val="DDDDDD"/>
    <a:srgbClr val="008000"/>
    <a:srgbClr val="00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8247" autoAdjust="0"/>
  </p:normalViewPr>
  <p:slideViewPr>
    <p:cSldViewPr snapToGrid="0">
      <p:cViewPr varScale="1">
        <p:scale>
          <a:sx n="72" d="100"/>
          <a:sy n="72" d="100"/>
        </p:scale>
        <p:origin x="1350" y="72"/>
      </p:cViewPr>
      <p:guideLst>
        <p:guide orient="horz"/>
        <p:guide/>
      </p:guideLst>
    </p:cSldViewPr>
  </p:slideViewPr>
  <p:outlineViewPr>
    <p:cViewPr>
      <p:scale>
        <a:sx n="33" d="100"/>
        <a:sy n="33" d="100"/>
      </p:scale>
      <p:origin x="48" y="3114"/>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81" d="100"/>
          <a:sy n="81" d="100"/>
        </p:scale>
        <p:origin x="-2790" y="-96"/>
      </p:cViewPr>
      <p:guideLst>
        <p:guide orient="horz" pos="3131"/>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25603" name="Rectangle 3"/>
          <p:cNvSpPr>
            <a:spLocks noGrp="1" noChangeArrowheads="1"/>
          </p:cNvSpPr>
          <p:nvPr>
            <p:ph type="dt" sz="quarter" idx="1"/>
          </p:nvPr>
        </p:nvSpPr>
        <p:spPr bwMode="auto">
          <a:xfrm>
            <a:off x="3857625"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r" defTabSz="936625">
              <a:defRPr sz="1200" b="0">
                <a:solidFill>
                  <a:schemeClr val="tx1"/>
                </a:solidFill>
                <a:latin typeface="Arial" charset="0"/>
              </a:defRPr>
            </a:lvl1pPr>
          </a:lstStyle>
          <a:p>
            <a:pPr>
              <a:defRPr/>
            </a:pPr>
            <a:endParaRPr lang="en-US"/>
          </a:p>
        </p:txBody>
      </p:sp>
      <p:sp>
        <p:nvSpPr>
          <p:cNvPr id="25604" name="Rectangle 4"/>
          <p:cNvSpPr>
            <a:spLocks noGrp="1" noChangeArrowheads="1"/>
          </p:cNvSpPr>
          <p:nvPr>
            <p:ph type="ftr" sz="quarter" idx="2"/>
          </p:nvPr>
        </p:nvSpPr>
        <p:spPr bwMode="auto">
          <a:xfrm>
            <a:off x="0"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25605" name="Rectangle 5"/>
          <p:cNvSpPr>
            <a:spLocks noGrp="1" noChangeArrowheads="1"/>
          </p:cNvSpPr>
          <p:nvPr>
            <p:ph type="sldNum" sz="quarter" idx="3"/>
          </p:nvPr>
        </p:nvSpPr>
        <p:spPr bwMode="auto">
          <a:xfrm>
            <a:off x="3857625"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r" defTabSz="936625">
              <a:defRPr sz="1200" b="0">
                <a:solidFill>
                  <a:schemeClr val="tx1"/>
                </a:solidFill>
                <a:latin typeface="Arial" charset="0"/>
              </a:defRPr>
            </a:lvl1pPr>
          </a:lstStyle>
          <a:p>
            <a:pPr>
              <a:defRPr/>
            </a:pPr>
            <a:fld id="{D0C31871-5B07-4F23-B3D0-C5CC077A7435}" type="slidenum">
              <a:rPr lang="en-AU"/>
              <a:pPr>
                <a:defRPr/>
              </a:pPr>
              <a:t>‹#›</a:t>
            </a:fld>
            <a:endParaRPr lang="en-AU" dirty="0"/>
          </a:p>
        </p:txBody>
      </p:sp>
    </p:spTree>
    <p:extLst>
      <p:ext uri="{BB962C8B-B14F-4D97-AF65-F5344CB8AC3E}">
        <p14:creationId xmlns:p14="http://schemas.microsoft.com/office/powerpoint/2010/main" val="23561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3075" name="Rectangle 3"/>
          <p:cNvSpPr>
            <a:spLocks noGrp="1" noChangeArrowheads="1"/>
          </p:cNvSpPr>
          <p:nvPr>
            <p:ph type="dt" idx="1"/>
          </p:nvPr>
        </p:nvSpPr>
        <p:spPr bwMode="auto">
          <a:xfrm>
            <a:off x="3857625"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r" defTabSz="936625">
              <a:defRPr sz="1200" b="0">
                <a:solidFill>
                  <a:schemeClr val="tx1"/>
                </a:solidFill>
                <a:latin typeface="Arial" charset="0"/>
              </a:defRPr>
            </a:lvl1pPr>
          </a:lstStyle>
          <a:p>
            <a:pPr>
              <a:defRPr/>
            </a:pPr>
            <a:endParaRPr lang="en-US"/>
          </a:p>
        </p:txBody>
      </p:sp>
      <p:sp>
        <p:nvSpPr>
          <p:cNvPr id="40964" name="Rectangle 4"/>
          <p:cNvSpPr>
            <a:spLocks noGrp="1" noRot="1" noChangeAspect="1" noChangeArrowheads="1" noTextEdit="1"/>
          </p:cNvSpPr>
          <p:nvPr>
            <p:ph type="sldImg" idx="2"/>
          </p:nvPr>
        </p:nvSpPr>
        <p:spPr bwMode="auto">
          <a:xfrm>
            <a:off x="915988" y="744538"/>
            <a:ext cx="4973637" cy="3729037"/>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1038" y="4721225"/>
            <a:ext cx="5445125" cy="4473575"/>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57625"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r" defTabSz="936625">
              <a:defRPr sz="1200" b="0">
                <a:solidFill>
                  <a:schemeClr val="tx1"/>
                </a:solidFill>
                <a:latin typeface="Arial" charset="0"/>
              </a:defRPr>
            </a:lvl1pPr>
          </a:lstStyle>
          <a:p>
            <a:pPr>
              <a:defRPr/>
            </a:pPr>
            <a:fld id="{E0A3756E-9C50-4905-A404-71CE374ECD4F}" type="slidenum">
              <a:rPr lang="en-AU"/>
              <a:pPr>
                <a:defRPr/>
              </a:pPr>
              <a:t>‹#›</a:t>
            </a:fld>
            <a:endParaRPr lang="en-AU" dirty="0"/>
          </a:p>
        </p:txBody>
      </p:sp>
    </p:spTree>
    <p:extLst>
      <p:ext uri="{BB962C8B-B14F-4D97-AF65-F5344CB8AC3E}">
        <p14:creationId xmlns:p14="http://schemas.microsoft.com/office/powerpoint/2010/main" val="23152875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p:spPr>
        <p:txBody>
          <a:bodyPr/>
          <a:lstStyle/>
          <a:p>
            <a:fld id="{471AB1A8-932D-4391-842A-FD27149FC182}" type="slidenum">
              <a:rPr lang="en-US" smtClean="0"/>
              <a:pPr/>
              <a:t>0</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07831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p:spPr>
        <p:txBody>
          <a:bodyPr/>
          <a:lstStyle/>
          <a:p>
            <a:fld id="{471AB1A8-932D-4391-842A-FD27149FC182}" type="slidenum">
              <a:rPr lang="en-US" smtClean="0"/>
              <a:pPr/>
              <a:t>18</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891283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ANZP0060_Presentation_PerspectiveShapes"/>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0483" name="Rectangle 3"/>
          <p:cNvSpPr>
            <a:spLocks noGrp="1" noChangeArrowheads="1"/>
          </p:cNvSpPr>
          <p:nvPr>
            <p:ph type="ctrTitle"/>
          </p:nvPr>
        </p:nvSpPr>
        <p:spPr>
          <a:xfrm>
            <a:off x="611188" y="1690688"/>
            <a:ext cx="7988300" cy="1235075"/>
          </a:xfrm>
        </p:spPr>
        <p:txBody>
          <a:bodyPr/>
          <a:lstStyle>
            <a:lvl1pPr algn="r">
              <a:defRPr sz="3500">
                <a:solidFill>
                  <a:schemeClr val="bg1"/>
                </a:solidFill>
              </a:defRPr>
            </a:lvl1pPr>
          </a:lstStyle>
          <a:p>
            <a:r>
              <a:rPr lang="en-AU"/>
              <a:t>Click to edit Master title style</a:t>
            </a:r>
          </a:p>
        </p:txBody>
      </p:sp>
      <p:sp>
        <p:nvSpPr>
          <p:cNvPr id="20484" name="Rectangle 4"/>
          <p:cNvSpPr>
            <a:spLocks noGrp="1" noChangeArrowheads="1"/>
          </p:cNvSpPr>
          <p:nvPr>
            <p:ph type="subTitle" idx="1"/>
          </p:nvPr>
        </p:nvSpPr>
        <p:spPr>
          <a:xfrm>
            <a:off x="1692275" y="3273425"/>
            <a:ext cx="6905625" cy="550863"/>
          </a:xfrm>
        </p:spPr>
        <p:txBody>
          <a:bodyPr/>
          <a:lstStyle>
            <a:lvl1pPr marL="0" indent="0" algn="r">
              <a:buFontTx/>
              <a:buNone/>
              <a:defRPr sz="1800" b="1">
                <a:solidFill>
                  <a:schemeClr val="accent1"/>
                </a:solidFill>
              </a:defRPr>
            </a:lvl1pPr>
          </a:lstStyle>
          <a:p>
            <a:r>
              <a:rPr lang="en-AU"/>
              <a:t>Click to edit Master subtitle style</a:t>
            </a:r>
          </a:p>
        </p:txBody>
      </p:sp>
      <p:sp>
        <p:nvSpPr>
          <p:cNvPr id="7" name="Date Placeholder 5"/>
          <p:cNvSpPr>
            <a:spLocks noGrp="1" noChangeArrowheads="1"/>
          </p:cNvSpPr>
          <p:nvPr>
            <p:ph type="dt" sz="quarter" idx="10"/>
          </p:nvPr>
        </p:nvSpPr>
        <p:spPr bwMode="auto">
          <a:xfrm>
            <a:off x="6465888" y="3922713"/>
            <a:ext cx="2133600" cy="476250"/>
          </a:xfrm>
          <a:prstGeom prst="rect">
            <a:avLst/>
          </a:prstGeom>
          <a:ln>
            <a:miter lim="800000"/>
            <a:headEnd/>
            <a:tailEnd/>
          </a:ln>
        </p:spPr>
        <p:txBody>
          <a:bodyPr vert="horz" wrap="square" lIns="0" tIns="0" rIns="0" bIns="0" numCol="1" anchor="t" anchorCtr="0" compatLnSpc="1">
            <a:prstTxWarp prst="textNoShape">
              <a:avLst/>
            </a:prstTxWarp>
          </a:bodyPr>
          <a:lstStyle>
            <a:lvl1pPr algn="r">
              <a:defRPr sz="1800" b="0">
                <a:solidFill>
                  <a:schemeClr val="bg1"/>
                </a:solidFill>
                <a:latin typeface="Arial" charset="0"/>
                <a:cs typeface="Arial" charset="0"/>
              </a:defRPr>
            </a:lvl1pPr>
          </a:lstStyle>
          <a:p>
            <a:pPr>
              <a:defRPr/>
            </a:pP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574675" y="1485900"/>
            <a:ext cx="3935413"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62488" y="1485900"/>
            <a:ext cx="3937000"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574675"/>
            <a:ext cx="2005013" cy="451008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574675" y="574675"/>
            <a:ext cx="5867400" cy="45100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4675" y="574675"/>
            <a:ext cx="8024813" cy="468313"/>
          </a:xfrm>
        </p:spPr>
        <p:txBody>
          <a:bodyPr/>
          <a:lstStyle/>
          <a:p>
            <a:r>
              <a:rPr lang="en-US"/>
              <a:t>Click to edit Master title style</a:t>
            </a:r>
            <a:endParaRPr lang="en-AU"/>
          </a:p>
        </p:txBody>
      </p:sp>
      <p:sp>
        <p:nvSpPr>
          <p:cNvPr id="3" name="Text Placeholder 2"/>
          <p:cNvSpPr>
            <a:spLocks noGrp="1"/>
          </p:cNvSpPr>
          <p:nvPr>
            <p:ph type="body" sz="half" idx="1"/>
          </p:nvPr>
        </p:nvSpPr>
        <p:spPr>
          <a:xfrm>
            <a:off x="574675" y="1485900"/>
            <a:ext cx="3935413" cy="3598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62488" y="1485900"/>
            <a:ext cx="3937000" cy="3598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74675" y="574675"/>
            <a:ext cx="8024813" cy="468313"/>
          </a:xfrm>
        </p:spPr>
        <p:txBody>
          <a:bodyPr/>
          <a:lstStyle/>
          <a:p>
            <a:r>
              <a:rPr lang="en-US"/>
              <a:t>Click to edit Master title style</a:t>
            </a:r>
            <a:endParaRPr lang="en-AU"/>
          </a:p>
        </p:txBody>
      </p:sp>
      <p:sp>
        <p:nvSpPr>
          <p:cNvPr id="3" name="Table Placeholder 2"/>
          <p:cNvSpPr>
            <a:spLocks noGrp="1"/>
          </p:cNvSpPr>
          <p:nvPr>
            <p:ph type="tbl" idx="1"/>
          </p:nvPr>
        </p:nvSpPr>
        <p:spPr>
          <a:xfrm>
            <a:off x="574675" y="1485900"/>
            <a:ext cx="8024813" cy="3598863"/>
          </a:xfrm>
        </p:spPr>
        <p:txBody>
          <a:bodyPr/>
          <a:lstStyle/>
          <a:p>
            <a:pPr lvl="0"/>
            <a:endParaRPr lang="en-AU" noProof="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
        <p:nvSpPr>
          <p:cNvPr id="4" name="Rectangle 5"/>
          <p:cNvSpPr>
            <a:spLocks noGrp="1" noChangeArrowheads="1"/>
          </p:cNvSpPr>
          <p:nvPr>
            <p:ph type="dt" sz="quarter" idx="10"/>
          </p:nvPr>
        </p:nvSpPr>
        <p:spPr/>
        <p:txBody>
          <a:bodyPr/>
          <a:lstStyle>
            <a:lvl1pPr>
              <a:defRPr/>
            </a:lvl1pPr>
          </a:lstStyle>
          <a:p>
            <a:pPr>
              <a:defRPr/>
            </a:pPr>
            <a:fld id="{F334DCB5-ED81-4E83-B377-7EBD1ABFB2BB}" type="datetimeFigureOut">
              <a:rPr lang="en-AU"/>
              <a:pPr>
                <a:defRPr/>
              </a:pPr>
              <a:t>25/04/2017</a:t>
            </a:fld>
            <a:endParaRPr lang="en-AU"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quarter" idx="10"/>
          </p:nvPr>
        </p:nvSpPr>
        <p:spPr/>
        <p:txBody>
          <a:bodyPr/>
          <a:lstStyle>
            <a:lvl1pPr>
              <a:defRPr/>
            </a:lvl1pPr>
          </a:lstStyle>
          <a:p>
            <a:pPr>
              <a:defRPr/>
            </a:pPr>
            <a:fld id="{E9D3DF12-63CD-483F-B3D2-5AF00E68978C}" type="datetimeFigureOut">
              <a:rPr lang="en-AU"/>
              <a:pPr>
                <a:defRPr/>
              </a:pPr>
              <a:t>25/04/2017</a:t>
            </a:fld>
            <a:endParaRPr lang="en-AU"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quarter" idx="10"/>
          </p:nvPr>
        </p:nvSpPr>
        <p:spPr/>
        <p:txBody>
          <a:bodyPr/>
          <a:lstStyle>
            <a:lvl1pPr>
              <a:defRPr/>
            </a:lvl1pPr>
          </a:lstStyle>
          <a:p>
            <a:pPr>
              <a:defRPr/>
            </a:pPr>
            <a:fld id="{6F15497D-EAEE-43CA-A928-C49B0DF80706}" type="datetimeFigureOut">
              <a:rPr lang="en-AU"/>
              <a:pPr>
                <a:defRPr/>
              </a:pPr>
              <a:t>25/04/2017</a:t>
            </a:fld>
            <a:endParaRPr lang="en-AU"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574675" y="971550"/>
            <a:ext cx="3935413"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62488" y="971550"/>
            <a:ext cx="3937000"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5"/>
          <p:cNvSpPr>
            <a:spLocks noGrp="1" noChangeArrowheads="1"/>
          </p:cNvSpPr>
          <p:nvPr>
            <p:ph type="dt" sz="quarter" idx="10"/>
          </p:nvPr>
        </p:nvSpPr>
        <p:spPr/>
        <p:txBody>
          <a:bodyPr/>
          <a:lstStyle>
            <a:lvl1pPr>
              <a:defRPr/>
            </a:lvl1pPr>
          </a:lstStyle>
          <a:p>
            <a:pPr>
              <a:defRPr/>
            </a:pPr>
            <a:fld id="{3404330A-58B6-48D6-AA94-AD24354C9CA7}" type="datetimeFigureOut">
              <a:rPr lang="en-AU"/>
              <a:pPr>
                <a:defRPr/>
              </a:pPr>
              <a:t>25/04/2017</a:t>
            </a:fld>
            <a:endParaRPr lang="en-AU"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5"/>
          <p:cNvSpPr>
            <a:spLocks noGrp="1" noChangeArrowheads="1"/>
          </p:cNvSpPr>
          <p:nvPr>
            <p:ph type="dt" sz="quarter" idx="10"/>
          </p:nvPr>
        </p:nvSpPr>
        <p:spPr/>
        <p:txBody>
          <a:bodyPr/>
          <a:lstStyle>
            <a:lvl1pPr>
              <a:defRPr/>
            </a:lvl1pPr>
          </a:lstStyle>
          <a:p>
            <a:pPr>
              <a:defRPr/>
            </a:pPr>
            <a:fld id="{7FC33F91-7123-4CD1-A8CA-6C43F7500C29}" type="datetimeFigureOut">
              <a:rPr lang="en-AU"/>
              <a:pPr>
                <a:defRPr/>
              </a:pPr>
              <a:t>25/04/2017</a:t>
            </a:fld>
            <a:endParaRPr lang="en-AU"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Rectangle 5"/>
          <p:cNvSpPr>
            <a:spLocks noGrp="1" noChangeArrowheads="1"/>
          </p:cNvSpPr>
          <p:nvPr>
            <p:ph type="dt" sz="quarter" idx="10"/>
          </p:nvPr>
        </p:nvSpPr>
        <p:spPr/>
        <p:txBody>
          <a:bodyPr/>
          <a:lstStyle>
            <a:lvl1pPr>
              <a:defRPr/>
            </a:lvl1pPr>
          </a:lstStyle>
          <a:p>
            <a:pPr>
              <a:defRPr/>
            </a:pPr>
            <a:fld id="{F5F7F696-BD25-41FE-B539-084E7E9809B3}" type="datetimeFigureOut">
              <a:rPr lang="en-AU"/>
              <a:pPr>
                <a:defRPr/>
              </a:pPr>
              <a:t>25/04/2017</a:t>
            </a:fld>
            <a:endParaRPr lang="en-AU"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quarter" idx="10"/>
          </p:nvPr>
        </p:nvSpPr>
        <p:spPr/>
        <p:txBody>
          <a:bodyPr/>
          <a:lstStyle>
            <a:lvl1pPr>
              <a:defRPr/>
            </a:lvl1pPr>
          </a:lstStyle>
          <a:p>
            <a:pPr>
              <a:defRPr/>
            </a:pPr>
            <a:fld id="{085E92E2-203F-4830-8C28-855BC7F370C2}" type="datetimeFigureOut">
              <a:rPr lang="en-AU"/>
              <a:pPr>
                <a:defRPr/>
              </a:pPr>
              <a:t>25/04/2017</a:t>
            </a:fld>
            <a:endParaRPr lang="en-AU"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quarter" idx="10"/>
          </p:nvPr>
        </p:nvSpPr>
        <p:spPr/>
        <p:txBody>
          <a:bodyPr/>
          <a:lstStyle>
            <a:lvl1pPr>
              <a:defRPr/>
            </a:lvl1pPr>
          </a:lstStyle>
          <a:p>
            <a:pPr>
              <a:defRPr/>
            </a:pPr>
            <a:fld id="{A2CA7CD7-15D4-4486-832D-AE47BE587871}" type="datetimeFigureOut">
              <a:rPr lang="en-AU"/>
              <a:pPr>
                <a:defRPr/>
              </a:pPr>
              <a:t>25/04/2017</a:t>
            </a:fld>
            <a:endParaRPr lang="en-AU"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quarter" idx="10"/>
          </p:nvPr>
        </p:nvSpPr>
        <p:spPr/>
        <p:txBody>
          <a:bodyPr/>
          <a:lstStyle>
            <a:lvl1pPr>
              <a:defRPr/>
            </a:lvl1pPr>
          </a:lstStyle>
          <a:p>
            <a:pPr>
              <a:defRPr/>
            </a:pPr>
            <a:fld id="{FF045A4B-D56E-489D-9522-8C7EA852FDB1}" type="datetimeFigureOut">
              <a:rPr lang="en-AU"/>
              <a:pPr>
                <a:defRPr/>
              </a:pPr>
              <a:t>25/04/2017</a:t>
            </a:fld>
            <a:endParaRPr lang="en-AU"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quarter" idx="10"/>
          </p:nvPr>
        </p:nvSpPr>
        <p:spPr/>
        <p:txBody>
          <a:bodyPr/>
          <a:lstStyle>
            <a:lvl1pPr>
              <a:defRPr/>
            </a:lvl1pPr>
          </a:lstStyle>
          <a:p>
            <a:pPr>
              <a:defRPr/>
            </a:pPr>
            <a:fld id="{2EF1FBC8-9AF2-4AB5-9352-AAD841084305}" type="datetimeFigureOut">
              <a:rPr lang="en-AU"/>
              <a:pPr>
                <a:defRPr/>
              </a:pPr>
              <a:t>25/04/2017</a:t>
            </a:fld>
            <a:endParaRPr lang="en-AU"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07163" y="476250"/>
            <a:ext cx="2092325" cy="4094163"/>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227013" y="476250"/>
            <a:ext cx="6127750" cy="4094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quarter" idx="10"/>
          </p:nvPr>
        </p:nvSpPr>
        <p:spPr/>
        <p:txBody>
          <a:bodyPr/>
          <a:lstStyle>
            <a:lvl1pPr>
              <a:defRPr/>
            </a:lvl1pPr>
          </a:lstStyle>
          <a:p>
            <a:pPr>
              <a:defRPr/>
            </a:pPr>
            <a:fld id="{9D05553F-31CF-47B8-B7A8-1AE798749BC6}" type="datetimeFigureOut">
              <a:rPr lang="en-AU"/>
              <a:pPr>
                <a:defRPr/>
              </a:pPr>
              <a:t>25/04/2017</a:t>
            </a:fld>
            <a:endParaRPr lang="en-AU"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userDrawn="1"/>
        </p:nvSpPr>
        <p:spPr bwMode="gray">
          <a:xfrm>
            <a:off x="450850" y="5949950"/>
            <a:ext cx="1201738" cy="212725"/>
          </a:xfrm>
          <a:prstGeom prst="rect">
            <a:avLst/>
          </a:prstGeom>
          <a:noFill/>
          <a:ln w="9525">
            <a:noFill/>
            <a:miter lim="800000"/>
            <a:headEnd/>
            <a:tailEnd/>
          </a:ln>
          <a:effectLst/>
        </p:spPr>
        <p:txBody>
          <a:bodyPr wrap="none" lIns="0" tIns="0" rIns="0" bIns="0">
            <a:spAutoFit/>
          </a:bodyPr>
          <a:lstStyle/>
          <a:p>
            <a:pPr>
              <a:defRPr/>
            </a:pPr>
            <a:r>
              <a:rPr lang="en-US" sz="1400" dirty="0">
                <a:solidFill>
                  <a:schemeClr val="tx2"/>
                </a:solidFill>
              </a:rPr>
              <a:t>Confidential</a:t>
            </a:r>
            <a:endParaRPr lang="en-AU" sz="1400" dirty="0">
              <a:solidFill>
                <a:schemeClr val="tx2"/>
              </a:solidFill>
            </a:endParaRPr>
          </a:p>
        </p:txBody>
      </p:sp>
      <p:sp>
        <p:nvSpPr>
          <p:cNvPr id="5" name="McK Disclaimer"/>
          <p:cNvSpPr>
            <a:spLocks noChangeArrowheads="1"/>
          </p:cNvSpPr>
          <p:nvPr userDrawn="1">
            <p:custDataLst>
              <p:tags r:id="rId1"/>
            </p:custDataLst>
          </p:nvPr>
        </p:nvSpPr>
        <p:spPr bwMode="gray">
          <a:xfrm>
            <a:off x="450850" y="6237288"/>
            <a:ext cx="5184775" cy="488950"/>
          </a:xfrm>
          <a:prstGeom prst="rect">
            <a:avLst/>
          </a:prstGeom>
          <a:noFill/>
          <a:ln w="9525">
            <a:noFill/>
            <a:miter lim="800000"/>
            <a:headEnd/>
            <a:tailEnd/>
          </a:ln>
          <a:effectLst/>
        </p:spPr>
        <p:txBody>
          <a:bodyPr lIns="0" tIns="0" rIns="0" bIns="0" anchor="b">
            <a:spAutoFit/>
          </a:bodyPr>
          <a:lstStyle/>
          <a:p>
            <a:pPr defTabSz="804863" eaLnBrk="0" hangingPunct="0">
              <a:defRPr/>
            </a:pPr>
            <a:r>
              <a:rPr lang="en-US" sz="800" b="0" dirty="0">
                <a:solidFill>
                  <a:schemeClr val="tx1"/>
                </a:solidFill>
              </a:rPr>
              <a:t>Information contained in this report is strictly confidential and may be subject to legal professional privilege. It is the exclusive property of Australia and New Zealand Banking Group Limited, and is solely for ANZ internal use. No part of it may be circulated, copied, quoted or otherwise referred to without prior written approval of ANZ Group.</a:t>
            </a:r>
          </a:p>
        </p:txBody>
      </p:sp>
      <p:sp>
        <p:nvSpPr>
          <p:cNvPr id="4038658" name="Rectangle 2"/>
          <p:cNvSpPr>
            <a:spLocks noGrp="1" noChangeArrowheads="1"/>
          </p:cNvSpPr>
          <p:nvPr>
            <p:ph type="ctrTitle"/>
          </p:nvPr>
        </p:nvSpPr>
        <p:spPr>
          <a:xfrm>
            <a:off x="1692275" y="1774825"/>
            <a:ext cx="6911975" cy="1017588"/>
          </a:xfrm>
        </p:spPr>
        <p:txBody>
          <a:bodyPr anchor="ctr"/>
          <a:lstStyle>
            <a:lvl1pPr algn="r">
              <a:defRPr sz="3000">
                <a:solidFill>
                  <a:schemeClr val="bg2"/>
                </a:solidFill>
              </a:defRPr>
            </a:lvl1pPr>
          </a:lstStyle>
          <a:p>
            <a:r>
              <a:rPr lang="en-AU"/>
              <a:t>Click to edit Master title style</a:t>
            </a:r>
          </a:p>
        </p:txBody>
      </p:sp>
      <p:sp>
        <p:nvSpPr>
          <p:cNvPr id="4038659" name="Rectangle 3"/>
          <p:cNvSpPr>
            <a:spLocks noGrp="1" noChangeArrowheads="1"/>
          </p:cNvSpPr>
          <p:nvPr>
            <p:ph type="subTitle" idx="1"/>
          </p:nvPr>
        </p:nvSpPr>
        <p:spPr>
          <a:xfrm>
            <a:off x="1689100" y="2781300"/>
            <a:ext cx="6915150" cy="550863"/>
          </a:xfrm>
        </p:spPr>
        <p:txBody>
          <a:bodyPr anchor="ctr"/>
          <a:lstStyle>
            <a:lvl1pPr marL="0" indent="0" algn="r">
              <a:spcAft>
                <a:spcPct val="0"/>
              </a:spcAft>
              <a:buFontTx/>
              <a:buNone/>
              <a:defRPr sz="2000" b="1">
                <a:solidFill>
                  <a:schemeClr val="tx2"/>
                </a:solidFill>
              </a:defRPr>
            </a:lvl1pPr>
          </a:lstStyle>
          <a:p>
            <a:r>
              <a:rPr lang="en-AU"/>
              <a:t>Click to edit Master subtitle style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sldNum" sz="quarter" idx="10"/>
          </p:nvPr>
        </p:nvSpPr>
        <p:spPr>
          <a:ln/>
        </p:spPr>
        <p:txBody>
          <a:bodyPr/>
          <a:lstStyle>
            <a:lvl1pPr>
              <a:defRPr/>
            </a:lvl1pPr>
          </a:lstStyle>
          <a:p>
            <a:pPr>
              <a:defRPr/>
            </a:pPr>
            <a:fld id="{9DEB7031-B69D-451E-806B-2089395D560E}" type="slidenum">
              <a:rPr lang="en-AU"/>
              <a:pPr>
                <a:defRPr/>
              </a:pPr>
              <a:t>‹#›</a:t>
            </a:fld>
            <a:endParaRPr lang="en-AU"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fld id="{4A95438D-0774-48CD-B835-22949E2F3923}" type="slidenum">
              <a:rPr lang="en-AU"/>
              <a:pPr>
                <a:defRPr/>
              </a:pPr>
              <a:t>‹#›</a:t>
            </a:fld>
            <a:endParaRPr lang="en-AU"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485900"/>
            <a:ext cx="4037013"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6613" y="1485900"/>
            <a:ext cx="4038600"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5"/>
          <p:cNvSpPr>
            <a:spLocks noGrp="1" noChangeArrowheads="1"/>
          </p:cNvSpPr>
          <p:nvPr>
            <p:ph type="sldNum" sz="quarter" idx="10"/>
          </p:nvPr>
        </p:nvSpPr>
        <p:spPr>
          <a:ln/>
        </p:spPr>
        <p:txBody>
          <a:bodyPr/>
          <a:lstStyle>
            <a:lvl1pPr>
              <a:defRPr/>
            </a:lvl1pPr>
          </a:lstStyle>
          <a:p>
            <a:pPr>
              <a:defRPr/>
            </a:pPr>
            <a:fld id="{43EF4807-4F7B-40C1-A2E5-DD3C9829BBB7}" type="slidenum">
              <a:rPr lang="en-AU"/>
              <a:pPr>
                <a:defRPr/>
              </a:pPr>
              <a:t>‹#›</a:t>
            </a:fld>
            <a:endParaRPr lang="en-AU"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5"/>
          <p:cNvSpPr>
            <a:spLocks noGrp="1" noChangeArrowheads="1"/>
          </p:cNvSpPr>
          <p:nvPr>
            <p:ph type="sldNum" sz="quarter" idx="10"/>
          </p:nvPr>
        </p:nvSpPr>
        <p:spPr>
          <a:ln/>
        </p:spPr>
        <p:txBody>
          <a:bodyPr/>
          <a:lstStyle>
            <a:lvl1pPr>
              <a:defRPr/>
            </a:lvl1pPr>
          </a:lstStyle>
          <a:p>
            <a:pPr>
              <a:defRPr/>
            </a:pPr>
            <a:fld id="{80146E22-E77A-4999-A9F3-6741A96054F4}" type="slidenum">
              <a:rPr lang="en-AU"/>
              <a:pPr>
                <a:defRPr/>
              </a:pPr>
              <a:t>‹#›</a:t>
            </a:fld>
            <a:endParaRPr lang="en-AU"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Rectangle 5"/>
          <p:cNvSpPr>
            <a:spLocks noGrp="1" noChangeArrowheads="1"/>
          </p:cNvSpPr>
          <p:nvPr>
            <p:ph type="sldNum" sz="quarter" idx="10"/>
          </p:nvPr>
        </p:nvSpPr>
        <p:spPr>
          <a:ln/>
        </p:spPr>
        <p:txBody>
          <a:bodyPr/>
          <a:lstStyle>
            <a:lvl1pPr>
              <a:defRPr/>
            </a:lvl1pPr>
          </a:lstStyle>
          <a:p>
            <a:pPr>
              <a:defRPr/>
            </a:pPr>
            <a:fld id="{3804F2D5-828A-4059-823D-7145E34F6D7B}" type="slidenum">
              <a:rPr lang="en-AU"/>
              <a:pPr>
                <a:defRPr/>
              </a:pPr>
              <a:t>‹#›</a:t>
            </a:fld>
            <a:endParaRPr lang="en-AU"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3DEBDD46-EFFF-40BA-BCE5-2747392B9DE7}" type="slidenum">
              <a:rPr lang="en-AU"/>
              <a:pPr>
                <a:defRPr/>
              </a:pPr>
              <a:t>‹#›</a:t>
            </a:fld>
            <a:endParaRPr lang="en-AU"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48EB8986-F398-4F20-B145-8FC35A80D7CF}" type="slidenum">
              <a:rPr lang="en-AU"/>
              <a:pPr>
                <a:defRPr/>
              </a:pPr>
              <a:t>‹#›</a:t>
            </a:fld>
            <a:endParaRPr lang="en-AU"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D1D241A2-A02C-406B-85B1-5C5F5327223A}" type="slidenum">
              <a:rPr lang="en-AU"/>
              <a:pPr>
                <a:defRPr/>
              </a:pPr>
              <a:t>‹#›</a:t>
            </a:fld>
            <a:endParaRPr lang="en-AU"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sldNum" sz="quarter" idx="10"/>
          </p:nvPr>
        </p:nvSpPr>
        <p:spPr>
          <a:ln/>
        </p:spPr>
        <p:txBody>
          <a:bodyPr/>
          <a:lstStyle>
            <a:lvl1pPr>
              <a:defRPr/>
            </a:lvl1pPr>
          </a:lstStyle>
          <a:p>
            <a:pPr>
              <a:defRPr/>
            </a:pPr>
            <a:fld id="{854905FD-DC14-4A39-8568-0A94628331A5}" type="slidenum">
              <a:rPr lang="en-AU"/>
              <a:pPr>
                <a:defRPr/>
              </a:pPr>
              <a:t>‹#›</a:t>
            </a:fld>
            <a:endParaRPr lang="en-AU"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33375"/>
            <a:ext cx="2055813" cy="475138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333375"/>
            <a:ext cx="6019800" cy="4751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sldNum" sz="quarter" idx="10"/>
          </p:nvPr>
        </p:nvSpPr>
        <p:spPr>
          <a:ln/>
        </p:spPr>
        <p:txBody>
          <a:bodyPr/>
          <a:lstStyle>
            <a:lvl1pPr>
              <a:defRPr/>
            </a:lvl1pPr>
          </a:lstStyle>
          <a:p>
            <a:pPr>
              <a:defRPr/>
            </a:pPr>
            <a:fld id="{A60156EB-E661-41EF-8068-59A986A4719E}" type="slidenum">
              <a:rPr lang="en-AU"/>
              <a:pPr>
                <a:defRPr/>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Grp="1" noChangeArrowheads="1"/>
          </p:cNvSpPr>
          <p:nvPr>
            <p:ph type="title"/>
          </p:nvPr>
        </p:nvSpPr>
        <p:spPr bwMode="auto">
          <a:xfrm>
            <a:off x="574675" y="574675"/>
            <a:ext cx="8024813" cy="4683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a:t>Click to edit Master title style</a:t>
            </a:r>
          </a:p>
        </p:txBody>
      </p:sp>
      <p:sp>
        <p:nvSpPr>
          <p:cNvPr id="1027" name="Rectangle 16"/>
          <p:cNvSpPr>
            <a:spLocks noGrp="1" noChangeArrowheads="1"/>
          </p:cNvSpPr>
          <p:nvPr>
            <p:ph type="body" idx="1"/>
          </p:nvPr>
        </p:nvSpPr>
        <p:spPr bwMode="auto">
          <a:xfrm>
            <a:off x="574675" y="1485900"/>
            <a:ext cx="8024813"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19473" name="Line 17"/>
          <p:cNvSpPr>
            <a:spLocks noChangeShapeType="1"/>
          </p:cNvSpPr>
          <p:nvPr/>
        </p:nvSpPr>
        <p:spPr bwMode="auto">
          <a:xfrm>
            <a:off x="574675" y="1042988"/>
            <a:ext cx="8024813" cy="0"/>
          </a:xfrm>
          <a:prstGeom prst="line">
            <a:avLst/>
          </a:prstGeom>
          <a:noFill/>
          <a:ln w="6350">
            <a:solidFill>
              <a:schemeClr val="tx2"/>
            </a:solidFill>
            <a:round/>
            <a:headEnd/>
            <a:tailEnd/>
          </a:ln>
          <a:effectLst/>
        </p:spPr>
        <p:txBody>
          <a:bodyPr/>
          <a:lstStyle/>
          <a:p>
            <a:pPr>
              <a:defRPr/>
            </a:pPr>
            <a:endParaRPr lang="en-AU" sz="1800" b="0" dirty="0">
              <a:solidFill>
                <a:schemeClr val="tx1"/>
              </a:solidFill>
            </a:endParaRPr>
          </a:p>
        </p:txBody>
      </p:sp>
      <p:sp>
        <p:nvSpPr>
          <p:cNvPr id="19480" name="Text Box 24"/>
          <p:cNvSpPr txBox="1">
            <a:spLocks noChangeArrowheads="1"/>
          </p:cNvSpPr>
          <p:nvPr/>
        </p:nvSpPr>
        <p:spPr bwMode="auto">
          <a:xfrm>
            <a:off x="3933825" y="6621463"/>
            <a:ext cx="1287463" cy="214312"/>
          </a:xfrm>
          <a:prstGeom prst="rect">
            <a:avLst/>
          </a:prstGeom>
          <a:noFill/>
          <a:ln w="9525">
            <a:noFill/>
            <a:miter lim="800000"/>
            <a:headEnd/>
            <a:tailEnd/>
          </a:ln>
        </p:spPr>
        <p:txBody>
          <a:bodyPr lIns="91429" tIns="45715" rIns="91429" bIns="45715">
            <a:spAutoFit/>
          </a:bodyPr>
          <a:lstStyle/>
          <a:p>
            <a:pPr algn="ctr">
              <a:spcBef>
                <a:spcPct val="50000"/>
              </a:spcBef>
              <a:defRPr/>
            </a:pPr>
            <a:r>
              <a:rPr lang="en-AU" sz="800" b="0" dirty="0">
                <a:solidFill>
                  <a:schemeClr val="tx2"/>
                </a:solidFill>
              </a:rPr>
              <a:t>Page </a:t>
            </a:r>
            <a:fld id="{46C46B11-8FCC-4061-8A49-206DEDCFA8E0}" type="slidenum">
              <a:rPr lang="en-AU" sz="800" b="0">
                <a:solidFill>
                  <a:schemeClr val="tx2"/>
                </a:solidFill>
              </a:rPr>
              <a:pPr algn="ctr">
                <a:spcBef>
                  <a:spcPct val="50000"/>
                </a:spcBef>
                <a:defRPr/>
              </a:pPr>
              <a:t>‹#›</a:t>
            </a:fld>
            <a:endParaRPr lang="en-AU" sz="800" b="0" dirty="0">
              <a:solidFill>
                <a:schemeClr val="tx2"/>
              </a:solidFill>
            </a:endParaRPr>
          </a:p>
        </p:txBody>
      </p:sp>
      <p:sp>
        <p:nvSpPr>
          <p:cNvPr id="7" name="AcnSubjectTitle_ID_7" hidden="1"/>
          <p:cNvSpPr txBox="1"/>
          <p:nvPr>
            <p:custDataLst>
              <p:tags r:id="rId16"/>
            </p:custDataLst>
          </p:nvPr>
        </p:nvSpPr>
        <p:spPr bwMode="gray">
          <a:xfrm>
            <a:off x="574675" y="1420813"/>
            <a:ext cx="6985000" cy="246062"/>
          </a:xfrm>
          <a:prstGeom prst="rect">
            <a:avLst/>
          </a:prstGeom>
          <a:noFill/>
          <a:ln w="9525">
            <a:noFill/>
            <a:miter lim="800000"/>
            <a:headEnd/>
            <a:tailEnd/>
          </a:ln>
        </p:spPr>
        <p:txBody>
          <a:bodyPr lIns="0" tIns="0" rIns="0" bIns="0">
            <a:spAutoFit/>
          </a:bodyPr>
          <a:lstStyle/>
          <a:p>
            <a:pPr eaLnBrk="0" hangingPunct="0">
              <a:buClr>
                <a:schemeClr val="tx2"/>
              </a:buClr>
              <a:defRPr/>
            </a:pPr>
            <a:r>
              <a:rPr lang="en-AU" sz="1600" dirty="0">
                <a:solidFill>
                  <a:schemeClr val="tx1"/>
                </a:solidFill>
                <a:latin typeface="+mn-lt"/>
                <a:cs typeface="+mn-cs"/>
              </a:rPr>
              <a:t>Subject Title</a:t>
            </a:r>
          </a:p>
        </p:txBody>
      </p:sp>
      <p:sp>
        <p:nvSpPr>
          <p:cNvPr id="2057" name="Rectangle 9"/>
          <p:cNvSpPr>
            <a:spLocks noChangeArrowheads="1"/>
          </p:cNvSpPr>
          <p:nvPr userDrawn="1"/>
        </p:nvSpPr>
        <p:spPr bwMode="auto">
          <a:xfrm>
            <a:off x="0" y="6623050"/>
            <a:ext cx="1444625" cy="214313"/>
          </a:xfrm>
          <a:prstGeom prst="rect">
            <a:avLst/>
          </a:prstGeom>
          <a:noFill/>
          <a:ln w="9525">
            <a:noFill/>
            <a:miter lim="800000"/>
            <a:headEnd/>
            <a:tailEnd/>
          </a:ln>
          <a:effectLst/>
        </p:spPr>
        <p:txBody>
          <a:bodyPr wrap="none">
            <a:spAutoFit/>
          </a:bodyPr>
          <a:lstStyle/>
          <a:p>
            <a:pPr>
              <a:defRPr/>
            </a:pPr>
            <a:r>
              <a:rPr lang="en-AU" sz="800" b="0" dirty="0">
                <a:solidFill>
                  <a:schemeClr val="tx2"/>
                </a:solidFill>
              </a:rPr>
              <a:t>Classification: Restricted</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2000" b="1">
          <a:solidFill>
            <a:schemeClr val="tx2"/>
          </a:solidFill>
          <a:latin typeface="Verdana" pitchFamily="34" charset="0"/>
          <a:cs typeface="Arial" charset="0"/>
        </a:defRPr>
      </a:lvl2pPr>
      <a:lvl3pPr algn="l" rtl="0" eaLnBrk="0" fontAlgn="base" hangingPunct="0">
        <a:spcBef>
          <a:spcPct val="0"/>
        </a:spcBef>
        <a:spcAft>
          <a:spcPct val="0"/>
        </a:spcAft>
        <a:defRPr sz="2000" b="1">
          <a:solidFill>
            <a:schemeClr val="tx2"/>
          </a:solidFill>
          <a:latin typeface="Verdana" pitchFamily="34" charset="0"/>
          <a:cs typeface="Arial" charset="0"/>
        </a:defRPr>
      </a:lvl3pPr>
      <a:lvl4pPr algn="l" rtl="0" eaLnBrk="0" fontAlgn="base" hangingPunct="0">
        <a:spcBef>
          <a:spcPct val="0"/>
        </a:spcBef>
        <a:spcAft>
          <a:spcPct val="0"/>
        </a:spcAft>
        <a:defRPr sz="2000" b="1">
          <a:solidFill>
            <a:schemeClr val="tx2"/>
          </a:solidFill>
          <a:latin typeface="Verdana" pitchFamily="34" charset="0"/>
          <a:cs typeface="Arial" charset="0"/>
        </a:defRPr>
      </a:lvl4pPr>
      <a:lvl5pPr algn="l" rtl="0" eaLnBrk="0" fontAlgn="base" hangingPunct="0">
        <a:spcBef>
          <a:spcPct val="0"/>
        </a:spcBef>
        <a:spcAft>
          <a:spcPct val="0"/>
        </a:spcAft>
        <a:defRPr sz="2000" b="1">
          <a:solidFill>
            <a:schemeClr val="tx2"/>
          </a:solidFill>
          <a:latin typeface="Verdana" pitchFamily="34" charset="0"/>
          <a:cs typeface="Arial" charset="0"/>
        </a:defRPr>
      </a:lvl5pPr>
      <a:lvl6pPr marL="457200" algn="l" rtl="0" fontAlgn="base">
        <a:spcBef>
          <a:spcPct val="0"/>
        </a:spcBef>
        <a:spcAft>
          <a:spcPct val="0"/>
        </a:spcAft>
        <a:defRPr sz="2400" b="1">
          <a:solidFill>
            <a:schemeClr val="tx2"/>
          </a:solidFill>
          <a:latin typeface="Verdana" pitchFamily="34" charset="0"/>
          <a:cs typeface="Arial" charset="0"/>
        </a:defRPr>
      </a:lvl6pPr>
      <a:lvl7pPr marL="914400" algn="l" rtl="0" fontAlgn="base">
        <a:spcBef>
          <a:spcPct val="0"/>
        </a:spcBef>
        <a:spcAft>
          <a:spcPct val="0"/>
        </a:spcAft>
        <a:defRPr sz="2400" b="1">
          <a:solidFill>
            <a:schemeClr val="tx2"/>
          </a:solidFill>
          <a:latin typeface="Verdana" pitchFamily="34" charset="0"/>
          <a:cs typeface="Arial" charset="0"/>
        </a:defRPr>
      </a:lvl7pPr>
      <a:lvl8pPr marL="1371600" algn="l" rtl="0" fontAlgn="base">
        <a:spcBef>
          <a:spcPct val="0"/>
        </a:spcBef>
        <a:spcAft>
          <a:spcPct val="0"/>
        </a:spcAft>
        <a:defRPr sz="2400" b="1">
          <a:solidFill>
            <a:schemeClr val="tx2"/>
          </a:solidFill>
          <a:latin typeface="Verdana" pitchFamily="34" charset="0"/>
          <a:cs typeface="Arial" charset="0"/>
        </a:defRPr>
      </a:lvl8pPr>
      <a:lvl9pPr marL="1828800" algn="l" rtl="0" fontAlgn="base">
        <a:spcBef>
          <a:spcPct val="0"/>
        </a:spcBef>
        <a:spcAft>
          <a:spcPct val="0"/>
        </a:spcAft>
        <a:defRPr sz="2400" b="1">
          <a:solidFill>
            <a:schemeClr val="tx2"/>
          </a:solidFill>
          <a:latin typeface="Verdana" pitchFamily="34" charset="0"/>
          <a:cs typeface="Arial" charset="0"/>
        </a:defRPr>
      </a:lvl9pPr>
    </p:titleStyle>
    <p:body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386" name="Picture 10" descr="ANZP0060_Reports_PerspectiveShape"/>
          <p:cNvPicPr>
            <a:picLocks noChangeAspect="1" noChangeArrowheads="1"/>
          </p:cNvPicPr>
          <p:nvPr/>
        </p:nvPicPr>
        <p:blipFill>
          <a:blip r:embed="rId13"/>
          <a:srcRect/>
          <a:stretch>
            <a:fillRect/>
          </a:stretch>
        </p:blipFill>
        <p:spPr bwMode="auto">
          <a:xfrm>
            <a:off x="0" y="0"/>
            <a:ext cx="9144000" cy="411163"/>
          </a:xfrm>
          <a:prstGeom prst="rect">
            <a:avLst/>
          </a:prstGeom>
          <a:noFill/>
          <a:ln w="9525">
            <a:noFill/>
            <a:miter lim="800000"/>
            <a:headEnd/>
            <a:tailEnd/>
          </a:ln>
        </p:spPr>
      </p:pic>
      <p:sp>
        <p:nvSpPr>
          <p:cNvPr id="8" name="Text Box 7"/>
          <p:cNvSpPr txBox="1">
            <a:spLocks noChangeArrowheads="1"/>
          </p:cNvSpPr>
          <p:nvPr userDrawn="1"/>
        </p:nvSpPr>
        <p:spPr bwMode="gray">
          <a:xfrm>
            <a:off x="4238625" y="6619875"/>
            <a:ext cx="665163" cy="122238"/>
          </a:xfrm>
          <a:prstGeom prst="rect">
            <a:avLst/>
          </a:prstGeom>
          <a:noFill/>
          <a:ln>
            <a:noFill/>
          </a:ln>
          <a:effectLst/>
          <a:extLst/>
        </p:spPr>
        <p:txBody>
          <a:bodyPr lIns="0" tIns="0" rIns="0" bIns="0">
            <a:spAutoFit/>
          </a:bodyPr>
          <a:lstStyle>
            <a:lvl1pPr algn="ctr" defTabSz="793750" eaLnBrk="0" hangingPunct="0">
              <a:spcBef>
                <a:spcPct val="0"/>
              </a:spcBef>
              <a:defRPr sz="800" b="1">
                <a:solidFill>
                  <a:schemeClr val="tx1"/>
                </a:solidFill>
                <a:latin typeface="Verdana" pitchFamily="34" charset="0"/>
                <a:cs typeface="Arial" charset="0"/>
              </a:defRPr>
            </a:lvl1pPr>
            <a:lvl2pPr algn="ctr" defTabSz="793750" eaLnBrk="0" hangingPunct="0">
              <a:spcBef>
                <a:spcPct val="0"/>
              </a:spcBef>
              <a:defRPr sz="800" b="1">
                <a:solidFill>
                  <a:schemeClr val="tx1"/>
                </a:solidFill>
                <a:latin typeface="Verdana" pitchFamily="34" charset="0"/>
                <a:cs typeface="Arial" charset="0"/>
              </a:defRPr>
            </a:lvl2pPr>
            <a:lvl3pPr algn="ctr" defTabSz="793750" eaLnBrk="0" hangingPunct="0">
              <a:spcBef>
                <a:spcPct val="0"/>
              </a:spcBef>
              <a:defRPr sz="800" b="1">
                <a:solidFill>
                  <a:schemeClr val="tx1"/>
                </a:solidFill>
                <a:latin typeface="Verdana" pitchFamily="34" charset="0"/>
                <a:cs typeface="Arial" charset="0"/>
              </a:defRPr>
            </a:lvl3pPr>
            <a:lvl4pPr algn="ctr" defTabSz="793750" eaLnBrk="0" hangingPunct="0">
              <a:spcBef>
                <a:spcPct val="0"/>
              </a:spcBef>
              <a:defRPr sz="800" b="1">
                <a:solidFill>
                  <a:schemeClr val="tx1"/>
                </a:solidFill>
                <a:latin typeface="Verdana" pitchFamily="34" charset="0"/>
                <a:cs typeface="Arial" charset="0"/>
              </a:defRPr>
            </a:lvl4pPr>
            <a:lvl5pPr algn="ctr" defTabSz="793750" eaLnBrk="0" hangingPunct="0">
              <a:spcBef>
                <a:spcPct val="0"/>
              </a:spcBef>
              <a:defRPr sz="800" b="1">
                <a:solidFill>
                  <a:schemeClr val="tx1"/>
                </a:solidFill>
                <a:latin typeface="Verdana" pitchFamily="34" charset="0"/>
                <a:cs typeface="Arial" charset="0"/>
              </a:defRPr>
            </a:lvl5pPr>
            <a:lvl6pPr algn="ctr" defTabSz="793750" eaLnBrk="0" fontAlgn="t" hangingPunct="0">
              <a:spcBef>
                <a:spcPct val="0"/>
              </a:spcBef>
              <a:spcAft>
                <a:spcPct val="0"/>
              </a:spcAft>
              <a:defRPr sz="800" b="1">
                <a:solidFill>
                  <a:schemeClr val="tx1"/>
                </a:solidFill>
                <a:latin typeface="Verdana" pitchFamily="34" charset="0"/>
                <a:cs typeface="Arial" charset="0"/>
              </a:defRPr>
            </a:lvl6pPr>
            <a:lvl7pPr algn="ctr" defTabSz="793750" eaLnBrk="0" fontAlgn="t" hangingPunct="0">
              <a:spcBef>
                <a:spcPct val="0"/>
              </a:spcBef>
              <a:spcAft>
                <a:spcPct val="0"/>
              </a:spcAft>
              <a:defRPr sz="800" b="1">
                <a:solidFill>
                  <a:schemeClr val="tx1"/>
                </a:solidFill>
                <a:latin typeface="Verdana" pitchFamily="34" charset="0"/>
                <a:cs typeface="Arial" charset="0"/>
              </a:defRPr>
            </a:lvl7pPr>
            <a:lvl8pPr algn="ctr" defTabSz="793750" eaLnBrk="0" fontAlgn="t" hangingPunct="0">
              <a:spcBef>
                <a:spcPct val="0"/>
              </a:spcBef>
              <a:spcAft>
                <a:spcPct val="0"/>
              </a:spcAft>
              <a:defRPr sz="800" b="1">
                <a:solidFill>
                  <a:schemeClr val="tx1"/>
                </a:solidFill>
                <a:latin typeface="Verdana" pitchFamily="34" charset="0"/>
                <a:cs typeface="Arial" charset="0"/>
              </a:defRPr>
            </a:lvl8pPr>
            <a:lvl9pPr algn="ctr" defTabSz="793750" eaLnBrk="0" fontAlgn="t" hangingPunct="0">
              <a:spcBef>
                <a:spcPct val="0"/>
              </a:spcBef>
              <a:spcAft>
                <a:spcPct val="0"/>
              </a:spcAft>
              <a:defRPr sz="800" b="1">
                <a:solidFill>
                  <a:schemeClr val="tx1"/>
                </a:solidFill>
                <a:latin typeface="Verdana" pitchFamily="34" charset="0"/>
                <a:cs typeface="Arial" charset="0"/>
              </a:defRPr>
            </a:lvl9pPr>
          </a:lstStyle>
          <a:p>
            <a:pPr eaLnBrk="1" fontAlgn="t" hangingPunct="1">
              <a:spcBef>
                <a:spcPct val="50000"/>
              </a:spcBef>
              <a:defRPr/>
            </a:pPr>
            <a:r>
              <a:rPr lang="en-GB" b="0" dirty="0">
                <a:solidFill>
                  <a:schemeClr val="tx2"/>
                </a:solidFill>
              </a:rPr>
              <a:t>Page </a:t>
            </a:r>
            <a:fld id="{1D0C1FC2-4B43-4A7F-8A6B-F55032C350C8}" type="slidenum">
              <a:rPr lang="en-GB" b="0" smtClean="0">
                <a:solidFill>
                  <a:schemeClr val="tx2"/>
                </a:solidFill>
              </a:rPr>
              <a:pPr eaLnBrk="1" fontAlgn="t" hangingPunct="1">
                <a:spcBef>
                  <a:spcPct val="50000"/>
                </a:spcBef>
                <a:defRPr/>
              </a:pPr>
              <a:t>‹#›</a:t>
            </a:fld>
            <a:endParaRPr lang="en-GB" b="0" dirty="0">
              <a:solidFill>
                <a:schemeClr val="tx2"/>
              </a:solidFill>
            </a:endParaRPr>
          </a:p>
        </p:txBody>
      </p:sp>
      <p:sp>
        <p:nvSpPr>
          <p:cNvPr id="16388" name="Rectangle 3"/>
          <p:cNvSpPr>
            <a:spLocks noGrp="1" noChangeArrowheads="1"/>
          </p:cNvSpPr>
          <p:nvPr>
            <p:ph type="title"/>
          </p:nvPr>
        </p:nvSpPr>
        <p:spPr bwMode="auto">
          <a:xfrm>
            <a:off x="227013" y="476250"/>
            <a:ext cx="8024812" cy="3603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16389" name="Rectangle 4"/>
          <p:cNvSpPr>
            <a:spLocks noGrp="1" noChangeArrowheads="1"/>
          </p:cNvSpPr>
          <p:nvPr>
            <p:ph type="body" idx="1"/>
          </p:nvPr>
        </p:nvSpPr>
        <p:spPr bwMode="auto">
          <a:xfrm>
            <a:off x="574675" y="971550"/>
            <a:ext cx="8024813"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Rectangle 5"/>
          <p:cNvSpPr>
            <a:spLocks noGrp="1" noChangeArrowheads="1"/>
          </p:cNvSpPr>
          <p:nvPr>
            <p:ph type="dt" sz="quarter" idx="2"/>
          </p:nvPr>
        </p:nvSpPr>
        <p:spPr bwMode="auto">
          <a:xfrm>
            <a:off x="6426200" y="3922713"/>
            <a:ext cx="2133600" cy="476250"/>
          </a:xfrm>
          <a:prstGeom prst="rect">
            <a:avLst/>
          </a:prstGeom>
          <a:extLst/>
        </p:spPr>
        <p:txBody>
          <a:bodyPr vert="horz" wrap="square" lIns="0" tIns="0" rIns="0" bIns="0" numCol="1" anchor="t" anchorCtr="0" compatLnSpc="1">
            <a:prstTxWarp prst="textNoShape">
              <a:avLst/>
            </a:prstTxWarp>
          </a:bodyPr>
          <a:lstStyle>
            <a:lvl1pPr algn="r">
              <a:defRPr sz="1800" b="0">
                <a:solidFill>
                  <a:schemeClr val="tx2"/>
                </a:solidFill>
                <a:latin typeface="Arial" charset="0"/>
              </a:defRPr>
            </a:lvl1pPr>
          </a:lstStyle>
          <a:p>
            <a:pPr>
              <a:defRPr/>
            </a:pPr>
            <a:fld id="{D390BF02-7044-47B7-80CA-97442D9FA6AD}" type="datetimeFigureOut">
              <a:rPr lang="en-AU"/>
              <a:pPr>
                <a:defRPr/>
              </a:pPr>
              <a:t>25/04/2017</a:t>
            </a:fld>
            <a:endParaRPr lang="en-AU" dirty="0"/>
          </a:p>
        </p:txBody>
      </p:sp>
      <p:sp>
        <p:nvSpPr>
          <p:cNvPr id="19473" name="Line 17"/>
          <p:cNvSpPr>
            <a:spLocks noChangeShapeType="1"/>
          </p:cNvSpPr>
          <p:nvPr userDrawn="1"/>
        </p:nvSpPr>
        <p:spPr bwMode="auto">
          <a:xfrm>
            <a:off x="252413" y="800100"/>
            <a:ext cx="7777162" cy="0"/>
          </a:xfrm>
          <a:prstGeom prst="line">
            <a:avLst/>
          </a:prstGeom>
          <a:noFill/>
          <a:ln w="6350">
            <a:solidFill>
              <a:schemeClr val="tx2"/>
            </a:solidFill>
            <a:round/>
            <a:headEnd/>
            <a:tailEnd/>
          </a:ln>
          <a:effectLst/>
          <a:extLst/>
        </p:spPr>
        <p:txBody>
          <a:bodyPr/>
          <a:lstStyle/>
          <a:p>
            <a:pPr>
              <a:defRPr/>
            </a:pPr>
            <a:endParaRPr lang="en-AU" sz="1800" b="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ftr="0" dt="0"/>
  <p:txStyles>
    <p:titleStyle>
      <a:lvl1pPr algn="l" rtl="0" eaLnBrk="0" fontAlgn="base" hangingPunct="0">
        <a:spcBef>
          <a:spcPct val="0"/>
        </a:spcBef>
        <a:spcAft>
          <a:spcPct val="0"/>
        </a:spcAft>
        <a:defRPr sz="1600" b="1">
          <a:solidFill>
            <a:srgbClr val="007DBA"/>
          </a:solidFill>
          <a:latin typeface="+mj-lt"/>
          <a:ea typeface="+mj-ea"/>
          <a:cs typeface="+mj-cs"/>
        </a:defRPr>
      </a:lvl1pPr>
      <a:lvl2pPr algn="l" rtl="0" eaLnBrk="0" fontAlgn="base" hangingPunct="0">
        <a:spcBef>
          <a:spcPct val="0"/>
        </a:spcBef>
        <a:spcAft>
          <a:spcPct val="0"/>
        </a:spcAft>
        <a:defRPr sz="1600" b="1">
          <a:solidFill>
            <a:srgbClr val="007DBA"/>
          </a:solidFill>
          <a:latin typeface="Verdana" pitchFamily="34" charset="0"/>
          <a:cs typeface="Arial" charset="0"/>
        </a:defRPr>
      </a:lvl2pPr>
      <a:lvl3pPr algn="l" rtl="0" eaLnBrk="0" fontAlgn="base" hangingPunct="0">
        <a:spcBef>
          <a:spcPct val="0"/>
        </a:spcBef>
        <a:spcAft>
          <a:spcPct val="0"/>
        </a:spcAft>
        <a:defRPr sz="1600" b="1">
          <a:solidFill>
            <a:srgbClr val="007DBA"/>
          </a:solidFill>
          <a:latin typeface="Verdana" pitchFamily="34" charset="0"/>
          <a:cs typeface="Arial" charset="0"/>
        </a:defRPr>
      </a:lvl3pPr>
      <a:lvl4pPr algn="l" rtl="0" eaLnBrk="0" fontAlgn="base" hangingPunct="0">
        <a:spcBef>
          <a:spcPct val="0"/>
        </a:spcBef>
        <a:spcAft>
          <a:spcPct val="0"/>
        </a:spcAft>
        <a:defRPr sz="1600" b="1">
          <a:solidFill>
            <a:srgbClr val="007DBA"/>
          </a:solidFill>
          <a:latin typeface="Verdana" pitchFamily="34" charset="0"/>
          <a:cs typeface="Arial" charset="0"/>
        </a:defRPr>
      </a:lvl4pPr>
      <a:lvl5pPr algn="l" rtl="0" eaLnBrk="0" fontAlgn="base" hangingPunct="0">
        <a:spcBef>
          <a:spcPct val="0"/>
        </a:spcBef>
        <a:spcAft>
          <a:spcPct val="0"/>
        </a:spcAft>
        <a:defRPr sz="1600" b="1">
          <a:solidFill>
            <a:srgbClr val="007DBA"/>
          </a:solidFill>
          <a:latin typeface="Verdana" pitchFamily="34" charset="0"/>
          <a:cs typeface="Arial" charset="0"/>
        </a:defRPr>
      </a:lvl5pPr>
      <a:lvl6pPr marL="457200" algn="l" rtl="0" fontAlgn="base">
        <a:spcBef>
          <a:spcPct val="0"/>
        </a:spcBef>
        <a:spcAft>
          <a:spcPct val="0"/>
        </a:spcAft>
        <a:defRPr sz="1600" b="1">
          <a:solidFill>
            <a:srgbClr val="007DBA"/>
          </a:solidFill>
          <a:latin typeface="Verdana" pitchFamily="34" charset="0"/>
          <a:cs typeface="Arial" charset="0"/>
        </a:defRPr>
      </a:lvl6pPr>
      <a:lvl7pPr marL="914400" algn="l" rtl="0" fontAlgn="base">
        <a:spcBef>
          <a:spcPct val="0"/>
        </a:spcBef>
        <a:spcAft>
          <a:spcPct val="0"/>
        </a:spcAft>
        <a:defRPr sz="1600" b="1">
          <a:solidFill>
            <a:srgbClr val="007DBA"/>
          </a:solidFill>
          <a:latin typeface="Verdana" pitchFamily="34" charset="0"/>
          <a:cs typeface="Arial" charset="0"/>
        </a:defRPr>
      </a:lvl7pPr>
      <a:lvl8pPr marL="1371600" algn="l" rtl="0" fontAlgn="base">
        <a:spcBef>
          <a:spcPct val="0"/>
        </a:spcBef>
        <a:spcAft>
          <a:spcPct val="0"/>
        </a:spcAft>
        <a:defRPr sz="1600" b="1">
          <a:solidFill>
            <a:srgbClr val="007DBA"/>
          </a:solidFill>
          <a:latin typeface="Verdana" pitchFamily="34" charset="0"/>
          <a:cs typeface="Arial" charset="0"/>
        </a:defRPr>
      </a:lvl8pPr>
      <a:lvl9pPr marL="1828800" algn="l" rtl="0" fontAlgn="base">
        <a:spcBef>
          <a:spcPct val="0"/>
        </a:spcBef>
        <a:spcAft>
          <a:spcPct val="0"/>
        </a:spcAft>
        <a:defRPr sz="1600" b="1">
          <a:solidFill>
            <a:srgbClr val="007DBA"/>
          </a:solidFill>
          <a:latin typeface="Verdana" pitchFamily="34" charset="0"/>
          <a:cs typeface="Arial" charset="0"/>
        </a:defRPr>
      </a:lvl9pPr>
    </p:titleStyle>
    <p:bodyStyle>
      <a:lvl1pPr marL="182563" indent="-182563" algn="l" rtl="0" eaLnBrk="0" fontAlgn="base" hangingPunct="0">
        <a:spcBef>
          <a:spcPct val="20000"/>
        </a:spcBef>
        <a:spcAft>
          <a:spcPct val="0"/>
        </a:spcAft>
        <a:buClr>
          <a:schemeClr val="accent1"/>
        </a:buClr>
        <a:buChar char="•"/>
        <a:defRPr sz="1200">
          <a:solidFill>
            <a:schemeClr val="tx1"/>
          </a:solidFill>
          <a:latin typeface="+mn-lt"/>
          <a:ea typeface="+mn-ea"/>
          <a:cs typeface="+mn-cs"/>
        </a:defRPr>
      </a:lvl1pPr>
      <a:lvl2pPr marL="539750" indent="-177800" algn="l" rtl="0" eaLnBrk="0" fontAlgn="base" hangingPunct="0">
        <a:spcBef>
          <a:spcPct val="20000"/>
        </a:spcBef>
        <a:spcAft>
          <a:spcPct val="0"/>
        </a:spcAft>
        <a:buClr>
          <a:schemeClr val="accent1"/>
        </a:buClr>
        <a:buChar char="•"/>
        <a:defRPr sz="1200">
          <a:solidFill>
            <a:schemeClr val="tx1"/>
          </a:solidFill>
          <a:latin typeface="+mn-lt"/>
          <a:cs typeface="+mn-cs"/>
        </a:defRPr>
      </a:lvl2pPr>
      <a:lvl3pPr marL="895350" indent="-176213" algn="l" rtl="0" eaLnBrk="0" fontAlgn="base" hangingPunct="0">
        <a:spcBef>
          <a:spcPct val="20000"/>
        </a:spcBef>
        <a:spcAft>
          <a:spcPct val="0"/>
        </a:spcAft>
        <a:buClr>
          <a:schemeClr val="accent1"/>
        </a:buClr>
        <a:buChar char="•"/>
        <a:defRPr sz="1200">
          <a:solidFill>
            <a:schemeClr val="tx1"/>
          </a:solidFill>
          <a:latin typeface="+mn-lt"/>
          <a:cs typeface="+mn-cs"/>
        </a:defRPr>
      </a:lvl3pPr>
      <a:lvl4pPr marL="1252538" indent="-177800" algn="l" rtl="0" eaLnBrk="0" fontAlgn="base" hangingPunct="0">
        <a:spcBef>
          <a:spcPct val="20000"/>
        </a:spcBef>
        <a:spcAft>
          <a:spcPct val="0"/>
        </a:spcAft>
        <a:buClr>
          <a:schemeClr val="accent1"/>
        </a:buClr>
        <a:buChar char="•"/>
        <a:defRPr sz="1200">
          <a:solidFill>
            <a:schemeClr val="tx1"/>
          </a:solidFill>
          <a:latin typeface="+mn-lt"/>
          <a:cs typeface="+mn-cs"/>
        </a:defRPr>
      </a:lvl4pPr>
      <a:lvl5pPr marL="1619250" indent="-187325" algn="l" rtl="0" eaLnBrk="0" fontAlgn="base" hangingPunct="0">
        <a:spcBef>
          <a:spcPct val="20000"/>
        </a:spcBef>
        <a:spcAft>
          <a:spcPct val="0"/>
        </a:spcAft>
        <a:buClr>
          <a:schemeClr val="accent1"/>
        </a:buClr>
        <a:buChar char="•"/>
        <a:defRPr sz="1200">
          <a:solidFill>
            <a:schemeClr val="tx1"/>
          </a:solidFill>
          <a:latin typeface="+mn-lt"/>
          <a:cs typeface="+mn-cs"/>
        </a:defRPr>
      </a:lvl5pPr>
      <a:lvl6pPr marL="2076450" indent="-187325" algn="l" rtl="0" fontAlgn="base">
        <a:spcBef>
          <a:spcPct val="20000"/>
        </a:spcBef>
        <a:spcAft>
          <a:spcPct val="0"/>
        </a:spcAft>
        <a:buClr>
          <a:schemeClr val="accent1"/>
        </a:buClr>
        <a:buChar char="•"/>
        <a:defRPr sz="1200">
          <a:solidFill>
            <a:schemeClr val="tx1"/>
          </a:solidFill>
          <a:latin typeface="+mn-lt"/>
          <a:cs typeface="+mn-cs"/>
        </a:defRPr>
      </a:lvl6pPr>
      <a:lvl7pPr marL="2533650" indent="-187325" algn="l" rtl="0" fontAlgn="base">
        <a:spcBef>
          <a:spcPct val="20000"/>
        </a:spcBef>
        <a:spcAft>
          <a:spcPct val="0"/>
        </a:spcAft>
        <a:buClr>
          <a:schemeClr val="accent1"/>
        </a:buClr>
        <a:buChar char="•"/>
        <a:defRPr sz="1200">
          <a:solidFill>
            <a:schemeClr val="tx1"/>
          </a:solidFill>
          <a:latin typeface="+mn-lt"/>
          <a:cs typeface="+mn-cs"/>
        </a:defRPr>
      </a:lvl7pPr>
      <a:lvl8pPr marL="2990850" indent="-187325" algn="l" rtl="0" fontAlgn="base">
        <a:spcBef>
          <a:spcPct val="20000"/>
        </a:spcBef>
        <a:spcAft>
          <a:spcPct val="0"/>
        </a:spcAft>
        <a:buClr>
          <a:schemeClr val="accent1"/>
        </a:buClr>
        <a:buChar char="•"/>
        <a:defRPr sz="1200">
          <a:solidFill>
            <a:schemeClr val="tx1"/>
          </a:solidFill>
          <a:latin typeface="+mn-lt"/>
          <a:cs typeface="+mn-cs"/>
        </a:defRPr>
      </a:lvl8pPr>
      <a:lvl9pPr marL="3448050" indent="-187325" algn="l" rtl="0" fontAlgn="base">
        <a:spcBef>
          <a:spcPct val="20000"/>
        </a:spcBef>
        <a:spcAft>
          <a:spcPct val="0"/>
        </a:spcAft>
        <a:buClr>
          <a:schemeClr val="accent1"/>
        </a:buClr>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457200" y="333375"/>
            <a:ext cx="8228013" cy="46831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AU"/>
              <a:t>Click to edit Master title style</a:t>
            </a:r>
          </a:p>
        </p:txBody>
      </p:sp>
      <p:sp>
        <p:nvSpPr>
          <p:cNvPr id="28675" name="Rectangle 3"/>
          <p:cNvSpPr>
            <a:spLocks noGrp="1" noChangeArrowheads="1"/>
          </p:cNvSpPr>
          <p:nvPr>
            <p:ph type="body" idx="1"/>
          </p:nvPr>
        </p:nvSpPr>
        <p:spPr bwMode="auto">
          <a:xfrm>
            <a:off x="457200" y="1485900"/>
            <a:ext cx="8228013"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4037636" name="Line 4"/>
          <p:cNvSpPr>
            <a:spLocks noChangeShapeType="1"/>
          </p:cNvSpPr>
          <p:nvPr/>
        </p:nvSpPr>
        <p:spPr bwMode="auto">
          <a:xfrm>
            <a:off x="455613" y="873125"/>
            <a:ext cx="8228012" cy="0"/>
          </a:xfrm>
          <a:prstGeom prst="line">
            <a:avLst/>
          </a:prstGeom>
          <a:noFill/>
          <a:ln w="9525">
            <a:solidFill>
              <a:schemeClr val="tx2"/>
            </a:solidFill>
            <a:round/>
            <a:headEnd/>
            <a:tailEnd/>
          </a:ln>
          <a:effectLst/>
        </p:spPr>
        <p:txBody>
          <a:bodyPr/>
          <a:lstStyle/>
          <a:p>
            <a:pPr>
              <a:defRPr/>
            </a:pPr>
            <a:endParaRPr lang="en-AU" dirty="0">
              <a:solidFill>
                <a:schemeClr val="tx1"/>
              </a:solidFill>
            </a:endParaRPr>
          </a:p>
        </p:txBody>
      </p:sp>
      <p:sp>
        <p:nvSpPr>
          <p:cNvPr id="4037637" name="Rectangle 5"/>
          <p:cNvSpPr>
            <a:spLocks noGrp="1" noChangeArrowheads="1"/>
          </p:cNvSpPr>
          <p:nvPr>
            <p:ph type="sldNum" sz="quarter" idx="4"/>
          </p:nvPr>
        </p:nvSpPr>
        <p:spPr bwMode="auto">
          <a:xfrm>
            <a:off x="8807450" y="6572250"/>
            <a:ext cx="217488" cy="152400"/>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a:defRPr b="0">
                <a:solidFill>
                  <a:schemeClr val="tx2"/>
                </a:solidFill>
              </a:defRPr>
            </a:lvl1pPr>
          </a:lstStyle>
          <a:p>
            <a:pPr>
              <a:defRPr/>
            </a:pPr>
            <a:fld id="{4F487362-8DD8-4FF8-BFB0-67A7C94AB95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rtl="0" eaLnBrk="0" fontAlgn="base" hangingPunct="0">
        <a:spcBef>
          <a:spcPct val="0"/>
        </a:spcBef>
        <a:spcAft>
          <a:spcPct val="0"/>
        </a:spcAft>
        <a:defRPr sz="1600" b="1">
          <a:solidFill>
            <a:schemeClr val="tx2"/>
          </a:solidFill>
          <a:latin typeface="+mj-lt"/>
          <a:ea typeface="+mj-ea"/>
          <a:cs typeface="+mj-cs"/>
        </a:defRPr>
      </a:lvl1pPr>
      <a:lvl2pPr algn="l" rtl="0" eaLnBrk="0" fontAlgn="base" hangingPunct="0">
        <a:spcBef>
          <a:spcPct val="0"/>
        </a:spcBef>
        <a:spcAft>
          <a:spcPct val="0"/>
        </a:spcAft>
        <a:defRPr sz="1600" b="1">
          <a:solidFill>
            <a:schemeClr val="tx2"/>
          </a:solidFill>
          <a:latin typeface="Verdana" pitchFamily="34" charset="0"/>
          <a:cs typeface="Arial" charset="0"/>
        </a:defRPr>
      </a:lvl2pPr>
      <a:lvl3pPr algn="l" rtl="0" eaLnBrk="0" fontAlgn="base" hangingPunct="0">
        <a:spcBef>
          <a:spcPct val="0"/>
        </a:spcBef>
        <a:spcAft>
          <a:spcPct val="0"/>
        </a:spcAft>
        <a:defRPr sz="1600" b="1">
          <a:solidFill>
            <a:schemeClr val="tx2"/>
          </a:solidFill>
          <a:latin typeface="Verdana" pitchFamily="34" charset="0"/>
          <a:cs typeface="Arial" charset="0"/>
        </a:defRPr>
      </a:lvl3pPr>
      <a:lvl4pPr algn="l" rtl="0" eaLnBrk="0" fontAlgn="base" hangingPunct="0">
        <a:spcBef>
          <a:spcPct val="0"/>
        </a:spcBef>
        <a:spcAft>
          <a:spcPct val="0"/>
        </a:spcAft>
        <a:defRPr sz="1600" b="1">
          <a:solidFill>
            <a:schemeClr val="tx2"/>
          </a:solidFill>
          <a:latin typeface="Verdana" pitchFamily="34" charset="0"/>
          <a:cs typeface="Arial" charset="0"/>
        </a:defRPr>
      </a:lvl4pPr>
      <a:lvl5pPr algn="l" rtl="0" eaLnBrk="0" fontAlgn="base" hangingPunct="0">
        <a:spcBef>
          <a:spcPct val="0"/>
        </a:spcBef>
        <a:spcAft>
          <a:spcPct val="0"/>
        </a:spcAft>
        <a:defRPr sz="1600" b="1">
          <a:solidFill>
            <a:schemeClr val="tx2"/>
          </a:solidFill>
          <a:latin typeface="Verdana" pitchFamily="34" charset="0"/>
          <a:cs typeface="Arial" charset="0"/>
        </a:defRPr>
      </a:lvl5pPr>
      <a:lvl6pPr marL="457200" algn="l" rtl="0" fontAlgn="base">
        <a:spcBef>
          <a:spcPct val="0"/>
        </a:spcBef>
        <a:spcAft>
          <a:spcPct val="0"/>
        </a:spcAft>
        <a:defRPr sz="1600" b="1">
          <a:solidFill>
            <a:schemeClr val="tx2"/>
          </a:solidFill>
          <a:latin typeface="Verdana" pitchFamily="34" charset="0"/>
          <a:cs typeface="Arial" charset="0"/>
        </a:defRPr>
      </a:lvl6pPr>
      <a:lvl7pPr marL="914400" algn="l" rtl="0" fontAlgn="base">
        <a:spcBef>
          <a:spcPct val="0"/>
        </a:spcBef>
        <a:spcAft>
          <a:spcPct val="0"/>
        </a:spcAft>
        <a:defRPr sz="1600" b="1">
          <a:solidFill>
            <a:schemeClr val="tx2"/>
          </a:solidFill>
          <a:latin typeface="Verdana" pitchFamily="34" charset="0"/>
          <a:cs typeface="Arial" charset="0"/>
        </a:defRPr>
      </a:lvl7pPr>
      <a:lvl8pPr marL="1371600" algn="l" rtl="0" fontAlgn="base">
        <a:spcBef>
          <a:spcPct val="0"/>
        </a:spcBef>
        <a:spcAft>
          <a:spcPct val="0"/>
        </a:spcAft>
        <a:defRPr sz="1600" b="1">
          <a:solidFill>
            <a:schemeClr val="tx2"/>
          </a:solidFill>
          <a:latin typeface="Verdana" pitchFamily="34" charset="0"/>
          <a:cs typeface="Arial" charset="0"/>
        </a:defRPr>
      </a:lvl8pPr>
      <a:lvl9pPr marL="1828800" algn="l" rtl="0" fontAlgn="base">
        <a:spcBef>
          <a:spcPct val="0"/>
        </a:spcBef>
        <a:spcAft>
          <a:spcPct val="0"/>
        </a:spcAft>
        <a:defRPr sz="1600" b="1">
          <a:solidFill>
            <a:schemeClr val="tx2"/>
          </a:solidFill>
          <a:latin typeface="Verdana" pitchFamily="34" charset="0"/>
          <a:cs typeface="Arial" charset="0"/>
        </a:defRPr>
      </a:lvl9pPr>
    </p:titleStyle>
    <p:bodyStyle>
      <a:lvl1pPr marL="177800" indent="-177800" algn="l" rtl="0" eaLnBrk="0" fontAlgn="base" hangingPunct="0">
        <a:spcBef>
          <a:spcPct val="0"/>
        </a:spcBef>
        <a:spcAft>
          <a:spcPct val="50000"/>
        </a:spcAft>
        <a:buClr>
          <a:schemeClr val="tx1"/>
        </a:buClr>
        <a:buChar char="•"/>
        <a:defRPr sz="1200">
          <a:solidFill>
            <a:schemeClr val="tx1"/>
          </a:solidFill>
          <a:latin typeface="+mn-lt"/>
          <a:ea typeface="+mn-ea"/>
          <a:cs typeface="+mn-cs"/>
        </a:defRPr>
      </a:lvl1pPr>
      <a:lvl2pPr marL="357188" indent="-177800" algn="l" rtl="0" eaLnBrk="0" fontAlgn="base" hangingPunct="0">
        <a:spcBef>
          <a:spcPct val="0"/>
        </a:spcBef>
        <a:spcAft>
          <a:spcPct val="50000"/>
        </a:spcAft>
        <a:buClr>
          <a:schemeClr val="tx1"/>
        </a:buClr>
        <a:buFont typeface="Verdana" pitchFamily="34" charset="0"/>
        <a:buChar char="-"/>
        <a:defRPr sz="1200">
          <a:solidFill>
            <a:schemeClr val="tx1"/>
          </a:solidFill>
          <a:latin typeface="+mn-lt"/>
          <a:cs typeface="+mn-cs"/>
        </a:defRPr>
      </a:lvl2pPr>
      <a:lvl3pPr marL="558800" indent="-200025" algn="l" rtl="0" eaLnBrk="0" fontAlgn="base" hangingPunct="0">
        <a:spcBef>
          <a:spcPct val="0"/>
        </a:spcBef>
        <a:spcAft>
          <a:spcPct val="50000"/>
        </a:spcAft>
        <a:buClr>
          <a:schemeClr val="tx1"/>
        </a:buClr>
        <a:buFont typeface="Wingdings" pitchFamily="2" charset="2"/>
        <a:buChar char="§"/>
        <a:defRPr sz="1200">
          <a:solidFill>
            <a:schemeClr val="tx1"/>
          </a:solidFill>
          <a:latin typeface="+mn-lt"/>
          <a:cs typeface="+mn-cs"/>
        </a:defRPr>
      </a:lvl3pPr>
      <a:lvl4pPr marL="738188" indent="-177800" algn="l" rtl="0" eaLnBrk="0" fontAlgn="base" hangingPunct="0">
        <a:spcBef>
          <a:spcPct val="0"/>
        </a:spcBef>
        <a:spcAft>
          <a:spcPct val="50000"/>
        </a:spcAft>
        <a:buClr>
          <a:schemeClr val="tx1"/>
        </a:buClr>
        <a:buChar char="o"/>
        <a:defRPr sz="1200">
          <a:solidFill>
            <a:schemeClr val="tx1"/>
          </a:solidFill>
          <a:latin typeface="+mn-lt"/>
          <a:cs typeface="+mn-cs"/>
        </a:defRPr>
      </a:lvl4pPr>
      <a:lvl5pPr marL="917575" indent="-177800" algn="l" rtl="0" eaLnBrk="0" fontAlgn="base" hangingPunct="0">
        <a:spcBef>
          <a:spcPct val="0"/>
        </a:spcBef>
        <a:spcAft>
          <a:spcPct val="50000"/>
        </a:spcAft>
        <a:buClr>
          <a:schemeClr val="tx1"/>
        </a:buClr>
        <a:buFont typeface="Verdana" pitchFamily="34" charset="0"/>
        <a:buChar char="›"/>
        <a:defRPr sz="1200">
          <a:solidFill>
            <a:schemeClr val="tx1"/>
          </a:solidFill>
          <a:latin typeface="+mn-lt"/>
          <a:cs typeface="+mn-cs"/>
        </a:defRPr>
      </a:lvl5pPr>
      <a:lvl6pPr marL="13747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6pPr>
      <a:lvl7pPr marL="18319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7pPr>
      <a:lvl8pPr marL="22891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8pPr>
      <a:lvl9pPr marL="27463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cs.oracle.com/cd/E17781_01/admin.112/e18585/toc.htm" TargetMode="External"/><Relationship Id="rId2" Type="http://schemas.openxmlformats.org/officeDocument/2006/relationships/hyperlink" Target="http://www.oracle.com/technetwork/database/database-technologies/express-edition/downloads/index.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www.orafaq.com/wiki/CRU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01632" y="1407353"/>
            <a:ext cx="7988300" cy="1451757"/>
          </a:xfrm>
        </p:spPr>
        <p:txBody>
          <a:bodyPr/>
          <a:lstStyle/>
          <a:p>
            <a:pPr algn="ctr"/>
            <a:r>
              <a:rPr lang="en-US" dirty="0"/>
              <a:t>Java &amp; JEE Training</a:t>
            </a:r>
            <a:br>
              <a:rPr lang="en-US" dirty="0"/>
            </a:br>
            <a:br>
              <a:rPr lang="en-US" dirty="0"/>
            </a:br>
            <a:r>
              <a:rPr lang="en-IN" sz="2000" dirty="0"/>
              <a:t>Day 23 – Examples of File IO &amp;</a:t>
            </a:r>
            <a:br>
              <a:rPr lang="en-IN" sz="2000" dirty="0"/>
            </a:br>
            <a:r>
              <a:rPr lang="en-IN" sz="2000" dirty="0"/>
              <a:t>Introduction to JDBC</a:t>
            </a:r>
            <a:endParaRPr lang="en-US" dirty="0"/>
          </a:p>
        </p:txBody>
      </p:sp>
      <p:sp>
        <p:nvSpPr>
          <p:cNvPr id="4" name="Title 2"/>
          <p:cNvSpPr txBox="1">
            <a:spLocks/>
          </p:cNvSpPr>
          <p:nvPr/>
        </p:nvSpPr>
        <p:spPr bwMode="auto">
          <a:xfrm>
            <a:off x="601632" y="3392183"/>
            <a:ext cx="7988300" cy="12350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0" cap="none" spc="0" normalizeH="0" baseline="0" noProof="0" dirty="0">
              <a:ln>
                <a:noFill/>
              </a:ln>
              <a:solidFill>
                <a:schemeClr val="bg1"/>
              </a:solidFill>
              <a:effectLst/>
              <a:uLnTx/>
              <a:uFillTx/>
              <a:latin typeface="+mj-lt"/>
              <a:ea typeface="+mj-ea"/>
              <a:cs typeface="+mj-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chemeClr val="bg1"/>
                </a:solidFill>
                <a:effectLst/>
                <a:uLnTx/>
                <a:uFillTx/>
                <a:latin typeface="+mj-lt"/>
                <a:ea typeface="+mj-ea"/>
                <a:cs typeface="+mj-cs"/>
              </a:rPr>
              <a:t>MindsMapped Consulting</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Java File IO Examples</a:t>
            </a:r>
            <a:br>
              <a:rPr lang="en-IN" dirty="0"/>
            </a:br>
            <a:r>
              <a:rPr lang="en-IN" dirty="0" err="1"/>
              <a:t>Contd</a:t>
            </a:r>
            <a:r>
              <a:rPr lang="en-IN" dirty="0"/>
              <a:t>…</a:t>
            </a:r>
          </a:p>
        </p:txBody>
      </p:sp>
    </p:spTree>
    <p:extLst>
      <p:ext uri="{BB962C8B-B14F-4D97-AF65-F5344CB8AC3E}">
        <p14:creationId xmlns:p14="http://schemas.microsoft.com/office/powerpoint/2010/main" val="312906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FileReader</a:t>
            </a:r>
            <a:r>
              <a:rPr lang="en-IN" dirty="0"/>
              <a:t> Example</a:t>
            </a:r>
          </a:p>
        </p:txBody>
      </p:sp>
      <p:sp>
        <p:nvSpPr>
          <p:cNvPr id="3" name="Content Placeholder 2"/>
          <p:cNvSpPr>
            <a:spLocks noGrp="1"/>
          </p:cNvSpPr>
          <p:nvPr>
            <p:ph idx="1"/>
          </p:nvPr>
        </p:nvSpPr>
        <p:spPr>
          <a:xfrm>
            <a:off x="574675" y="1163928"/>
            <a:ext cx="8024813" cy="3598863"/>
          </a:xfrm>
        </p:spPr>
        <p:txBody>
          <a:bodyPr/>
          <a:lstStyle/>
          <a:p>
            <a:pPr marL="0" indent="0">
              <a:buNone/>
            </a:pPr>
            <a:r>
              <a:rPr lang="en-IN" sz="1100" dirty="0"/>
              <a:t>import java.io.*;</a:t>
            </a:r>
          </a:p>
          <a:p>
            <a:pPr marL="0" indent="0">
              <a:buNone/>
            </a:pPr>
            <a:r>
              <a:rPr lang="en-IN" sz="1100" dirty="0"/>
              <a:t>public class </a:t>
            </a:r>
            <a:r>
              <a:rPr lang="en-IN" sz="1100" dirty="0" err="1"/>
              <a:t>FileRead</a:t>
            </a:r>
            <a:r>
              <a:rPr lang="en-IN" sz="1100" dirty="0"/>
              <a:t> {</a:t>
            </a:r>
          </a:p>
          <a:p>
            <a:pPr marL="0" indent="0">
              <a:buNone/>
            </a:pPr>
            <a:endParaRPr lang="en-IN" sz="1100" dirty="0"/>
          </a:p>
          <a:p>
            <a:pPr marL="0" indent="0">
              <a:buNone/>
            </a:pPr>
            <a:r>
              <a:rPr lang="en-IN" sz="1100" dirty="0"/>
              <a:t>   public static void main(String </a:t>
            </a:r>
            <a:r>
              <a:rPr lang="en-IN" sz="1100" dirty="0" err="1"/>
              <a:t>args</a:t>
            </a:r>
            <a:r>
              <a:rPr lang="en-IN" sz="1100" dirty="0"/>
              <a:t>[])throws </a:t>
            </a:r>
            <a:r>
              <a:rPr lang="en-IN" sz="1100" dirty="0" err="1"/>
              <a:t>IOException</a:t>
            </a:r>
            <a:r>
              <a:rPr lang="en-IN" sz="1100" dirty="0"/>
              <a:t> {</a:t>
            </a:r>
          </a:p>
          <a:p>
            <a:pPr marL="0" indent="0">
              <a:buNone/>
            </a:pPr>
            <a:r>
              <a:rPr lang="en-IN" sz="1100" dirty="0"/>
              <a:t>      File </a:t>
            </a:r>
            <a:r>
              <a:rPr lang="en-IN" sz="1100" dirty="0" err="1"/>
              <a:t>file</a:t>
            </a:r>
            <a:r>
              <a:rPr lang="en-IN" sz="1100" dirty="0"/>
              <a:t> = new File("Hello1.txt");</a:t>
            </a:r>
          </a:p>
          <a:p>
            <a:pPr marL="0" indent="0">
              <a:buNone/>
            </a:pPr>
            <a:r>
              <a:rPr lang="en-IN" sz="1100" dirty="0"/>
              <a:t>      </a:t>
            </a:r>
          </a:p>
          <a:p>
            <a:pPr marL="0" indent="0">
              <a:buNone/>
            </a:pPr>
            <a:r>
              <a:rPr lang="en-IN" sz="1100" dirty="0"/>
              <a:t>      // creates the file</a:t>
            </a:r>
          </a:p>
          <a:p>
            <a:pPr marL="0" indent="0">
              <a:buNone/>
            </a:pPr>
            <a:r>
              <a:rPr lang="en-IN" sz="1100" dirty="0"/>
              <a:t>      </a:t>
            </a:r>
            <a:r>
              <a:rPr lang="en-IN" sz="1100" dirty="0" err="1"/>
              <a:t>file.createNewFile</a:t>
            </a:r>
            <a:r>
              <a:rPr lang="en-IN" sz="1100" dirty="0"/>
              <a:t>();</a:t>
            </a:r>
          </a:p>
          <a:p>
            <a:pPr marL="0" indent="0">
              <a:buNone/>
            </a:pPr>
            <a:r>
              <a:rPr lang="en-IN" sz="1100" dirty="0"/>
              <a:t>      </a:t>
            </a:r>
          </a:p>
          <a:p>
            <a:pPr marL="0" indent="0">
              <a:buNone/>
            </a:pPr>
            <a:r>
              <a:rPr lang="en-IN" sz="1100" dirty="0"/>
              <a:t>      // creates a </a:t>
            </a:r>
            <a:r>
              <a:rPr lang="en-IN" sz="1100" dirty="0" err="1"/>
              <a:t>FileWriter</a:t>
            </a:r>
            <a:r>
              <a:rPr lang="en-IN" sz="1100" dirty="0"/>
              <a:t> Object</a:t>
            </a:r>
          </a:p>
          <a:p>
            <a:pPr marL="0" indent="0">
              <a:buNone/>
            </a:pPr>
            <a:r>
              <a:rPr lang="en-IN" sz="1100" dirty="0"/>
              <a:t>      </a:t>
            </a:r>
            <a:r>
              <a:rPr lang="en-IN" sz="1100" dirty="0" err="1"/>
              <a:t>FileWriter</a:t>
            </a:r>
            <a:r>
              <a:rPr lang="en-IN" sz="1100" dirty="0"/>
              <a:t> writer = new </a:t>
            </a:r>
            <a:r>
              <a:rPr lang="en-IN" sz="1100" dirty="0" err="1"/>
              <a:t>FileWriter</a:t>
            </a:r>
            <a:r>
              <a:rPr lang="en-IN" sz="1100" dirty="0"/>
              <a:t>(file); </a:t>
            </a:r>
          </a:p>
          <a:p>
            <a:pPr marL="0" indent="0">
              <a:buNone/>
            </a:pPr>
            <a:r>
              <a:rPr lang="en-IN" sz="1100" dirty="0"/>
              <a:t>      </a:t>
            </a:r>
          </a:p>
          <a:p>
            <a:pPr marL="0" indent="0">
              <a:buNone/>
            </a:pPr>
            <a:r>
              <a:rPr lang="en-IN" sz="1100" dirty="0"/>
              <a:t>      // Writes the content to the file</a:t>
            </a:r>
          </a:p>
          <a:p>
            <a:pPr marL="0" indent="0">
              <a:buNone/>
            </a:pPr>
            <a:r>
              <a:rPr lang="en-IN" sz="1100" dirty="0"/>
              <a:t>      </a:t>
            </a:r>
            <a:r>
              <a:rPr lang="en-IN" sz="1100" dirty="0" err="1"/>
              <a:t>writer.write</a:t>
            </a:r>
            <a:r>
              <a:rPr lang="en-IN" sz="1100" dirty="0"/>
              <a:t>("This\n is\n an\n example\n"); </a:t>
            </a:r>
          </a:p>
          <a:p>
            <a:pPr marL="0" indent="0">
              <a:buNone/>
            </a:pPr>
            <a:r>
              <a:rPr lang="en-IN" sz="1100" dirty="0"/>
              <a:t>      </a:t>
            </a:r>
            <a:r>
              <a:rPr lang="en-IN" sz="1100" dirty="0" err="1"/>
              <a:t>writer.flush</a:t>
            </a:r>
            <a:r>
              <a:rPr lang="en-IN" sz="1100" dirty="0"/>
              <a:t>();</a:t>
            </a:r>
          </a:p>
          <a:p>
            <a:pPr marL="0" indent="0">
              <a:buNone/>
            </a:pPr>
            <a:r>
              <a:rPr lang="en-IN" sz="1100" dirty="0"/>
              <a:t>      </a:t>
            </a:r>
            <a:r>
              <a:rPr lang="en-IN" sz="1100" dirty="0" err="1"/>
              <a:t>writer.close</a:t>
            </a:r>
            <a:r>
              <a:rPr lang="en-IN" sz="1100" dirty="0"/>
              <a:t>();</a:t>
            </a:r>
          </a:p>
          <a:p>
            <a:pPr marL="0" indent="0">
              <a:buNone/>
            </a:pPr>
            <a:endParaRPr lang="en-IN" sz="1100" dirty="0"/>
          </a:p>
          <a:p>
            <a:pPr marL="0" indent="0">
              <a:buNone/>
            </a:pPr>
            <a:r>
              <a:rPr lang="en-IN" sz="1100" dirty="0"/>
              <a:t>      // Creates a </a:t>
            </a:r>
            <a:r>
              <a:rPr lang="en-IN" sz="1100" dirty="0" err="1"/>
              <a:t>FileReader</a:t>
            </a:r>
            <a:r>
              <a:rPr lang="en-IN" sz="1100" dirty="0"/>
              <a:t> Object</a:t>
            </a:r>
          </a:p>
          <a:p>
            <a:pPr marL="0" indent="0">
              <a:buNone/>
            </a:pPr>
            <a:r>
              <a:rPr lang="en-IN" sz="1100" dirty="0"/>
              <a:t>      </a:t>
            </a:r>
            <a:r>
              <a:rPr lang="en-IN" sz="1100" dirty="0" err="1"/>
              <a:t>FileReader</a:t>
            </a:r>
            <a:r>
              <a:rPr lang="en-IN" sz="1100" dirty="0"/>
              <a:t> </a:t>
            </a:r>
            <a:r>
              <a:rPr lang="en-IN" sz="1100" dirty="0" err="1"/>
              <a:t>fr</a:t>
            </a:r>
            <a:r>
              <a:rPr lang="en-IN" sz="1100" dirty="0"/>
              <a:t> = new </a:t>
            </a:r>
            <a:r>
              <a:rPr lang="en-IN" sz="1100" dirty="0" err="1"/>
              <a:t>FileReader</a:t>
            </a:r>
            <a:r>
              <a:rPr lang="en-IN" sz="1100" dirty="0"/>
              <a:t>(file); </a:t>
            </a:r>
          </a:p>
          <a:p>
            <a:pPr marL="0" indent="0">
              <a:buNone/>
            </a:pPr>
            <a:r>
              <a:rPr lang="en-IN" sz="1100" dirty="0"/>
              <a:t>      char [] a = new char[50];</a:t>
            </a:r>
          </a:p>
          <a:p>
            <a:pPr marL="0" indent="0">
              <a:buNone/>
            </a:pPr>
            <a:r>
              <a:rPr lang="en-IN" sz="1100" dirty="0"/>
              <a:t>      </a:t>
            </a:r>
            <a:r>
              <a:rPr lang="en-IN" sz="1100" dirty="0" err="1"/>
              <a:t>fr.read</a:t>
            </a:r>
            <a:r>
              <a:rPr lang="en-IN" sz="1100" dirty="0"/>
              <a:t>(a);   // reads the content to the array</a:t>
            </a:r>
          </a:p>
          <a:p>
            <a:pPr marL="0" indent="0">
              <a:buNone/>
            </a:pPr>
            <a:r>
              <a:rPr lang="en-IN" sz="1100" dirty="0"/>
              <a:t>      </a:t>
            </a:r>
          </a:p>
          <a:p>
            <a:pPr marL="0" indent="0">
              <a:buNone/>
            </a:pPr>
            <a:r>
              <a:rPr lang="en-IN" sz="1100" dirty="0"/>
              <a:t>      for(char c : a)</a:t>
            </a:r>
          </a:p>
          <a:p>
            <a:pPr marL="0" indent="0">
              <a:buNone/>
            </a:pPr>
            <a:r>
              <a:rPr lang="en-IN" sz="1100" dirty="0"/>
              <a:t>         </a:t>
            </a:r>
            <a:r>
              <a:rPr lang="en-IN" sz="1100" dirty="0" err="1"/>
              <a:t>System.out.print</a:t>
            </a:r>
            <a:r>
              <a:rPr lang="en-IN" sz="1100" dirty="0"/>
              <a:t>(c);   // prints the characters one by one</a:t>
            </a:r>
          </a:p>
          <a:p>
            <a:pPr marL="0" indent="0">
              <a:buNone/>
            </a:pPr>
            <a:r>
              <a:rPr lang="en-IN" sz="1100" dirty="0"/>
              <a:t>      </a:t>
            </a:r>
            <a:r>
              <a:rPr lang="en-IN" sz="1100" dirty="0" err="1"/>
              <a:t>fr.close</a:t>
            </a:r>
            <a:r>
              <a:rPr lang="en-IN" sz="1100" dirty="0"/>
              <a:t>();</a:t>
            </a:r>
          </a:p>
          <a:p>
            <a:pPr marL="0" indent="0">
              <a:buNone/>
            </a:pPr>
            <a:r>
              <a:rPr lang="en-IN" sz="1100" dirty="0"/>
              <a:t>   }</a:t>
            </a:r>
          </a:p>
          <a:p>
            <a:pPr marL="0" indent="0">
              <a:buNone/>
            </a:pPr>
            <a:r>
              <a:rPr lang="en-IN" sz="1100" dirty="0"/>
              <a:t>}</a:t>
            </a:r>
          </a:p>
        </p:txBody>
      </p:sp>
    </p:spTree>
    <p:extLst>
      <p:ext uri="{BB962C8B-B14F-4D97-AF65-F5344CB8AC3E}">
        <p14:creationId xmlns:p14="http://schemas.microsoft.com/office/powerpoint/2010/main" val="214834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FileWriter</a:t>
            </a:r>
            <a:r>
              <a:rPr lang="en-IN" dirty="0"/>
              <a:t> Example</a:t>
            </a:r>
          </a:p>
        </p:txBody>
      </p:sp>
      <p:sp>
        <p:nvSpPr>
          <p:cNvPr id="3" name="Content Placeholder 2"/>
          <p:cNvSpPr>
            <a:spLocks noGrp="1"/>
          </p:cNvSpPr>
          <p:nvPr>
            <p:ph idx="1"/>
          </p:nvPr>
        </p:nvSpPr>
        <p:spPr>
          <a:xfrm>
            <a:off x="574674" y="1163928"/>
            <a:ext cx="8024813" cy="3598863"/>
          </a:xfrm>
        </p:spPr>
        <p:txBody>
          <a:bodyPr/>
          <a:lstStyle/>
          <a:p>
            <a:pPr marL="0" indent="0">
              <a:buNone/>
            </a:pPr>
            <a:r>
              <a:rPr lang="en-IN" sz="1100" dirty="0"/>
              <a:t>import java.io.*;</a:t>
            </a:r>
          </a:p>
          <a:p>
            <a:pPr marL="0" indent="0">
              <a:buNone/>
            </a:pPr>
            <a:r>
              <a:rPr lang="en-IN" sz="1100" dirty="0"/>
              <a:t>public class </a:t>
            </a:r>
            <a:r>
              <a:rPr lang="en-IN" sz="1100" dirty="0" err="1"/>
              <a:t>FileRead</a:t>
            </a:r>
            <a:r>
              <a:rPr lang="en-IN" sz="1100" dirty="0"/>
              <a:t> {</a:t>
            </a:r>
          </a:p>
          <a:p>
            <a:pPr marL="0" indent="0">
              <a:buNone/>
            </a:pPr>
            <a:endParaRPr lang="en-IN" sz="1100" dirty="0"/>
          </a:p>
          <a:p>
            <a:pPr marL="0" indent="0">
              <a:buNone/>
            </a:pPr>
            <a:r>
              <a:rPr lang="en-IN" sz="1100" dirty="0"/>
              <a:t>   public static void main(String </a:t>
            </a:r>
            <a:r>
              <a:rPr lang="en-IN" sz="1100" dirty="0" err="1"/>
              <a:t>args</a:t>
            </a:r>
            <a:r>
              <a:rPr lang="en-IN" sz="1100" dirty="0"/>
              <a:t>[])throws </a:t>
            </a:r>
            <a:r>
              <a:rPr lang="en-IN" sz="1100" dirty="0" err="1"/>
              <a:t>IOException</a:t>
            </a:r>
            <a:r>
              <a:rPr lang="en-IN" sz="1100" dirty="0"/>
              <a:t> {</a:t>
            </a:r>
          </a:p>
          <a:p>
            <a:pPr marL="0" indent="0">
              <a:buNone/>
            </a:pPr>
            <a:r>
              <a:rPr lang="en-IN" sz="1100" dirty="0"/>
              <a:t>      File </a:t>
            </a:r>
            <a:r>
              <a:rPr lang="en-IN" sz="1100" dirty="0" err="1"/>
              <a:t>file</a:t>
            </a:r>
            <a:r>
              <a:rPr lang="en-IN" sz="1100" dirty="0"/>
              <a:t> = new File("Hello1.txt");</a:t>
            </a:r>
          </a:p>
          <a:p>
            <a:pPr marL="0" indent="0">
              <a:buNone/>
            </a:pPr>
            <a:r>
              <a:rPr lang="en-IN" sz="1100" dirty="0"/>
              <a:t>      </a:t>
            </a:r>
          </a:p>
          <a:p>
            <a:pPr marL="0" indent="0">
              <a:buNone/>
            </a:pPr>
            <a:r>
              <a:rPr lang="en-IN" sz="1100" dirty="0"/>
              <a:t>      // creates the file</a:t>
            </a:r>
          </a:p>
          <a:p>
            <a:pPr marL="0" indent="0">
              <a:buNone/>
            </a:pPr>
            <a:r>
              <a:rPr lang="en-IN" sz="1100" dirty="0"/>
              <a:t>      </a:t>
            </a:r>
            <a:r>
              <a:rPr lang="en-IN" sz="1100" dirty="0" err="1"/>
              <a:t>file.createNewFile</a:t>
            </a:r>
            <a:r>
              <a:rPr lang="en-IN" sz="1100" dirty="0"/>
              <a:t>();</a:t>
            </a:r>
          </a:p>
          <a:p>
            <a:pPr marL="0" indent="0">
              <a:buNone/>
            </a:pPr>
            <a:r>
              <a:rPr lang="en-IN" sz="1100" dirty="0"/>
              <a:t>      </a:t>
            </a:r>
          </a:p>
          <a:p>
            <a:pPr marL="0" indent="0">
              <a:buNone/>
            </a:pPr>
            <a:r>
              <a:rPr lang="en-IN" sz="1100" dirty="0"/>
              <a:t>      // creates a </a:t>
            </a:r>
            <a:r>
              <a:rPr lang="en-IN" sz="1100" dirty="0" err="1"/>
              <a:t>FileWriter</a:t>
            </a:r>
            <a:r>
              <a:rPr lang="en-IN" sz="1100" dirty="0"/>
              <a:t> Object</a:t>
            </a:r>
          </a:p>
          <a:p>
            <a:pPr marL="0" indent="0">
              <a:buNone/>
            </a:pPr>
            <a:r>
              <a:rPr lang="en-IN" sz="1100" dirty="0"/>
              <a:t>      </a:t>
            </a:r>
            <a:r>
              <a:rPr lang="en-IN" sz="1100" dirty="0" err="1"/>
              <a:t>FileWriter</a:t>
            </a:r>
            <a:r>
              <a:rPr lang="en-IN" sz="1100" dirty="0"/>
              <a:t> writer = new </a:t>
            </a:r>
            <a:r>
              <a:rPr lang="en-IN" sz="1100" dirty="0" err="1"/>
              <a:t>FileWriter</a:t>
            </a:r>
            <a:r>
              <a:rPr lang="en-IN" sz="1100" dirty="0"/>
              <a:t>(file); </a:t>
            </a:r>
          </a:p>
          <a:p>
            <a:pPr marL="0" indent="0">
              <a:buNone/>
            </a:pPr>
            <a:r>
              <a:rPr lang="en-IN" sz="1100" dirty="0"/>
              <a:t>      </a:t>
            </a:r>
          </a:p>
          <a:p>
            <a:pPr marL="0" indent="0">
              <a:buNone/>
            </a:pPr>
            <a:r>
              <a:rPr lang="en-IN" sz="1100" dirty="0"/>
              <a:t>      // Writes the content to the file</a:t>
            </a:r>
          </a:p>
          <a:p>
            <a:pPr marL="0" indent="0">
              <a:buNone/>
            </a:pPr>
            <a:r>
              <a:rPr lang="en-IN" sz="1100" dirty="0"/>
              <a:t>      </a:t>
            </a:r>
            <a:r>
              <a:rPr lang="en-IN" sz="1100" dirty="0" err="1"/>
              <a:t>writer.write</a:t>
            </a:r>
            <a:r>
              <a:rPr lang="en-IN" sz="1100" dirty="0"/>
              <a:t>("This\n is\n an\n example\n"); </a:t>
            </a:r>
          </a:p>
          <a:p>
            <a:pPr marL="0" indent="0">
              <a:buNone/>
            </a:pPr>
            <a:r>
              <a:rPr lang="en-IN" sz="1100" dirty="0"/>
              <a:t>      </a:t>
            </a:r>
            <a:r>
              <a:rPr lang="en-IN" sz="1100" dirty="0" err="1"/>
              <a:t>writer.flush</a:t>
            </a:r>
            <a:r>
              <a:rPr lang="en-IN" sz="1100" dirty="0"/>
              <a:t>();</a:t>
            </a:r>
          </a:p>
          <a:p>
            <a:pPr marL="0" indent="0">
              <a:buNone/>
            </a:pPr>
            <a:r>
              <a:rPr lang="en-IN" sz="1100" dirty="0"/>
              <a:t>      </a:t>
            </a:r>
            <a:r>
              <a:rPr lang="en-IN" sz="1100" dirty="0" err="1"/>
              <a:t>writer.close</a:t>
            </a:r>
            <a:r>
              <a:rPr lang="en-IN" sz="1100" dirty="0"/>
              <a:t>();</a:t>
            </a:r>
          </a:p>
          <a:p>
            <a:pPr marL="0" indent="0">
              <a:buNone/>
            </a:pPr>
            <a:endParaRPr lang="en-IN" sz="1100" dirty="0"/>
          </a:p>
          <a:p>
            <a:pPr marL="0" indent="0">
              <a:buNone/>
            </a:pPr>
            <a:r>
              <a:rPr lang="en-IN" sz="1100" dirty="0"/>
              <a:t>      // Creates a </a:t>
            </a:r>
            <a:r>
              <a:rPr lang="en-IN" sz="1100" dirty="0" err="1"/>
              <a:t>FileReader</a:t>
            </a:r>
            <a:r>
              <a:rPr lang="en-IN" sz="1100" dirty="0"/>
              <a:t> Object</a:t>
            </a:r>
          </a:p>
          <a:p>
            <a:pPr marL="0" indent="0">
              <a:buNone/>
            </a:pPr>
            <a:r>
              <a:rPr lang="en-IN" sz="1100" dirty="0"/>
              <a:t>      </a:t>
            </a:r>
            <a:r>
              <a:rPr lang="en-IN" sz="1100" dirty="0" err="1"/>
              <a:t>FileReader</a:t>
            </a:r>
            <a:r>
              <a:rPr lang="en-IN" sz="1100" dirty="0"/>
              <a:t> </a:t>
            </a:r>
            <a:r>
              <a:rPr lang="en-IN" sz="1100" dirty="0" err="1"/>
              <a:t>fr</a:t>
            </a:r>
            <a:r>
              <a:rPr lang="en-IN" sz="1100" dirty="0"/>
              <a:t> = new </a:t>
            </a:r>
            <a:r>
              <a:rPr lang="en-IN" sz="1100" dirty="0" err="1"/>
              <a:t>FileReader</a:t>
            </a:r>
            <a:r>
              <a:rPr lang="en-IN" sz="1100" dirty="0"/>
              <a:t>(file); </a:t>
            </a:r>
          </a:p>
          <a:p>
            <a:pPr marL="0" indent="0">
              <a:buNone/>
            </a:pPr>
            <a:r>
              <a:rPr lang="en-IN" sz="1100" dirty="0"/>
              <a:t>      char [] a = new char[50];</a:t>
            </a:r>
          </a:p>
          <a:p>
            <a:pPr marL="0" indent="0">
              <a:buNone/>
            </a:pPr>
            <a:r>
              <a:rPr lang="en-IN" sz="1100" dirty="0"/>
              <a:t>      </a:t>
            </a:r>
            <a:r>
              <a:rPr lang="en-IN" sz="1100" dirty="0" err="1"/>
              <a:t>fr.read</a:t>
            </a:r>
            <a:r>
              <a:rPr lang="en-IN" sz="1100" dirty="0"/>
              <a:t>(a);   // reads the content to the array</a:t>
            </a:r>
          </a:p>
          <a:p>
            <a:pPr marL="0" indent="0">
              <a:buNone/>
            </a:pPr>
            <a:r>
              <a:rPr lang="en-IN" sz="1100" dirty="0"/>
              <a:t>      </a:t>
            </a:r>
          </a:p>
          <a:p>
            <a:pPr marL="0" indent="0">
              <a:buNone/>
            </a:pPr>
            <a:r>
              <a:rPr lang="en-IN" sz="1100" dirty="0"/>
              <a:t>      for(char c : a)</a:t>
            </a:r>
          </a:p>
          <a:p>
            <a:pPr marL="0" indent="0">
              <a:buNone/>
            </a:pPr>
            <a:r>
              <a:rPr lang="en-IN" sz="1100" dirty="0"/>
              <a:t>         </a:t>
            </a:r>
            <a:r>
              <a:rPr lang="en-IN" sz="1100" dirty="0" err="1"/>
              <a:t>System.out.print</a:t>
            </a:r>
            <a:r>
              <a:rPr lang="en-IN" sz="1100" dirty="0"/>
              <a:t>(c);   // prints the characters one by one</a:t>
            </a:r>
          </a:p>
          <a:p>
            <a:pPr marL="0" indent="0">
              <a:buNone/>
            </a:pPr>
            <a:r>
              <a:rPr lang="en-IN" sz="1100" dirty="0"/>
              <a:t>      </a:t>
            </a:r>
            <a:r>
              <a:rPr lang="en-IN" sz="1100" dirty="0" err="1"/>
              <a:t>fr.close</a:t>
            </a:r>
            <a:r>
              <a:rPr lang="en-IN" sz="1100" dirty="0"/>
              <a:t>();</a:t>
            </a:r>
          </a:p>
          <a:p>
            <a:pPr marL="0" indent="0">
              <a:buNone/>
            </a:pPr>
            <a:r>
              <a:rPr lang="en-IN" sz="1100" dirty="0"/>
              <a:t>   }</a:t>
            </a:r>
          </a:p>
          <a:p>
            <a:pPr marL="0" indent="0">
              <a:buNone/>
            </a:pPr>
            <a:r>
              <a:rPr lang="en-IN" sz="1100" dirty="0"/>
              <a:t>}</a:t>
            </a:r>
          </a:p>
        </p:txBody>
      </p:sp>
    </p:spTree>
    <p:extLst>
      <p:ext uri="{BB962C8B-B14F-4D97-AF65-F5344CB8AC3E}">
        <p14:creationId xmlns:p14="http://schemas.microsoft.com/office/powerpoint/2010/main" val="1311423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Example: Creating Directories</a:t>
            </a:r>
          </a:p>
        </p:txBody>
      </p:sp>
      <p:sp>
        <p:nvSpPr>
          <p:cNvPr id="3" name="Content Placeholder 2"/>
          <p:cNvSpPr>
            <a:spLocks noGrp="1"/>
          </p:cNvSpPr>
          <p:nvPr>
            <p:ph idx="1"/>
          </p:nvPr>
        </p:nvSpPr>
        <p:spPr/>
        <p:txBody>
          <a:bodyPr/>
          <a:lstStyle/>
          <a:p>
            <a:pPr marL="0" indent="0">
              <a:buNone/>
            </a:pPr>
            <a:r>
              <a:rPr lang="en-IN" dirty="0"/>
              <a:t>import </a:t>
            </a:r>
            <a:r>
              <a:rPr lang="en-IN" dirty="0" err="1"/>
              <a:t>java.io.File</a:t>
            </a:r>
            <a:r>
              <a:rPr lang="en-IN" dirty="0"/>
              <a:t>;</a:t>
            </a:r>
          </a:p>
          <a:p>
            <a:pPr marL="0" indent="0">
              <a:buNone/>
            </a:pPr>
            <a:r>
              <a:rPr lang="en-IN" dirty="0"/>
              <a:t>public class </a:t>
            </a:r>
            <a:r>
              <a:rPr lang="en-IN" dirty="0" err="1"/>
              <a:t>CreateDir</a:t>
            </a: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String </a:t>
            </a:r>
            <a:r>
              <a:rPr lang="en-IN" dirty="0" err="1"/>
              <a:t>dirname</a:t>
            </a:r>
            <a:r>
              <a:rPr lang="en-IN" dirty="0"/>
              <a:t> = "/</a:t>
            </a:r>
            <a:r>
              <a:rPr lang="en-IN" dirty="0" err="1"/>
              <a:t>tmp</a:t>
            </a:r>
            <a:r>
              <a:rPr lang="en-IN" dirty="0"/>
              <a:t>/user/java/bin";</a:t>
            </a:r>
          </a:p>
          <a:p>
            <a:pPr marL="0" indent="0">
              <a:buNone/>
            </a:pPr>
            <a:r>
              <a:rPr lang="en-IN" dirty="0"/>
              <a:t>      File d = new File(</a:t>
            </a:r>
            <a:r>
              <a:rPr lang="en-IN" dirty="0" err="1"/>
              <a:t>dirname</a:t>
            </a:r>
            <a:r>
              <a:rPr lang="en-IN" dirty="0"/>
              <a:t>);</a:t>
            </a:r>
          </a:p>
          <a:p>
            <a:pPr marL="0" indent="0">
              <a:buNone/>
            </a:pPr>
            <a:r>
              <a:rPr lang="en-IN" dirty="0"/>
              <a:t>      </a:t>
            </a:r>
          </a:p>
          <a:p>
            <a:pPr marL="0" indent="0">
              <a:buNone/>
            </a:pPr>
            <a:r>
              <a:rPr lang="en-IN" dirty="0"/>
              <a:t>      // Create directory now.</a:t>
            </a:r>
          </a:p>
          <a:p>
            <a:pPr marL="0" indent="0">
              <a:buNone/>
            </a:pPr>
            <a:r>
              <a:rPr lang="en-IN" dirty="0"/>
              <a:t>      </a:t>
            </a:r>
            <a:r>
              <a:rPr lang="en-IN" dirty="0" err="1"/>
              <a:t>d.mkdirs</a:t>
            </a:r>
            <a:r>
              <a:rPr lang="en-IN" dirty="0"/>
              <a:t>(); </a:t>
            </a:r>
            <a:r>
              <a:rPr lang="en-IN" dirty="0">
                <a:solidFill>
                  <a:srgbClr val="FF0000"/>
                </a:solidFill>
              </a:rPr>
              <a:t>//Question: What does </a:t>
            </a:r>
            <a:r>
              <a:rPr lang="en-IN" dirty="0" err="1">
                <a:solidFill>
                  <a:srgbClr val="FF0000"/>
                </a:solidFill>
              </a:rPr>
              <a:t>mkdirs</a:t>
            </a:r>
            <a:r>
              <a:rPr lang="en-IN" dirty="0">
                <a:solidFill>
                  <a:srgbClr val="FF0000"/>
                </a:solidFill>
              </a:rPr>
              <a:t> do?</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83325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Example: Listing Directories</a:t>
            </a:r>
          </a:p>
        </p:txBody>
      </p:sp>
      <p:sp>
        <p:nvSpPr>
          <p:cNvPr id="3" name="Content Placeholder 2"/>
          <p:cNvSpPr>
            <a:spLocks noGrp="1"/>
          </p:cNvSpPr>
          <p:nvPr>
            <p:ph idx="1"/>
          </p:nvPr>
        </p:nvSpPr>
        <p:spPr>
          <a:xfrm>
            <a:off x="574674" y="1138170"/>
            <a:ext cx="8024813" cy="3598863"/>
          </a:xfrm>
        </p:spPr>
        <p:txBody>
          <a:bodyPr/>
          <a:lstStyle/>
          <a:p>
            <a:pPr marL="0" indent="0">
              <a:buNone/>
            </a:pPr>
            <a:r>
              <a:rPr lang="en-IN" sz="1200" dirty="0"/>
              <a:t>import </a:t>
            </a:r>
            <a:r>
              <a:rPr lang="en-IN" sz="1200" dirty="0" err="1"/>
              <a:t>java.io.File</a:t>
            </a:r>
            <a:r>
              <a:rPr lang="en-IN" sz="1200" dirty="0"/>
              <a:t>;</a:t>
            </a:r>
          </a:p>
          <a:p>
            <a:pPr marL="0" indent="0">
              <a:buNone/>
            </a:pPr>
            <a:r>
              <a:rPr lang="en-IN" sz="1200" dirty="0"/>
              <a:t>public class </a:t>
            </a:r>
            <a:r>
              <a:rPr lang="en-IN" sz="1200" dirty="0" err="1"/>
              <a:t>ReadDir</a:t>
            </a:r>
            <a:r>
              <a:rPr lang="en-IN" sz="1200" dirty="0"/>
              <a:t> {</a:t>
            </a:r>
          </a:p>
          <a:p>
            <a:pPr marL="0" indent="0">
              <a:buNone/>
            </a:pPr>
            <a:endParaRPr lang="en-IN" sz="1200" dirty="0"/>
          </a:p>
          <a:p>
            <a:pPr marL="0" indent="0">
              <a:buNone/>
            </a:pPr>
            <a:r>
              <a:rPr lang="en-IN" sz="1200" dirty="0"/>
              <a:t>   public static void main(String[] </a:t>
            </a:r>
            <a:r>
              <a:rPr lang="en-IN" sz="1200" dirty="0" err="1"/>
              <a:t>args</a:t>
            </a:r>
            <a:r>
              <a:rPr lang="en-IN" sz="1200" dirty="0"/>
              <a:t>) {</a:t>
            </a:r>
          </a:p>
          <a:p>
            <a:pPr marL="0" indent="0">
              <a:buNone/>
            </a:pPr>
            <a:r>
              <a:rPr lang="en-IN" sz="1200" dirty="0"/>
              <a:t>      File </a:t>
            </a:r>
            <a:r>
              <a:rPr lang="en-IN" sz="1200" dirty="0" err="1"/>
              <a:t>file</a:t>
            </a:r>
            <a:r>
              <a:rPr lang="en-IN" sz="1200" dirty="0"/>
              <a:t> = null;</a:t>
            </a:r>
          </a:p>
          <a:p>
            <a:pPr marL="0" indent="0">
              <a:buNone/>
            </a:pPr>
            <a:r>
              <a:rPr lang="en-IN" sz="1200" dirty="0"/>
              <a:t>      String[] paths;</a:t>
            </a:r>
          </a:p>
          <a:p>
            <a:pPr marL="0" indent="0">
              <a:buNone/>
            </a:pPr>
            <a:r>
              <a:rPr lang="en-IN" sz="1200" dirty="0"/>
              <a:t>  </a:t>
            </a:r>
          </a:p>
          <a:p>
            <a:pPr marL="0" indent="0">
              <a:buNone/>
            </a:pPr>
            <a:r>
              <a:rPr lang="en-IN" sz="1200" dirty="0"/>
              <a:t>      try {      </a:t>
            </a:r>
          </a:p>
          <a:p>
            <a:pPr marL="0" indent="0">
              <a:buNone/>
            </a:pPr>
            <a:r>
              <a:rPr lang="en-IN" sz="1200" dirty="0"/>
              <a:t>         // create new file object</a:t>
            </a:r>
          </a:p>
          <a:p>
            <a:pPr marL="0" indent="0">
              <a:buNone/>
            </a:pPr>
            <a:r>
              <a:rPr lang="en-IN" sz="1200" dirty="0"/>
              <a:t>         file = new File("/</a:t>
            </a:r>
            <a:r>
              <a:rPr lang="en-IN" sz="1200" dirty="0" err="1"/>
              <a:t>tmp</a:t>
            </a:r>
            <a:r>
              <a:rPr lang="en-IN" sz="1200" dirty="0"/>
              <a:t>");</a:t>
            </a:r>
          </a:p>
          <a:p>
            <a:pPr marL="0" indent="0">
              <a:buNone/>
            </a:pPr>
            <a:endParaRPr lang="en-IN" sz="1200" dirty="0"/>
          </a:p>
          <a:p>
            <a:pPr marL="0" indent="0">
              <a:buNone/>
            </a:pPr>
            <a:r>
              <a:rPr lang="en-IN" sz="1200" dirty="0"/>
              <a:t>         // array of files and directory</a:t>
            </a:r>
          </a:p>
          <a:p>
            <a:pPr marL="0" indent="0">
              <a:buNone/>
            </a:pPr>
            <a:r>
              <a:rPr lang="en-IN" sz="1200" dirty="0"/>
              <a:t>         paths = </a:t>
            </a:r>
            <a:r>
              <a:rPr lang="en-IN" sz="1200" dirty="0" err="1"/>
              <a:t>file.list</a:t>
            </a:r>
            <a:r>
              <a:rPr lang="en-IN" sz="1200" dirty="0"/>
              <a:t>();</a:t>
            </a:r>
          </a:p>
          <a:p>
            <a:pPr marL="0" indent="0">
              <a:buNone/>
            </a:pPr>
            <a:endParaRPr lang="en-IN" sz="1200" dirty="0"/>
          </a:p>
          <a:p>
            <a:pPr marL="0" indent="0">
              <a:buNone/>
            </a:pPr>
            <a:r>
              <a:rPr lang="en-IN" sz="1200" dirty="0"/>
              <a:t>         // for each name in the path array</a:t>
            </a:r>
          </a:p>
          <a:p>
            <a:pPr marL="0" indent="0">
              <a:buNone/>
            </a:pPr>
            <a:r>
              <a:rPr lang="en-IN" sz="1200" dirty="0"/>
              <a:t>         for(String </a:t>
            </a:r>
            <a:r>
              <a:rPr lang="en-IN" sz="1200" dirty="0" err="1"/>
              <a:t>path:paths</a:t>
            </a:r>
            <a:r>
              <a:rPr lang="en-IN" sz="1200" dirty="0"/>
              <a:t>) {</a:t>
            </a:r>
          </a:p>
          <a:p>
            <a:pPr marL="0" indent="0">
              <a:buNone/>
            </a:pPr>
            <a:r>
              <a:rPr lang="en-IN" sz="1200" dirty="0"/>
              <a:t>            // prints filename and directory name</a:t>
            </a:r>
          </a:p>
          <a:p>
            <a:pPr marL="0" indent="0">
              <a:buNone/>
            </a:pPr>
            <a:r>
              <a:rPr lang="en-IN" sz="1200" dirty="0"/>
              <a:t>            </a:t>
            </a:r>
            <a:r>
              <a:rPr lang="en-IN" sz="1200" dirty="0" err="1"/>
              <a:t>System.out.println</a:t>
            </a:r>
            <a:r>
              <a:rPr lang="en-IN" sz="1200" dirty="0"/>
              <a:t>(path);</a:t>
            </a:r>
          </a:p>
          <a:p>
            <a:pPr marL="0" indent="0">
              <a:buNone/>
            </a:pPr>
            <a:r>
              <a:rPr lang="en-IN" sz="1200" dirty="0"/>
              <a:t>         }</a:t>
            </a:r>
          </a:p>
          <a:p>
            <a:pPr marL="0" indent="0">
              <a:buNone/>
            </a:pPr>
            <a:r>
              <a:rPr lang="en-IN" sz="1200" dirty="0"/>
              <a:t>      }catch(Exception e) {</a:t>
            </a:r>
          </a:p>
          <a:p>
            <a:pPr marL="0" indent="0">
              <a:buNone/>
            </a:pPr>
            <a:r>
              <a:rPr lang="en-IN" sz="1200" dirty="0"/>
              <a:t>         // if any error occurs</a:t>
            </a:r>
          </a:p>
          <a:p>
            <a:pPr marL="0" indent="0">
              <a:buNone/>
            </a:pPr>
            <a:r>
              <a:rPr lang="en-IN" sz="1200" dirty="0"/>
              <a:t>         </a:t>
            </a:r>
            <a:r>
              <a:rPr lang="en-IN" sz="1200" dirty="0" err="1"/>
              <a:t>e.printStackTrace</a:t>
            </a:r>
            <a:r>
              <a:rPr lang="en-IN" sz="1200" dirty="0"/>
              <a:t>();</a:t>
            </a:r>
          </a:p>
          <a:p>
            <a:pPr marL="0" indent="0">
              <a:buNone/>
            </a:pPr>
            <a:r>
              <a:rPr lang="en-IN" sz="1200" dirty="0"/>
              <a:t>      }</a:t>
            </a:r>
          </a:p>
          <a:p>
            <a:pPr marL="0" indent="0">
              <a:buNone/>
            </a:pPr>
            <a:r>
              <a:rPr lang="en-IN" sz="1200" dirty="0"/>
              <a:t>   }</a:t>
            </a:r>
          </a:p>
          <a:p>
            <a:pPr marL="0" indent="0">
              <a:buNone/>
            </a:pPr>
            <a:r>
              <a:rPr lang="en-IN" sz="1200" dirty="0"/>
              <a:t>}</a:t>
            </a:r>
          </a:p>
        </p:txBody>
      </p:sp>
    </p:spTree>
    <p:extLst>
      <p:ext uri="{BB962C8B-B14F-4D97-AF65-F5344CB8AC3E}">
        <p14:creationId xmlns:p14="http://schemas.microsoft.com/office/powerpoint/2010/main" val="332881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Example: Create a file </a:t>
            </a:r>
          </a:p>
        </p:txBody>
      </p:sp>
      <p:sp>
        <p:nvSpPr>
          <p:cNvPr id="3" name="Content Placeholder 2"/>
          <p:cNvSpPr>
            <a:spLocks noGrp="1"/>
          </p:cNvSpPr>
          <p:nvPr>
            <p:ph idx="1"/>
          </p:nvPr>
        </p:nvSpPr>
        <p:spPr>
          <a:xfrm>
            <a:off x="574675" y="1151050"/>
            <a:ext cx="8024813" cy="3598863"/>
          </a:xfrm>
        </p:spPr>
        <p:txBody>
          <a:bodyPr/>
          <a:lstStyle/>
          <a:p>
            <a:pPr marL="0" indent="0">
              <a:buNone/>
            </a:pPr>
            <a:r>
              <a:rPr lang="en-IN" sz="1200" dirty="0"/>
              <a:t>import </a:t>
            </a:r>
            <a:r>
              <a:rPr lang="en-IN" sz="1200" dirty="0" err="1"/>
              <a:t>java.io.File</a:t>
            </a:r>
            <a:r>
              <a:rPr lang="en-IN" sz="1200" dirty="0"/>
              <a:t>;</a:t>
            </a:r>
          </a:p>
          <a:p>
            <a:pPr marL="0" indent="0">
              <a:buNone/>
            </a:pPr>
            <a:r>
              <a:rPr lang="en-IN" sz="1200" dirty="0"/>
              <a:t>import </a:t>
            </a:r>
            <a:r>
              <a:rPr lang="en-IN" sz="1200" dirty="0" err="1"/>
              <a:t>java.io.IOException</a:t>
            </a:r>
            <a:r>
              <a:rPr lang="en-IN" sz="1200" dirty="0"/>
              <a:t>;</a:t>
            </a:r>
          </a:p>
          <a:p>
            <a:pPr marL="0" indent="0">
              <a:buNone/>
            </a:pPr>
            <a:endParaRPr lang="en-IN" sz="1200" dirty="0"/>
          </a:p>
          <a:p>
            <a:pPr marL="0" indent="0">
              <a:buNone/>
            </a:pPr>
            <a:r>
              <a:rPr lang="en-IN" sz="1200" dirty="0"/>
              <a:t>public class </a:t>
            </a:r>
            <a:r>
              <a:rPr lang="en-IN" sz="1200" dirty="0" err="1"/>
              <a:t>CreateFileDemo</a:t>
            </a:r>
            <a:endParaRPr lang="en-IN" sz="1200" dirty="0"/>
          </a:p>
          <a:p>
            <a:pPr marL="0" indent="0">
              <a:buNone/>
            </a:pPr>
            <a:r>
              <a:rPr lang="en-IN" sz="1200" dirty="0"/>
              <a:t>{</a:t>
            </a:r>
          </a:p>
          <a:p>
            <a:pPr marL="0" indent="0">
              <a:buNone/>
            </a:pPr>
            <a:r>
              <a:rPr lang="en-IN" sz="1200" dirty="0"/>
              <a:t>   public static void main( String[] </a:t>
            </a:r>
            <a:r>
              <a:rPr lang="en-IN" sz="1200" dirty="0" err="1"/>
              <a:t>args</a:t>
            </a:r>
            <a:r>
              <a:rPr lang="en-IN" sz="1200" dirty="0"/>
              <a:t> )</a:t>
            </a:r>
          </a:p>
          <a:p>
            <a:pPr marL="0" indent="0">
              <a:buNone/>
            </a:pPr>
            <a:r>
              <a:rPr lang="en-IN" sz="1200" dirty="0"/>
              <a:t>   {	</a:t>
            </a:r>
          </a:p>
          <a:p>
            <a:pPr marL="0" indent="0">
              <a:buNone/>
            </a:pPr>
            <a:r>
              <a:rPr lang="en-IN" sz="1200" dirty="0"/>
              <a:t>      try {</a:t>
            </a:r>
          </a:p>
          <a:p>
            <a:pPr marL="0" indent="0">
              <a:buNone/>
            </a:pPr>
            <a:r>
              <a:rPr lang="en-IN" sz="1200" dirty="0"/>
              <a:t>	     File </a:t>
            </a:r>
            <a:r>
              <a:rPr lang="en-IN" sz="1200" dirty="0" err="1"/>
              <a:t>file</a:t>
            </a:r>
            <a:r>
              <a:rPr lang="en-IN" sz="1200" dirty="0"/>
              <a:t> = new File("C:\\newfile.txt");</a:t>
            </a:r>
          </a:p>
          <a:p>
            <a:pPr marL="0" indent="0">
              <a:buNone/>
            </a:pPr>
            <a:r>
              <a:rPr lang="en-IN" sz="1200" dirty="0"/>
              <a:t>	     /*If file gets created then the </a:t>
            </a:r>
            <a:r>
              <a:rPr lang="en-IN" sz="1200" dirty="0" err="1"/>
              <a:t>createNewFile</a:t>
            </a:r>
            <a:r>
              <a:rPr lang="en-IN" sz="1200" dirty="0"/>
              <a:t>() </a:t>
            </a:r>
          </a:p>
          <a:p>
            <a:pPr marL="0" indent="0">
              <a:buNone/>
            </a:pPr>
            <a:r>
              <a:rPr lang="en-IN" sz="1200" dirty="0"/>
              <a:t>	      * method would return true or if the file is </a:t>
            </a:r>
          </a:p>
          <a:p>
            <a:pPr marL="0" indent="0">
              <a:buNone/>
            </a:pPr>
            <a:r>
              <a:rPr lang="en-IN" sz="1200" dirty="0"/>
              <a:t>	      * already present it would return false</a:t>
            </a:r>
          </a:p>
          <a:p>
            <a:pPr marL="0" indent="0">
              <a:buNone/>
            </a:pPr>
            <a:r>
              <a:rPr lang="en-IN" sz="1200" dirty="0"/>
              <a:t>	      */</a:t>
            </a:r>
          </a:p>
          <a:p>
            <a:pPr marL="0" indent="0">
              <a:buNone/>
            </a:pPr>
            <a:r>
              <a:rPr lang="en-IN" sz="1200" dirty="0"/>
              <a:t>             </a:t>
            </a:r>
            <a:r>
              <a:rPr lang="en-IN" sz="1200" dirty="0" err="1"/>
              <a:t>boolean</a:t>
            </a:r>
            <a:r>
              <a:rPr lang="en-IN" sz="1200" dirty="0"/>
              <a:t> </a:t>
            </a:r>
            <a:r>
              <a:rPr lang="en-IN" sz="1200" dirty="0" err="1"/>
              <a:t>fvar</a:t>
            </a:r>
            <a:r>
              <a:rPr lang="en-IN" sz="1200" dirty="0"/>
              <a:t> = </a:t>
            </a:r>
            <a:r>
              <a:rPr lang="en-IN" sz="1200" dirty="0" err="1"/>
              <a:t>file.createNewFile</a:t>
            </a:r>
            <a:r>
              <a:rPr lang="en-IN" sz="1200" dirty="0"/>
              <a:t>();</a:t>
            </a:r>
          </a:p>
          <a:p>
            <a:pPr marL="0" indent="0">
              <a:buNone/>
            </a:pPr>
            <a:r>
              <a:rPr lang="en-IN" sz="1200" dirty="0"/>
              <a:t>	     if (</a:t>
            </a:r>
            <a:r>
              <a:rPr lang="en-IN" sz="1200" dirty="0" err="1"/>
              <a:t>fvar</a:t>
            </a:r>
            <a:r>
              <a:rPr lang="en-IN" sz="1200" dirty="0"/>
              <a:t>){</a:t>
            </a:r>
          </a:p>
          <a:p>
            <a:pPr marL="0" indent="0">
              <a:buNone/>
            </a:pPr>
            <a:r>
              <a:rPr lang="en-IN" sz="1200" dirty="0"/>
              <a:t>	          </a:t>
            </a:r>
            <a:r>
              <a:rPr lang="en-IN" sz="1200" dirty="0" err="1"/>
              <a:t>System.out.println</a:t>
            </a:r>
            <a:r>
              <a:rPr lang="en-IN" sz="1200" dirty="0"/>
              <a:t>("File has been created successfully");</a:t>
            </a:r>
          </a:p>
          <a:p>
            <a:pPr marL="0" indent="0">
              <a:buNone/>
            </a:pPr>
            <a:r>
              <a:rPr lang="en-IN" sz="1200" dirty="0"/>
              <a:t>	     }</a:t>
            </a:r>
          </a:p>
          <a:p>
            <a:pPr marL="0" indent="0">
              <a:buNone/>
            </a:pPr>
            <a:r>
              <a:rPr lang="en-IN" sz="1200" dirty="0"/>
              <a:t>	     else{</a:t>
            </a:r>
          </a:p>
          <a:p>
            <a:pPr marL="0" indent="0">
              <a:buNone/>
            </a:pPr>
            <a:r>
              <a:rPr lang="en-IN" sz="1200" dirty="0"/>
              <a:t>	          </a:t>
            </a:r>
            <a:r>
              <a:rPr lang="en-IN" sz="1200" dirty="0" err="1"/>
              <a:t>System.out.println</a:t>
            </a:r>
            <a:r>
              <a:rPr lang="en-IN" sz="1200" dirty="0"/>
              <a:t>("File already present at the specified location");</a:t>
            </a:r>
          </a:p>
          <a:p>
            <a:pPr marL="0" indent="0">
              <a:buNone/>
            </a:pPr>
            <a:r>
              <a:rPr lang="en-IN" sz="1200" dirty="0"/>
              <a:t>	     }</a:t>
            </a:r>
          </a:p>
          <a:p>
            <a:pPr marL="0" indent="0">
              <a:buNone/>
            </a:pPr>
            <a:r>
              <a:rPr lang="en-IN" sz="1200" dirty="0"/>
              <a:t>    	} catch (</a:t>
            </a:r>
            <a:r>
              <a:rPr lang="en-IN" sz="1200" dirty="0" err="1"/>
              <a:t>IOException</a:t>
            </a:r>
            <a:r>
              <a:rPr lang="en-IN" sz="1200" dirty="0"/>
              <a:t> e) {</a:t>
            </a:r>
          </a:p>
          <a:p>
            <a:pPr marL="0" indent="0">
              <a:buNone/>
            </a:pPr>
            <a:r>
              <a:rPr lang="en-IN" sz="1200" dirty="0"/>
              <a:t>    		</a:t>
            </a:r>
            <a:r>
              <a:rPr lang="en-IN" sz="1200" dirty="0" err="1"/>
              <a:t>System.out.println</a:t>
            </a:r>
            <a:r>
              <a:rPr lang="en-IN" sz="1200" dirty="0"/>
              <a:t>("Exception Occurred:");</a:t>
            </a:r>
          </a:p>
          <a:p>
            <a:pPr marL="0" indent="0">
              <a:buNone/>
            </a:pPr>
            <a:r>
              <a:rPr lang="en-IN" sz="1200" dirty="0"/>
              <a:t>	        </a:t>
            </a:r>
            <a:r>
              <a:rPr lang="en-IN" sz="1200" dirty="0" err="1"/>
              <a:t>e.printStackTrace</a:t>
            </a:r>
            <a:r>
              <a:rPr lang="en-IN" sz="1200" dirty="0"/>
              <a:t>();</a:t>
            </a:r>
          </a:p>
          <a:p>
            <a:pPr marL="0" indent="0">
              <a:buNone/>
            </a:pPr>
            <a:r>
              <a:rPr lang="en-IN" sz="1200" dirty="0"/>
              <a:t>	  }</a:t>
            </a:r>
          </a:p>
          <a:p>
            <a:pPr marL="0" indent="0">
              <a:buNone/>
            </a:pPr>
            <a:r>
              <a:rPr lang="en-IN" sz="1200" dirty="0"/>
              <a:t>   }</a:t>
            </a:r>
          </a:p>
          <a:p>
            <a:pPr marL="0" indent="0">
              <a:buNone/>
            </a:pPr>
            <a:r>
              <a:rPr lang="en-IN" sz="1200" dirty="0"/>
              <a:t>}</a:t>
            </a:r>
          </a:p>
        </p:txBody>
      </p:sp>
    </p:spTree>
    <p:extLst>
      <p:ext uri="{BB962C8B-B14F-4D97-AF65-F5344CB8AC3E}">
        <p14:creationId xmlns:p14="http://schemas.microsoft.com/office/powerpoint/2010/main" val="1694621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read file in Java – </a:t>
            </a:r>
            <a:r>
              <a:rPr lang="en-IN" dirty="0" err="1"/>
              <a:t>BufferedInputStream</a:t>
            </a:r>
            <a:br>
              <a:rPr lang="en-IN" dirty="0"/>
            </a:br>
            <a:endParaRPr lang="en-IN" dirty="0"/>
          </a:p>
        </p:txBody>
      </p:sp>
      <p:sp>
        <p:nvSpPr>
          <p:cNvPr id="3" name="Content Placeholder 2"/>
          <p:cNvSpPr>
            <a:spLocks noGrp="1"/>
          </p:cNvSpPr>
          <p:nvPr>
            <p:ph idx="1"/>
          </p:nvPr>
        </p:nvSpPr>
        <p:spPr>
          <a:xfrm>
            <a:off x="574675" y="1189685"/>
            <a:ext cx="4012406" cy="5455813"/>
          </a:xfrm>
        </p:spPr>
        <p:txBody>
          <a:bodyPr/>
          <a:lstStyle/>
          <a:p>
            <a:pPr marL="0" indent="0">
              <a:buNone/>
            </a:pPr>
            <a:r>
              <a:rPr lang="en-IN" sz="1100" dirty="0"/>
              <a:t>import java.io.*;</a:t>
            </a:r>
          </a:p>
          <a:p>
            <a:pPr marL="0" indent="0">
              <a:buNone/>
            </a:pPr>
            <a:r>
              <a:rPr lang="en-IN" sz="1100" dirty="0"/>
              <a:t>public class </a:t>
            </a:r>
            <a:r>
              <a:rPr lang="en-IN" sz="1100" dirty="0" err="1"/>
              <a:t>ReadFileDemo</a:t>
            </a:r>
            <a:r>
              <a:rPr lang="en-IN" sz="1100" dirty="0"/>
              <a:t> {</a:t>
            </a:r>
          </a:p>
          <a:p>
            <a:pPr marL="0" indent="0">
              <a:buNone/>
            </a:pPr>
            <a:r>
              <a:rPr lang="en-IN" sz="1100" dirty="0"/>
              <a:t>   public static void main(String[] </a:t>
            </a:r>
            <a:r>
              <a:rPr lang="en-IN" sz="1100" dirty="0" err="1"/>
              <a:t>args</a:t>
            </a:r>
            <a:r>
              <a:rPr lang="en-IN" sz="1100" dirty="0"/>
              <a:t>) {         </a:t>
            </a:r>
          </a:p>
          <a:p>
            <a:pPr marL="0" indent="0">
              <a:buNone/>
            </a:pPr>
            <a:r>
              <a:rPr lang="en-IN" sz="1100" dirty="0"/>
              <a:t>      //Specify the path of the file here</a:t>
            </a:r>
          </a:p>
          <a:p>
            <a:pPr marL="0" indent="0">
              <a:buNone/>
            </a:pPr>
            <a:r>
              <a:rPr lang="en-IN" sz="1100" dirty="0"/>
              <a:t>      File </a:t>
            </a:r>
            <a:r>
              <a:rPr lang="en-IN" sz="1100" dirty="0" err="1"/>
              <a:t>file</a:t>
            </a:r>
            <a:r>
              <a:rPr lang="en-IN" sz="1100" dirty="0"/>
              <a:t> = new File("C://myfile.txt");</a:t>
            </a:r>
          </a:p>
          <a:p>
            <a:pPr marL="0" indent="0">
              <a:buNone/>
            </a:pPr>
            <a:r>
              <a:rPr lang="en-IN" sz="1100" dirty="0"/>
              <a:t>      </a:t>
            </a:r>
            <a:r>
              <a:rPr lang="en-IN" sz="1100" dirty="0" err="1"/>
              <a:t>BufferedInputStream</a:t>
            </a:r>
            <a:r>
              <a:rPr lang="en-IN" sz="1100" dirty="0"/>
              <a:t> </a:t>
            </a:r>
            <a:r>
              <a:rPr lang="en-IN" sz="1100" dirty="0" err="1"/>
              <a:t>bis</a:t>
            </a:r>
            <a:r>
              <a:rPr lang="en-IN" sz="1100" dirty="0"/>
              <a:t> = null;</a:t>
            </a:r>
          </a:p>
          <a:p>
            <a:pPr marL="0" indent="0">
              <a:buNone/>
            </a:pPr>
            <a:r>
              <a:rPr lang="en-IN" sz="1100" dirty="0"/>
              <a:t>      </a:t>
            </a:r>
            <a:r>
              <a:rPr lang="en-IN" sz="1100" dirty="0" err="1"/>
              <a:t>FileInputStream</a:t>
            </a:r>
            <a:r>
              <a:rPr lang="en-IN" sz="1100" dirty="0"/>
              <a:t>  </a:t>
            </a:r>
            <a:r>
              <a:rPr lang="en-IN" sz="1100" dirty="0" err="1"/>
              <a:t>fis</a:t>
            </a:r>
            <a:r>
              <a:rPr lang="en-IN" sz="1100" dirty="0"/>
              <a:t>= null;</a:t>
            </a:r>
          </a:p>
          <a:p>
            <a:pPr marL="0" indent="0">
              <a:buNone/>
            </a:pPr>
            <a:endParaRPr lang="en-IN" sz="1100" dirty="0"/>
          </a:p>
          <a:p>
            <a:pPr marL="0" indent="0">
              <a:buNone/>
            </a:pPr>
            <a:r>
              <a:rPr lang="en-IN" sz="1100" dirty="0"/>
              <a:t>      try</a:t>
            </a:r>
          </a:p>
          <a:p>
            <a:pPr marL="0" indent="0">
              <a:buNone/>
            </a:pPr>
            <a:r>
              <a:rPr lang="en-IN" sz="1100" dirty="0"/>
              <a:t>      {</a:t>
            </a:r>
          </a:p>
          <a:p>
            <a:pPr marL="0" indent="0">
              <a:buNone/>
            </a:pPr>
            <a:r>
              <a:rPr lang="en-IN" sz="1100" dirty="0"/>
              <a:t>          //</a:t>
            </a:r>
            <a:r>
              <a:rPr lang="en-IN" sz="1100" dirty="0" err="1"/>
              <a:t>FileInputStream</a:t>
            </a:r>
            <a:r>
              <a:rPr lang="en-IN" sz="1100" dirty="0"/>
              <a:t> to read the file</a:t>
            </a:r>
          </a:p>
          <a:p>
            <a:pPr marL="0" indent="0">
              <a:buNone/>
            </a:pPr>
            <a:r>
              <a:rPr lang="en-IN" sz="1100" dirty="0"/>
              <a:t>          </a:t>
            </a:r>
            <a:r>
              <a:rPr lang="en-IN" sz="1100" dirty="0" err="1"/>
              <a:t>fis</a:t>
            </a:r>
            <a:r>
              <a:rPr lang="en-IN" sz="1100" dirty="0"/>
              <a:t> = new </a:t>
            </a:r>
            <a:r>
              <a:rPr lang="en-IN" sz="1100" dirty="0" err="1"/>
              <a:t>FileInputStream</a:t>
            </a:r>
            <a:r>
              <a:rPr lang="en-IN" sz="1100" dirty="0"/>
              <a:t>(file);</a:t>
            </a:r>
          </a:p>
          <a:p>
            <a:pPr marL="0" indent="0">
              <a:buNone/>
            </a:pPr>
            <a:endParaRPr lang="en-IN" sz="1100" dirty="0"/>
          </a:p>
          <a:p>
            <a:pPr marL="0" indent="0">
              <a:buNone/>
            </a:pPr>
            <a:r>
              <a:rPr lang="en-IN" sz="1100" dirty="0"/>
              <a:t>          /*Passed the </a:t>
            </a:r>
            <a:r>
              <a:rPr lang="en-IN" sz="1100" dirty="0" err="1"/>
              <a:t>FileInputStream</a:t>
            </a:r>
            <a:r>
              <a:rPr lang="en-IN" sz="1100" dirty="0"/>
              <a:t> to </a:t>
            </a:r>
            <a:r>
              <a:rPr lang="en-IN" sz="1100" dirty="0" err="1"/>
              <a:t>BufferedInputStream</a:t>
            </a:r>
            <a:endParaRPr lang="en-IN" sz="1100" dirty="0"/>
          </a:p>
          <a:p>
            <a:pPr marL="0" indent="0">
              <a:buNone/>
            </a:pPr>
            <a:r>
              <a:rPr lang="en-IN" sz="1100" dirty="0"/>
              <a:t>           *For Fast read using the buffer array.*/</a:t>
            </a:r>
          </a:p>
          <a:p>
            <a:pPr marL="0" indent="0">
              <a:buNone/>
            </a:pPr>
            <a:r>
              <a:rPr lang="en-IN" sz="1100" dirty="0"/>
              <a:t>          </a:t>
            </a:r>
            <a:r>
              <a:rPr lang="en-IN" sz="1100" dirty="0" err="1"/>
              <a:t>bis</a:t>
            </a:r>
            <a:r>
              <a:rPr lang="en-IN" sz="1100" dirty="0"/>
              <a:t> = new </a:t>
            </a:r>
            <a:r>
              <a:rPr lang="en-IN" sz="1100" dirty="0" err="1"/>
              <a:t>BufferedInputStream</a:t>
            </a:r>
            <a:r>
              <a:rPr lang="en-IN" sz="1100" dirty="0"/>
              <a:t>(</a:t>
            </a:r>
            <a:r>
              <a:rPr lang="en-IN" sz="1100" dirty="0" err="1"/>
              <a:t>fis</a:t>
            </a:r>
            <a:r>
              <a:rPr lang="en-IN" sz="1100" dirty="0"/>
              <a:t>);</a:t>
            </a:r>
          </a:p>
          <a:p>
            <a:pPr marL="0" indent="0">
              <a:buNone/>
            </a:pPr>
            <a:endParaRPr lang="en-IN" sz="1100" dirty="0"/>
          </a:p>
          <a:p>
            <a:pPr marL="0" indent="0">
              <a:buNone/>
            </a:pPr>
            <a:r>
              <a:rPr lang="en-IN" sz="1100" dirty="0"/>
              <a:t>          /*available() method of </a:t>
            </a:r>
            <a:r>
              <a:rPr lang="en-IN" sz="1100" dirty="0" err="1"/>
              <a:t>BufferedInputStream</a:t>
            </a:r>
            <a:endParaRPr lang="en-IN" sz="1100" dirty="0"/>
          </a:p>
          <a:p>
            <a:pPr marL="0" indent="0">
              <a:buNone/>
            </a:pPr>
            <a:r>
              <a:rPr lang="en-IN" sz="1100" dirty="0"/>
              <a:t>           * returns 0 when there are no more bytes</a:t>
            </a:r>
          </a:p>
          <a:p>
            <a:pPr marL="0" indent="0">
              <a:buNone/>
            </a:pPr>
            <a:r>
              <a:rPr lang="en-IN" sz="1100" dirty="0"/>
              <a:t>           * present in the file to be read*/</a:t>
            </a:r>
          </a:p>
          <a:p>
            <a:pPr marL="0" indent="0">
              <a:buNone/>
            </a:pPr>
            <a:r>
              <a:rPr lang="en-IN" sz="1100" dirty="0"/>
              <a:t>          while( </a:t>
            </a:r>
            <a:r>
              <a:rPr lang="en-IN" sz="1100" dirty="0" err="1"/>
              <a:t>bis.available</a:t>
            </a:r>
            <a:r>
              <a:rPr lang="en-IN" sz="1100" dirty="0"/>
              <a:t>() &gt; 0 ){             	</a:t>
            </a:r>
          </a:p>
          <a:p>
            <a:pPr marL="0" indent="0">
              <a:buNone/>
            </a:pPr>
            <a:r>
              <a:rPr lang="en-IN" sz="1100" dirty="0"/>
              <a:t>              </a:t>
            </a:r>
            <a:r>
              <a:rPr lang="en-IN" sz="1100" dirty="0" err="1"/>
              <a:t>System.out.print</a:t>
            </a:r>
            <a:r>
              <a:rPr lang="en-IN" sz="1100" dirty="0"/>
              <a:t>((char)</a:t>
            </a:r>
            <a:r>
              <a:rPr lang="en-IN" sz="1100" dirty="0" err="1"/>
              <a:t>bis.read</a:t>
            </a:r>
            <a:r>
              <a:rPr lang="en-IN" sz="1100" dirty="0"/>
              <a:t>());</a:t>
            </a:r>
          </a:p>
          <a:p>
            <a:pPr marL="0" indent="0">
              <a:buNone/>
            </a:pPr>
            <a:r>
              <a:rPr lang="en-IN" sz="1100" dirty="0"/>
              <a:t>          }</a:t>
            </a:r>
          </a:p>
          <a:p>
            <a:pPr marL="0" indent="0">
              <a:buNone/>
            </a:pPr>
            <a:endParaRPr lang="en-IN" sz="1100" dirty="0"/>
          </a:p>
          <a:p>
            <a:pPr marL="0" indent="0">
              <a:buNone/>
            </a:pPr>
            <a:r>
              <a:rPr lang="en-IN" sz="1100" dirty="0"/>
              <a:t>       }</a:t>
            </a:r>
          </a:p>
        </p:txBody>
      </p:sp>
      <p:sp>
        <p:nvSpPr>
          <p:cNvPr id="11" name="Content Placeholder 2"/>
          <p:cNvSpPr txBox="1">
            <a:spLocks/>
          </p:cNvSpPr>
          <p:nvPr/>
        </p:nvSpPr>
        <p:spPr bwMode="auto">
          <a:xfrm>
            <a:off x="4587081" y="1189685"/>
            <a:ext cx="4460964" cy="54558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FontTx/>
              <a:buNone/>
            </a:pPr>
            <a:r>
              <a:rPr lang="en-IN" sz="1100" b="0" kern="0" dirty="0"/>
              <a:t>catch(</a:t>
            </a:r>
            <a:r>
              <a:rPr lang="en-IN" sz="1100" b="0" kern="0" dirty="0" err="1"/>
              <a:t>FileNotFoundException</a:t>
            </a:r>
            <a:r>
              <a:rPr lang="en-IN" sz="1100" b="0" kern="0" dirty="0"/>
              <a:t> </a:t>
            </a:r>
            <a:r>
              <a:rPr lang="en-IN" sz="1100" b="0" kern="0" dirty="0" err="1"/>
              <a:t>fnfe</a:t>
            </a:r>
            <a:r>
              <a:rPr lang="en-IN" sz="1100" b="0" kern="0" dirty="0"/>
              <a:t>)</a:t>
            </a:r>
          </a:p>
          <a:p>
            <a:pPr marL="0" indent="0">
              <a:buFontTx/>
              <a:buNone/>
            </a:pPr>
            <a:r>
              <a:rPr lang="en-IN" sz="1100" b="0" kern="0" dirty="0"/>
              <a:t>        {</a:t>
            </a:r>
          </a:p>
          <a:p>
            <a:pPr marL="0" indent="0">
              <a:buFontTx/>
              <a:buNone/>
            </a:pPr>
            <a:r>
              <a:rPr lang="en-IN" sz="1100" b="0" kern="0" dirty="0"/>
              <a:t>            </a:t>
            </a:r>
            <a:r>
              <a:rPr lang="en-IN" sz="1100" b="0" kern="0" dirty="0" err="1"/>
              <a:t>System.out.println</a:t>
            </a:r>
            <a:r>
              <a:rPr lang="en-IN" sz="1100" b="0" kern="0" dirty="0"/>
              <a:t>("The specified file not found" + </a:t>
            </a:r>
            <a:r>
              <a:rPr lang="en-IN" sz="1100" b="0" kern="0" dirty="0" err="1"/>
              <a:t>fnfe</a:t>
            </a:r>
            <a:r>
              <a:rPr lang="en-IN" sz="1100" b="0" kern="0" dirty="0"/>
              <a:t>);</a:t>
            </a:r>
          </a:p>
          <a:p>
            <a:pPr marL="0" indent="0">
              <a:buFontTx/>
              <a:buNone/>
            </a:pPr>
            <a:r>
              <a:rPr lang="en-IN" sz="1100" b="0" kern="0" dirty="0"/>
              <a:t>        }</a:t>
            </a:r>
          </a:p>
          <a:p>
            <a:pPr marL="0" indent="0">
              <a:buFontTx/>
              <a:buNone/>
            </a:pPr>
            <a:r>
              <a:rPr lang="en-IN" sz="1100" b="0" kern="0" dirty="0"/>
              <a:t>        catch(</a:t>
            </a:r>
            <a:r>
              <a:rPr lang="en-IN" sz="1100" b="0" kern="0" dirty="0" err="1"/>
              <a:t>IOException</a:t>
            </a:r>
            <a:r>
              <a:rPr lang="en-IN" sz="1100" b="0" kern="0" dirty="0"/>
              <a:t> </a:t>
            </a:r>
            <a:r>
              <a:rPr lang="en-IN" sz="1100" b="0" kern="0" dirty="0" err="1"/>
              <a:t>ioe</a:t>
            </a:r>
            <a:r>
              <a:rPr lang="en-IN" sz="1100" b="0" kern="0" dirty="0"/>
              <a:t>)</a:t>
            </a:r>
          </a:p>
          <a:p>
            <a:pPr marL="0" indent="0">
              <a:buFontTx/>
              <a:buNone/>
            </a:pPr>
            <a:r>
              <a:rPr lang="en-IN" sz="1100" b="0" kern="0" dirty="0"/>
              <a:t>        {</a:t>
            </a:r>
          </a:p>
          <a:p>
            <a:pPr marL="0" indent="0">
              <a:buFontTx/>
              <a:buNone/>
            </a:pPr>
            <a:r>
              <a:rPr lang="en-IN" sz="1100" b="0" kern="0" dirty="0"/>
              <a:t>            </a:t>
            </a:r>
            <a:r>
              <a:rPr lang="en-IN" sz="1100" b="0" kern="0" dirty="0" err="1"/>
              <a:t>System.out.println</a:t>
            </a:r>
            <a:r>
              <a:rPr lang="en-IN" sz="1100" b="0" kern="0" dirty="0"/>
              <a:t>("I/O Exception: " + </a:t>
            </a:r>
            <a:r>
              <a:rPr lang="en-IN" sz="1100" b="0" kern="0" dirty="0" err="1"/>
              <a:t>ioe</a:t>
            </a:r>
            <a:r>
              <a:rPr lang="en-IN" sz="1100" b="0" kern="0" dirty="0"/>
              <a:t>); </a:t>
            </a:r>
          </a:p>
          <a:p>
            <a:pPr marL="0" indent="0">
              <a:buFontTx/>
              <a:buNone/>
            </a:pPr>
            <a:r>
              <a:rPr lang="en-IN" sz="1100" b="0" kern="0" dirty="0"/>
              <a:t>        }</a:t>
            </a:r>
          </a:p>
          <a:p>
            <a:pPr marL="0" indent="0">
              <a:buFontTx/>
              <a:buNone/>
            </a:pPr>
            <a:r>
              <a:rPr lang="en-IN" sz="1100" b="0" kern="0" dirty="0"/>
              <a:t>        finally</a:t>
            </a:r>
          </a:p>
          <a:p>
            <a:pPr marL="0" indent="0">
              <a:buFontTx/>
              <a:buNone/>
            </a:pPr>
            <a:r>
              <a:rPr lang="en-IN" sz="1100" b="0" kern="0" dirty="0"/>
              <a:t>        {</a:t>
            </a:r>
          </a:p>
          <a:p>
            <a:pPr marL="0" indent="0">
              <a:buFontTx/>
              <a:buNone/>
            </a:pPr>
            <a:r>
              <a:rPr lang="en-IN" sz="1100" b="0" kern="0" dirty="0"/>
              <a:t>            try{</a:t>
            </a:r>
          </a:p>
          <a:p>
            <a:pPr marL="0" indent="0">
              <a:buFontTx/>
              <a:buNone/>
            </a:pPr>
            <a:r>
              <a:rPr lang="en-IN" sz="1100" b="0" kern="0" dirty="0"/>
              <a:t>               if(</a:t>
            </a:r>
            <a:r>
              <a:rPr lang="en-IN" sz="1100" b="0" kern="0" dirty="0" err="1"/>
              <a:t>bis</a:t>
            </a:r>
            <a:r>
              <a:rPr lang="en-IN" sz="1100" b="0" kern="0" dirty="0"/>
              <a:t> != null &amp;&amp; </a:t>
            </a:r>
            <a:r>
              <a:rPr lang="en-IN" sz="1100" b="0" kern="0" dirty="0" err="1"/>
              <a:t>fis</a:t>
            </a:r>
            <a:r>
              <a:rPr lang="en-IN" sz="1100" b="0" kern="0" dirty="0"/>
              <a:t>!=null)</a:t>
            </a:r>
          </a:p>
          <a:p>
            <a:pPr marL="0" indent="0">
              <a:buFontTx/>
              <a:buNone/>
            </a:pPr>
            <a:r>
              <a:rPr lang="en-IN" sz="1100" b="0" kern="0" dirty="0"/>
              <a:t>               {</a:t>
            </a:r>
          </a:p>
          <a:p>
            <a:pPr marL="0" indent="0">
              <a:buFontTx/>
              <a:buNone/>
            </a:pPr>
            <a:r>
              <a:rPr lang="en-IN" sz="1100" b="0" kern="0" dirty="0"/>
              <a:t>       	          </a:t>
            </a:r>
            <a:r>
              <a:rPr lang="en-IN" sz="1100" b="0" kern="0" dirty="0" err="1"/>
              <a:t>fis.close</a:t>
            </a:r>
            <a:r>
              <a:rPr lang="en-IN" sz="1100" b="0" kern="0" dirty="0"/>
              <a:t>();</a:t>
            </a:r>
          </a:p>
          <a:p>
            <a:pPr marL="0" indent="0">
              <a:buFontTx/>
              <a:buNone/>
            </a:pPr>
            <a:r>
              <a:rPr lang="en-IN" sz="1100" b="0" kern="0" dirty="0"/>
              <a:t>                  </a:t>
            </a:r>
            <a:r>
              <a:rPr lang="en-IN" sz="1100" b="0" kern="0" dirty="0" err="1"/>
              <a:t>bis.close</a:t>
            </a:r>
            <a:r>
              <a:rPr lang="en-IN" sz="1100" b="0" kern="0" dirty="0"/>
              <a:t>();</a:t>
            </a:r>
          </a:p>
          <a:p>
            <a:pPr marL="0" indent="0">
              <a:buFontTx/>
              <a:buNone/>
            </a:pPr>
            <a:r>
              <a:rPr lang="en-IN" sz="1100" b="0" kern="0" dirty="0"/>
              <a:t>               }      </a:t>
            </a:r>
          </a:p>
          <a:p>
            <a:pPr marL="0" indent="0">
              <a:buFontTx/>
              <a:buNone/>
            </a:pPr>
            <a:r>
              <a:rPr lang="en-IN" sz="1100" b="0" kern="0" dirty="0"/>
              <a:t>             }catch(</a:t>
            </a:r>
            <a:r>
              <a:rPr lang="en-IN" sz="1100" b="0" kern="0" dirty="0" err="1"/>
              <a:t>IOException</a:t>
            </a:r>
            <a:r>
              <a:rPr lang="en-IN" sz="1100" b="0" kern="0" dirty="0"/>
              <a:t> </a:t>
            </a:r>
            <a:r>
              <a:rPr lang="en-IN" sz="1100" b="0" kern="0" dirty="0" err="1"/>
              <a:t>ioe</a:t>
            </a:r>
            <a:r>
              <a:rPr lang="en-IN" sz="1100" b="0" kern="0" dirty="0"/>
              <a:t>)</a:t>
            </a:r>
          </a:p>
          <a:p>
            <a:pPr marL="0" indent="0">
              <a:buFontTx/>
              <a:buNone/>
            </a:pPr>
            <a:r>
              <a:rPr lang="en-IN" sz="1100" b="0" kern="0" dirty="0"/>
              <a:t>              {</a:t>
            </a:r>
          </a:p>
          <a:p>
            <a:pPr marL="0" indent="0">
              <a:buFontTx/>
              <a:buNone/>
            </a:pPr>
            <a:r>
              <a:rPr lang="en-IN" sz="1100" b="0" kern="0" dirty="0"/>
              <a:t>                  </a:t>
            </a:r>
            <a:r>
              <a:rPr lang="en-IN" sz="1100" b="0" kern="0" dirty="0" err="1"/>
              <a:t>System.out.println</a:t>
            </a:r>
            <a:r>
              <a:rPr lang="en-IN" sz="1100" b="0" kern="0" dirty="0"/>
              <a:t>("Error in </a:t>
            </a:r>
            <a:r>
              <a:rPr lang="en-IN" sz="1100" b="0" kern="0" dirty="0" err="1"/>
              <a:t>InputStream</a:t>
            </a:r>
            <a:r>
              <a:rPr lang="en-IN" sz="1100" b="0" kern="0" dirty="0"/>
              <a:t> close(): " + </a:t>
            </a:r>
            <a:r>
              <a:rPr lang="en-IN" sz="1100" b="0" kern="0" dirty="0" err="1"/>
              <a:t>ioe</a:t>
            </a:r>
            <a:r>
              <a:rPr lang="en-IN" sz="1100" b="0" kern="0" dirty="0"/>
              <a:t>);</a:t>
            </a:r>
          </a:p>
          <a:p>
            <a:pPr marL="0" indent="0">
              <a:buFontTx/>
              <a:buNone/>
            </a:pPr>
            <a:r>
              <a:rPr lang="en-IN" sz="1100" b="0" kern="0" dirty="0"/>
              <a:t>              }         </a:t>
            </a:r>
          </a:p>
          <a:p>
            <a:pPr marL="0" indent="0">
              <a:buFontTx/>
              <a:buNone/>
            </a:pPr>
            <a:r>
              <a:rPr lang="en-IN" sz="1100" b="0" kern="0" dirty="0"/>
              <a:t>        }</a:t>
            </a:r>
          </a:p>
          <a:p>
            <a:pPr marL="0" indent="0">
              <a:buFontTx/>
              <a:buNone/>
            </a:pPr>
            <a:r>
              <a:rPr lang="en-IN" sz="1100" b="0" kern="0" dirty="0"/>
              <a:t>   }    </a:t>
            </a:r>
          </a:p>
          <a:p>
            <a:pPr marL="0" indent="0">
              <a:buFontTx/>
              <a:buNone/>
            </a:pPr>
            <a:r>
              <a:rPr lang="en-IN" sz="1100" b="0" kern="0" dirty="0"/>
              <a:t>}</a:t>
            </a:r>
          </a:p>
        </p:txBody>
      </p:sp>
    </p:spTree>
    <p:extLst>
      <p:ext uri="{BB962C8B-B14F-4D97-AF65-F5344CB8AC3E}">
        <p14:creationId xmlns:p14="http://schemas.microsoft.com/office/powerpoint/2010/main" val="2906768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read file in Java using </a:t>
            </a:r>
            <a:r>
              <a:rPr lang="en-IN" dirty="0" err="1"/>
              <a:t>BufferedReader</a:t>
            </a:r>
            <a:br>
              <a:rPr lang="en-IN" dirty="0"/>
            </a:br>
            <a:endParaRPr lang="en-IN" dirty="0"/>
          </a:p>
        </p:txBody>
      </p:sp>
      <p:sp>
        <p:nvSpPr>
          <p:cNvPr id="3" name="Content Placeholder 2"/>
          <p:cNvSpPr>
            <a:spLocks noGrp="1"/>
          </p:cNvSpPr>
          <p:nvPr>
            <p:ph idx="1"/>
          </p:nvPr>
        </p:nvSpPr>
        <p:spPr>
          <a:xfrm>
            <a:off x="574675" y="1485900"/>
            <a:ext cx="4357933" cy="4824748"/>
          </a:xfrm>
        </p:spPr>
        <p:txBody>
          <a:bodyPr/>
          <a:lstStyle/>
          <a:p>
            <a:pPr marL="0" indent="0">
              <a:buNone/>
            </a:pPr>
            <a:r>
              <a:rPr lang="en-IN" sz="900" dirty="0"/>
              <a:t>import </a:t>
            </a:r>
            <a:r>
              <a:rPr lang="en-IN" sz="900" dirty="0" err="1"/>
              <a:t>java.io.BufferedReader</a:t>
            </a:r>
            <a:r>
              <a:rPr lang="en-IN" sz="900" dirty="0"/>
              <a:t>;</a:t>
            </a:r>
          </a:p>
          <a:p>
            <a:pPr marL="0" indent="0">
              <a:buNone/>
            </a:pPr>
            <a:r>
              <a:rPr lang="en-IN" sz="900" dirty="0"/>
              <a:t>import </a:t>
            </a:r>
            <a:r>
              <a:rPr lang="en-IN" sz="900" dirty="0" err="1"/>
              <a:t>java.io.FileReader</a:t>
            </a:r>
            <a:r>
              <a:rPr lang="en-IN" sz="900" dirty="0"/>
              <a:t>;</a:t>
            </a:r>
          </a:p>
          <a:p>
            <a:pPr marL="0" indent="0">
              <a:buNone/>
            </a:pPr>
            <a:r>
              <a:rPr lang="en-IN" sz="900" dirty="0"/>
              <a:t>import </a:t>
            </a:r>
            <a:r>
              <a:rPr lang="en-IN" sz="900" dirty="0" err="1"/>
              <a:t>java.io.IOException</a:t>
            </a:r>
            <a:r>
              <a:rPr lang="en-IN" sz="900" dirty="0"/>
              <a:t>;</a:t>
            </a:r>
          </a:p>
          <a:p>
            <a:pPr marL="0" indent="0">
              <a:buNone/>
            </a:pPr>
            <a:endParaRPr lang="en-IN" sz="900" dirty="0"/>
          </a:p>
          <a:p>
            <a:pPr marL="0" indent="0">
              <a:buNone/>
            </a:pPr>
            <a:r>
              <a:rPr lang="en-IN" sz="900" dirty="0"/>
              <a:t>public class </a:t>
            </a:r>
            <a:r>
              <a:rPr lang="en-IN" sz="900" dirty="0" err="1"/>
              <a:t>ReadFileDemo</a:t>
            </a:r>
            <a:r>
              <a:rPr lang="en-IN" sz="900" dirty="0"/>
              <a:t> {</a:t>
            </a:r>
          </a:p>
          <a:p>
            <a:pPr marL="0" indent="0">
              <a:buNone/>
            </a:pPr>
            <a:r>
              <a:rPr lang="en-IN" sz="900" dirty="0"/>
              <a:t>   public static void main(String[] </a:t>
            </a:r>
            <a:r>
              <a:rPr lang="en-IN" sz="900" dirty="0" err="1"/>
              <a:t>args</a:t>
            </a:r>
            <a:r>
              <a:rPr lang="en-IN" sz="900" dirty="0"/>
              <a:t>) {</a:t>
            </a:r>
          </a:p>
          <a:p>
            <a:pPr marL="0" indent="0">
              <a:buNone/>
            </a:pPr>
            <a:endParaRPr lang="en-IN" sz="900" dirty="0"/>
          </a:p>
          <a:p>
            <a:pPr marL="0" indent="0">
              <a:buNone/>
            </a:pPr>
            <a:r>
              <a:rPr lang="en-IN" sz="900" dirty="0"/>
              <a:t>       </a:t>
            </a:r>
            <a:r>
              <a:rPr lang="en-IN" sz="900" dirty="0" err="1"/>
              <a:t>BufferedReader</a:t>
            </a:r>
            <a:r>
              <a:rPr lang="en-IN" sz="900" dirty="0"/>
              <a:t> </a:t>
            </a:r>
            <a:r>
              <a:rPr lang="en-IN" sz="900" dirty="0" err="1"/>
              <a:t>br</a:t>
            </a:r>
            <a:r>
              <a:rPr lang="en-IN" sz="900" dirty="0"/>
              <a:t> = null;</a:t>
            </a:r>
          </a:p>
          <a:p>
            <a:pPr marL="0" indent="0">
              <a:buNone/>
            </a:pPr>
            <a:r>
              <a:rPr lang="en-IN" sz="900" dirty="0"/>
              <a:t>       </a:t>
            </a:r>
            <a:r>
              <a:rPr lang="en-IN" sz="900" dirty="0" err="1"/>
              <a:t>BufferedReader</a:t>
            </a:r>
            <a:r>
              <a:rPr lang="en-IN" sz="900" dirty="0"/>
              <a:t> br2 = null;</a:t>
            </a:r>
          </a:p>
          <a:p>
            <a:pPr marL="0" indent="0">
              <a:buNone/>
            </a:pPr>
            <a:r>
              <a:rPr lang="en-IN" sz="900" dirty="0"/>
              <a:t>       try{	</a:t>
            </a:r>
          </a:p>
          <a:p>
            <a:pPr marL="0" indent="0">
              <a:buNone/>
            </a:pPr>
            <a:r>
              <a:rPr lang="en-IN" sz="900" dirty="0"/>
              <a:t>           </a:t>
            </a:r>
            <a:r>
              <a:rPr lang="en-IN" sz="900" dirty="0" err="1"/>
              <a:t>br</a:t>
            </a:r>
            <a:r>
              <a:rPr lang="en-IN" sz="900" dirty="0"/>
              <a:t> = new </a:t>
            </a:r>
            <a:r>
              <a:rPr lang="en-IN" sz="900" dirty="0" err="1"/>
              <a:t>BufferedReader</a:t>
            </a:r>
            <a:r>
              <a:rPr lang="en-IN" sz="900" dirty="0"/>
              <a:t>(new </a:t>
            </a:r>
            <a:r>
              <a:rPr lang="en-IN" sz="900" dirty="0" err="1"/>
              <a:t>FileReader</a:t>
            </a:r>
            <a:r>
              <a:rPr lang="en-IN" sz="900" dirty="0"/>
              <a:t>("B:\\myfile.txt"));		</a:t>
            </a:r>
          </a:p>
          <a:p>
            <a:pPr marL="0" indent="0">
              <a:buNone/>
            </a:pPr>
            <a:endParaRPr lang="en-IN" sz="900" dirty="0"/>
          </a:p>
          <a:p>
            <a:pPr marL="0" indent="0">
              <a:buNone/>
            </a:pPr>
            <a:r>
              <a:rPr lang="en-IN" sz="900" dirty="0"/>
              <a:t>           //One way of reading the file</a:t>
            </a:r>
          </a:p>
          <a:p>
            <a:pPr marL="0" indent="0">
              <a:buNone/>
            </a:pPr>
            <a:r>
              <a:rPr lang="en-IN" sz="900" dirty="0"/>
              <a:t>	   </a:t>
            </a:r>
            <a:r>
              <a:rPr lang="en-IN" sz="900" dirty="0" err="1"/>
              <a:t>System.out.println</a:t>
            </a:r>
            <a:r>
              <a:rPr lang="en-IN" sz="900" dirty="0"/>
              <a:t>("Reading the file using </a:t>
            </a:r>
            <a:r>
              <a:rPr lang="en-IN" sz="900" dirty="0" err="1"/>
              <a:t>readLine</a:t>
            </a:r>
            <a:r>
              <a:rPr lang="en-IN" sz="900" dirty="0"/>
              <a:t>() method:");</a:t>
            </a:r>
          </a:p>
          <a:p>
            <a:pPr marL="0" indent="0">
              <a:buNone/>
            </a:pPr>
            <a:r>
              <a:rPr lang="en-IN" sz="900" dirty="0"/>
              <a:t>	   String </a:t>
            </a:r>
            <a:r>
              <a:rPr lang="en-IN" sz="900" dirty="0" err="1"/>
              <a:t>contentLine</a:t>
            </a:r>
            <a:r>
              <a:rPr lang="en-IN" sz="900" dirty="0"/>
              <a:t> = </a:t>
            </a:r>
            <a:r>
              <a:rPr lang="en-IN" sz="900" dirty="0" err="1"/>
              <a:t>br.readLine</a:t>
            </a:r>
            <a:r>
              <a:rPr lang="en-IN" sz="900" dirty="0"/>
              <a:t>();</a:t>
            </a:r>
          </a:p>
          <a:p>
            <a:pPr marL="0" indent="0">
              <a:buNone/>
            </a:pPr>
            <a:r>
              <a:rPr lang="en-IN" sz="900" dirty="0"/>
              <a:t>	   while (</a:t>
            </a:r>
            <a:r>
              <a:rPr lang="en-IN" sz="900" dirty="0" err="1"/>
              <a:t>contentLine</a:t>
            </a:r>
            <a:r>
              <a:rPr lang="en-IN" sz="900" dirty="0"/>
              <a:t> != null) {</a:t>
            </a:r>
          </a:p>
          <a:p>
            <a:pPr marL="0" indent="0">
              <a:buNone/>
            </a:pPr>
            <a:r>
              <a:rPr lang="en-IN" sz="900" dirty="0"/>
              <a:t>	      </a:t>
            </a:r>
            <a:r>
              <a:rPr lang="en-IN" sz="900" dirty="0" err="1"/>
              <a:t>System.out.println</a:t>
            </a:r>
            <a:r>
              <a:rPr lang="en-IN" sz="900" dirty="0"/>
              <a:t>(</a:t>
            </a:r>
            <a:r>
              <a:rPr lang="en-IN" sz="900" dirty="0" err="1"/>
              <a:t>contentLine</a:t>
            </a:r>
            <a:r>
              <a:rPr lang="en-IN" sz="900" dirty="0"/>
              <a:t>);</a:t>
            </a:r>
          </a:p>
          <a:p>
            <a:pPr marL="0" indent="0">
              <a:buNone/>
            </a:pPr>
            <a:r>
              <a:rPr lang="en-IN" sz="900" dirty="0"/>
              <a:t>	      </a:t>
            </a:r>
            <a:r>
              <a:rPr lang="en-IN" sz="900" dirty="0" err="1"/>
              <a:t>contentLine</a:t>
            </a:r>
            <a:r>
              <a:rPr lang="en-IN" sz="900" dirty="0"/>
              <a:t> = </a:t>
            </a:r>
            <a:r>
              <a:rPr lang="en-IN" sz="900" dirty="0" err="1"/>
              <a:t>br.readLine</a:t>
            </a:r>
            <a:r>
              <a:rPr lang="en-IN" sz="900" dirty="0"/>
              <a:t>();</a:t>
            </a:r>
          </a:p>
          <a:p>
            <a:pPr marL="0" indent="0">
              <a:buNone/>
            </a:pPr>
            <a:r>
              <a:rPr lang="en-IN" sz="900" dirty="0"/>
              <a:t>	   }</a:t>
            </a:r>
          </a:p>
          <a:p>
            <a:pPr marL="0" indent="0">
              <a:buNone/>
            </a:pPr>
            <a:endParaRPr lang="en-IN" sz="900" dirty="0"/>
          </a:p>
          <a:p>
            <a:pPr marL="0" indent="0">
              <a:buNone/>
            </a:pPr>
            <a:r>
              <a:rPr lang="en-IN" sz="900" dirty="0"/>
              <a:t>	   br2 = new </a:t>
            </a:r>
            <a:r>
              <a:rPr lang="en-IN" sz="900" dirty="0" err="1"/>
              <a:t>BufferedReader</a:t>
            </a:r>
            <a:r>
              <a:rPr lang="en-IN" sz="900" dirty="0"/>
              <a:t>(new </a:t>
            </a:r>
            <a:r>
              <a:rPr lang="en-IN" sz="900" dirty="0" err="1"/>
              <a:t>FileReader</a:t>
            </a:r>
            <a:r>
              <a:rPr lang="en-IN" sz="900" dirty="0"/>
              <a:t>("B:\\myfile2.txt"));</a:t>
            </a:r>
          </a:p>
          <a:p>
            <a:pPr marL="0" indent="0">
              <a:buNone/>
            </a:pPr>
            <a:endParaRPr lang="en-IN" sz="900" dirty="0"/>
          </a:p>
          <a:p>
            <a:pPr marL="0" indent="0">
              <a:buNone/>
            </a:pPr>
            <a:r>
              <a:rPr lang="en-IN" sz="900" dirty="0"/>
              <a:t>	   //Second way of reading the file</a:t>
            </a:r>
          </a:p>
          <a:p>
            <a:pPr marL="0" indent="0">
              <a:buNone/>
            </a:pPr>
            <a:r>
              <a:rPr lang="en-IN" sz="900" dirty="0"/>
              <a:t>	   </a:t>
            </a:r>
            <a:r>
              <a:rPr lang="en-IN" sz="900" dirty="0" err="1"/>
              <a:t>System.out.println</a:t>
            </a:r>
            <a:r>
              <a:rPr lang="en-IN" sz="900" dirty="0"/>
              <a:t>("Reading the file using read() method:");</a:t>
            </a:r>
          </a:p>
          <a:p>
            <a:pPr marL="0" indent="0">
              <a:buNone/>
            </a:pPr>
            <a:r>
              <a:rPr lang="en-IN" sz="900" dirty="0"/>
              <a:t>	</a:t>
            </a:r>
          </a:p>
        </p:txBody>
      </p:sp>
      <p:sp>
        <p:nvSpPr>
          <p:cNvPr id="5" name="Content Placeholder 2"/>
          <p:cNvSpPr txBox="1">
            <a:spLocks/>
          </p:cNvSpPr>
          <p:nvPr/>
        </p:nvSpPr>
        <p:spPr bwMode="auto">
          <a:xfrm>
            <a:off x="5125792" y="1485900"/>
            <a:ext cx="3819222" cy="482474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None/>
            </a:pPr>
            <a:r>
              <a:rPr lang="en-IN" sz="900" dirty="0"/>
              <a:t> </a:t>
            </a:r>
            <a:r>
              <a:rPr lang="en-IN" sz="900" b="0" dirty="0" err="1"/>
              <a:t>int</a:t>
            </a:r>
            <a:r>
              <a:rPr lang="en-IN" sz="900" b="0" dirty="0"/>
              <a:t> </a:t>
            </a:r>
            <a:r>
              <a:rPr lang="en-IN" sz="900" b="0" dirty="0" err="1"/>
              <a:t>num</a:t>
            </a:r>
            <a:r>
              <a:rPr lang="en-IN" sz="900" b="0" dirty="0"/>
              <a:t>=0;</a:t>
            </a:r>
          </a:p>
          <a:p>
            <a:pPr marL="0" indent="0">
              <a:buNone/>
            </a:pPr>
            <a:r>
              <a:rPr lang="en-IN" sz="900" b="0" dirty="0"/>
              <a:t>	   char </a:t>
            </a:r>
            <a:r>
              <a:rPr lang="en-IN" sz="900" b="0" dirty="0" err="1"/>
              <a:t>ch</a:t>
            </a:r>
            <a:r>
              <a:rPr lang="en-IN" sz="900" b="0" dirty="0"/>
              <a:t>;</a:t>
            </a:r>
          </a:p>
          <a:p>
            <a:pPr marL="0" indent="0">
              <a:buNone/>
            </a:pPr>
            <a:r>
              <a:rPr lang="en-IN" sz="900" b="0" dirty="0"/>
              <a:t>	   while((</a:t>
            </a:r>
            <a:r>
              <a:rPr lang="en-IN" sz="900" b="0" dirty="0" err="1"/>
              <a:t>num</a:t>
            </a:r>
            <a:r>
              <a:rPr lang="en-IN" sz="900" b="0" dirty="0"/>
              <a:t>=br2.read()) != -1)</a:t>
            </a:r>
          </a:p>
          <a:p>
            <a:pPr marL="0" indent="0">
              <a:buNone/>
            </a:pPr>
            <a:r>
              <a:rPr lang="en-IN" sz="900" b="0" dirty="0"/>
              <a:t>	   {	</a:t>
            </a:r>
          </a:p>
          <a:p>
            <a:pPr marL="0" indent="0">
              <a:buNone/>
            </a:pPr>
            <a:r>
              <a:rPr lang="en-IN" sz="900" b="0" dirty="0"/>
              <a:t>               </a:t>
            </a:r>
            <a:r>
              <a:rPr lang="en-IN" sz="900" b="0" dirty="0" err="1"/>
              <a:t>ch</a:t>
            </a:r>
            <a:r>
              <a:rPr lang="en-IN" sz="900" b="0" dirty="0"/>
              <a:t>=(char)</a:t>
            </a:r>
            <a:r>
              <a:rPr lang="en-IN" sz="900" b="0" dirty="0" err="1"/>
              <a:t>num</a:t>
            </a:r>
            <a:r>
              <a:rPr lang="en-IN" sz="900" b="0" dirty="0"/>
              <a:t>;</a:t>
            </a:r>
          </a:p>
          <a:p>
            <a:pPr marL="0" indent="0">
              <a:buNone/>
            </a:pPr>
            <a:r>
              <a:rPr lang="en-IN" sz="900" b="0" dirty="0"/>
              <a:t>	       </a:t>
            </a:r>
            <a:r>
              <a:rPr lang="en-IN" sz="900" b="0" dirty="0" err="1"/>
              <a:t>System.out.print</a:t>
            </a:r>
            <a:r>
              <a:rPr lang="en-IN" sz="900" b="0" dirty="0"/>
              <a:t>(</a:t>
            </a:r>
            <a:r>
              <a:rPr lang="en-IN" sz="900" b="0" dirty="0" err="1"/>
              <a:t>ch</a:t>
            </a:r>
            <a:r>
              <a:rPr lang="en-IN" sz="900" b="0" dirty="0"/>
              <a:t>);</a:t>
            </a:r>
          </a:p>
          <a:p>
            <a:pPr marL="0" indent="0">
              <a:buNone/>
            </a:pPr>
            <a:r>
              <a:rPr lang="en-IN" sz="900" b="0" dirty="0"/>
              <a:t>	   }</a:t>
            </a:r>
          </a:p>
          <a:p>
            <a:pPr marL="0" indent="0">
              <a:buNone/>
            </a:pPr>
            <a:endParaRPr lang="en-IN" sz="900" b="0" dirty="0"/>
          </a:p>
          <a:p>
            <a:pPr marL="0" indent="0">
              <a:buNone/>
            </a:pPr>
            <a:r>
              <a:rPr lang="en-IN" sz="900" b="0" dirty="0"/>
              <a:t>       } </a:t>
            </a:r>
          </a:p>
          <a:p>
            <a:pPr marL="0" indent="0">
              <a:buNone/>
            </a:pPr>
            <a:r>
              <a:rPr lang="en-IN" sz="900" b="0" kern="0" dirty="0"/>
              <a:t>catch (</a:t>
            </a:r>
            <a:r>
              <a:rPr lang="en-IN" sz="900" b="0" kern="0" dirty="0" err="1"/>
              <a:t>IOException</a:t>
            </a:r>
            <a:r>
              <a:rPr lang="en-IN" sz="900" b="0" kern="0" dirty="0"/>
              <a:t> </a:t>
            </a:r>
            <a:r>
              <a:rPr lang="en-IN" sz="900" b="0" kern="0" dirty="0" err="1"/>
              <a:t>ioe</a:t>
            </a:r>
            <a:r>
              <a:rPr lang="en-IN" sz="900" b="0" kern="0" dirty="0"/>
              <a:t>) </a:t>
            </a:r>
          </a:p>
          <a:p>
            <a:pPr marL="0" indent="0">
              <a:buFontTx/>
              <a:buNone/>
            </a:pPr>
            <a:r>
              <a:rPr lang="en-IN" sz="900" b="0" kern="0" dirty="0"/>
              <a:t>       {</a:t>
            </a:r>
          </a:p>
          <a:p>
            <a:pPr marL="0" indent="0">
              <a:buFontTx/>
              <a:buNone/>
            </a:pPr>
            <a:r>
              <a:rPr lang="en-IN" sz="900" b="0" kern="0" dirty="0"/>
              <a:t>	   </a:t>
            </a:r>
            <a:r>
              <a:rPr lang="en-IN" sz="900" b="0" kern="0" dirty="0" err="1"/>
              <a:t>ioe.printStackTrace</a:t>
            </a:r>
            <a:r>
              <a:rPr lang="en-IN" sz="900" b="0" kern="0" dirty="0"/>
              <a:t>();</a:t>
            </a:r>
          </a:p>
          <a:p>
            <a:pPr marL="0" indent="0">
              <a:buFontTx/>
              <a:buNone/>
            </a:pPr>
            <a:r>
              <a:rPr lang="en-IN" sz="900" b="0" kern="0" dirty="0"/>
              <a:t>       } </a:t>
            </a:r>
          </a:p>
          <a:p>
            <a:pPr marL="0" indent="0">
              <a:buFontTx/>
              <a:buNone/>
            </a:pPr>
            <a:r>
              <a:rPr lang="en-IN" sz="900" b="0" kern="0" dirty="0"/>
              <a:t>       finally </a:t>
            </a:r>
          </a:p>
          <a:p>
            <a:pPr marL="0" indent="0">
              <a:buFontTx/>
              <a:buNone/>
            </a:pPr>
            <a:r>
              <a:rPr lang="en-IN" sz="900" b="0" kern="0" dirty="0"/>
              <a:t>       {</a:t>
            </a:r>
          </a:p>
          <a:p>
            <a:pPr marL="0" indent="0">
              <a:buFontTx/>
              <a:buNone/>
            </a:pPr>
            <a:r>
              <a:rPr lang="en-IN" sz="900" b="0" kern="0" dirty="0"/>
              <a:t>	   try {</a:t>
            </a:r>
          </a:p>
          <a:p>
            <a:pPr marL="0" indent="0">
              <a:buFontTx/>
              <a:buNone/>
            </a:pPr>
            <a:r>
              <a:rPr lang="en-IN" sz="900" b="0" kern="0" dirty="0"/>
              <a:t>	      if (</a:t>
            </a:r>
            <a:r>
              <a:rPr lang="en-IN" sz="900" b="0" kern="0" dirty="0" err="1"/>
              <a:t>br</a:t>
            </a:r>
            <a:r>
              <a:rPr lang="en-IN" sz="900" b="0" kern="0" dirty="0"/>
              <a:t> != null)</a:t>
            </a:r>
          </a:p>
          <a:p>
            <a:pPr marL="0" indent="0">
              <a:buFontTx/>
              <a:buNone/>
            </a:pPr>
            <a:r>
              <a:rPr lang="en-IN" sz="900" b="0" kern="0" dirty="0"/>
              <a:t>		 </a:t>
            </a:r>
            <a:r>
              <a:rPr lang="en-IN" sz="900" b="0" kern="0" dirty="0" err="1"/>
              <a:t>br.close</a:t>
            </a:r>
            <a:r>
              <a:rPr lang="en-IN" sz="900" b="0" kern="0" dirty="0"/>
              <a:t>();</a:t>
            </a:r>
          </a:p>
          <a:p>
            <a:pPr marL="0" indent="0">
              <a:buFontTx/>
              <a:buNone/>
            </a:pPr>
            <a:r>
              <a:rPr lang="en-IN" sz="900" b="0" kern="0" dirty="0"/>
              <a:t>	      if (br2 != null)</a:t>
            </a:r>
          </a:p>
          <a:p>
            <a:pPr marL="0" indent="0">
              <a:buFontTx/>
              <a:buNone/>
            </a:pPr>
            <a:r>
              <a:rPr lang="en-IN" sz="900" b="0" kern="0" dirty="0"/>
              <a:t>		 br2.close();</a:t>
            </a:r>
          </a:p>
          <a:p>
            <a:pPr marL="0" indent="0">
              <a:buFontTx/>
              <a:buNone/>
            </a:pPr>
            <a:r>
              <a:rPr lang="en-IN" sz="900" b="0" kern="0" dirty="0"/>
              <a:t>	   } </a:t>
            </a:r>
          </a:p>
          <a:p>
            <a:pPr marL="0" indent="0">
              <a:buFontTx/>
              <a:buNone/>
            </a:pPr>
            <a:r>
              <a:rPr lang="en-IN" sz="900" b="0" kern="0" dirty="0"/>
              <a:t>	   catch (</a:t>
            </a:r>
            <a:r>
              <a:rPr lang="en-IN" sz="900" b="0" kern="0" dirty="0" err="1"/>
              <a:t>IOException</a:t>
            </a:r>
            <a:r>
              <a:rPr lang="en-IN" sz="900" b="0" kern="0" dirty="0"/>
              <a:t> </a:t>
            </a:r>
            <a:r>
              <a:rPr lang="en-IN" sz="900" b="0" kern="0" dirty="0" err="1"/>
              <a:t>ioe</a:t>
            </a:r>
            <a:r>
              <a:rPr lang="en-IN" sz="900" b="0" kern="0" dirty="0"/>
              <a:t>) </a:t>
            </a:r>
          </a:p>
          <a:p>
            <a:pPr marL="0" indent="0">
              <a:buFontTx/>
              <a:buNone/>
            </a:pPr>
            <a:r>
              <a:rPr lang="en-IN" sz="900" b="0" kern="0" dirty="0"/>
              <a:t>           {</a:t>
            </a:r>
          </a:p>
          <a:p>
            <a:pPr marL="0" indent="0">
              <a:buFontTx/>
              <a:buNone/>
            </a:pPr>
            <a:r>
              <a:rPr lang="en-IN" sz="900" b="0" kern="0" dirty="0"/>
              <a:t>		</a:t>
            </a:r>
            <a:r>
              <a:rPr lang="en-IN" sz="900" b="0" kern="0" dirty="0" err="1"/>
              <a:t>System.out.println</a:t>
            </a:r>
            <a:r>
              <a:rPr lang="en-IN" sz="900" b="0" kern="0" dirty="0"/>
              <a:t>("Error in closing the </a:t>
            </a:r>
            <a:r>
              <a:rPr lang="en-IN" sz="900" b="0" kern="0" dirty="0" err="1"/>
              <a:t>BufferedReader</a:t>
            </a:r>
            <a:r>
              <a:rPr lang="en-IN" sz="900" b="0" kern="0" dirty="0"/>
              <a:t>");</a:t>
            </a:r>
          </a:p>
          <a:p>
            <a:pPr marL="0" indent="0">
              <a:buFontTx/>
              <a:buNone/>
            </a:pPr>
            <a:r>
              <a:rPr lang="en-IN" sz="900" b="0" kern="0" dirty="0"/>
              <a:t>	   }</a:t>
            </a:r>
          </a:p>
          <a:p>
            <a:pPr marL="0" indent="0">
              <a:buFontTx/>
              <a:buNone/>
            </a:pPr>
            <a:r>
              <a:rPr lang="en-IN" sz="900" b="0" kern="0" dirty="0"/>
              <a:t>	}</a:t>
            </a:r>
          </a:p>
          <a:p>
            <a:pPr marL="0" indent="0">
              <a:buFontTx/>
              <a:buNone/>
            </a:pPr>
            <a:r>
              <a:rPr lang="en-IN" sz="900" b="0" kern="0" dirty="0"/>
              <a:t>   }</a:t>
            </a:r>
          </a:p>
          <a:p>
            <a:pPr marL="0" indent="0">
              <a:buFontTx/>
              <a:buNone/>
            </a:pPr>
            <a:r>
              <a:rPr lang="en-IN" sz="900" b="0" kern="0" dirty="0"/>
              <a:t>}</a:t>
            </a:r>
          </a:p>
        </p:txBody>
      </p:sp>
    </p:spTree>
    <p:extLst>
      <p:ext uri="{BB962C8B-B14F-4D97-AF65-F5344CB8AC3E}">
        <p14:creationId xmlns:p14="http://schemas.microsoft.com/office/powerpoint/2010/main" val="4001349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write to file in Java using </a:t>
            </a:r>
            <a:r>
              <a:rPr lang="en-IN" dirty="0" err="1"/>
              <a:t>BufferedWriter</a:t>
            </a:r>
            <a:br>
              <a:rPr lang="en-IN" dirty="0"/>
            </a:br>
            <a:endParaRPr lang="en-IN" dirty="0"/>
          </a:p>
        </p:txBody>
      </p:sp>
      <p:sp>
        <p:nvSpPr>
          <p:cNvPr id="3" name="Content Placeholder 2"/>
          <p:cNvSpPr>
            <a:spLocks noGrp="1"/>
          </p:cNvSpPr>
          <p:nvPr>
            <p:ph idx="1"/>
          </p:nvPr>
        </p:nvSpPr>
        <p:spPr>
          <a:xfrm>
            <a:off x="574676" y="1485900"/>
            <a:ext cx="4074598" cy="3598863"/>
          </a:xfrm>
        </p:spPr>
        <p:txBody>
          <a:bodyPr/>
          <a:lstStyle/>
          <a:p>
            <a:pPr marL="0" indent="0">
              <a:buNone/>
            </a:pPr>
            <a:r>
              <a:rPr lang="en-IN" sz="1050" dirty="0"/>
              <a:t>import </a:t>
            </a:r>
            <a:r>
              <a:rPr lang="en-IN" sz="1050" dirty="0" err="1"/>
              <a:t>java.io.BufferedWriter</a:t>
            </a:r>
            <a:r>
              <a:rPr lang="en-IN" sz="1050" dirty="0"/>
              <a:t>;</a:t>
            </a:r>
          </a:p>
          <a:p>
            <a:pPr marL="0" indent="0">
              <a:buNone/>
            </a:pPr>
            <a:r>
              <a:rPr lang="en-IN" sz="1050" dirty="0"/>
              <a:t>import </a:t>
            </a:r>
            <a:r>
              <a:rPr lang="en-IN" sz="1050" dirty="0" err="1"/>
              <a:t>java.io.File</a:t>
            </a:r>
            <a:r>
              <a:rPr lang="en-IN" sz="1050" dirty="0"/>
              <a:t>;</a:t>
            </a:r>
          </a:p>
          <a:p>
            <a:pPr marL="0" indent="0">
              <a:buNone/>
            </a:pPr>
            <a:r>
              <a:rPr lang="en-IN" sz="1050" dirty="0"/>
              <a:t>import </a:t>
            </a:r>
            <a:r>
              <a:rPr lang="en-IN" sz="1050" dirty="0" err="1"/>
              <a:t>java.io.FileWriter</a:t>
            </a:r>
            <a:r>
              <a:rPr lang="en-IN" sz="1050" dirty="0"/>
              <a:t>;</a:t>
            </a:r>
          </a:p>
          <a:p>
            <a:pPr marL="0" indent="0">
              <a:buNone/>
            </a:pPr>
            <a:r>
              <a:rPr lang="en-IN" sz="1050" dirty="0"/>
              <a:t>import </a:t>
            </a:r>
            <a:r>
              <a:rPr lang="en-IN" sz="1050" dirty="0" err="1"/>
              <a:t>java.io.IOException</a:t>
            </a:r>
            <a:r>
              <a:rPr lang="en-IN" sz="1050" dirty="0"/>
              <a:t>;</a:t>
            </a:r>
          </a:p>
          <a:p>
            <a:pPr marL="0" indent="0">
              <a:buNone/>
            </a:pPr>
            <a:endParaRPr lang="en-IN" sz="1050" dirty="0"/>
          </a:p>
          <a:p>
            <a:pPr marL="0" indent="0">
              <a:buNone/>
            </a:pPr>
            <a:r>
              <a:rPr lang="en-IN" sz="1050" dirty="0"/>
              <a:t>public class </a:t>
            </a:r>
            <a:r>
              <a:rPr lang="en-IN" sz="1050" dirty="0" err="1"/>
              <a:t>WriteFileDemo</a:t>
            </a:r>
            <a:r>
              <a:rPr lang="en-IN" sz="1050" dirty="0"/>
              <a:t> {</a:t>
            </a:r>
          </a:p>
          <a:p>
            <a:pPr marL="0" indent="0">
              <a:buNone/>
            </a:pPr>
            <a:r>
              <a:rPr lang="en-IN" sz="1050" dirty="0"/>
              <a:t>   public static void main(String[] </a:t>
            </a:r>
            <a:r>
              <a:rPr lang="en-IN" sz="1050" dirty="0" err="1"/>
              <a:t>args</a:t>
            </a:r>
            <a:r>
              <a:rPr lang="en-IN" sz="1050" dirty="0"/>
              <a:t>) {</a:t>
            </a:r>
          </a:p>
          <a:p>
            <a:pPr marL="0" indent="0">
              <a:buNone/>
            </a:pPr>
            <a:r>
              <a:rPr lang="en-IN" sz="1050" dirty="0"/>
              <a:t>      </a:t>
            </a:r>
            <a:r>
              <a:rPr lang="en-IN" sz="1050" dirty="0" err="1"/>
              <a:t>BufferedWriter</a:t>
            </a:r>
            <a:r>
              <a:rPr lang="en-IN" sz="1050" dirty="0"/>
              <a:t> </a:t>
            </a:r>
            <a:r>
              <a:rPr lang="en-IN" sz="1050" dirty="0" err="1"/>
              <a:t>bw</a:t>
            </a:r>
            <a:r>
              <a:rPr lang="en-IN" sz="1050" dirty="0"/>
              <a:t> = null;</a:t>
            </a:r>
          </a:p>
          <a:p>
            <a:pPr marL="0" indent="0">
              <a:buNone/>
            </a:pPr>
            <a:r>
              <a:rPr lang="en-IN" sz="1050" dirty="0"/>
              <a:t>      try {</a:t>
            </a:r>
          </a:p>
          <a:p>
            <a:pPr marL="0" indent="0">
              <a:buNone/>
            </a:pPr>
            <a:r>
              <a:rPr lang="en-IN" sz="1050" dirty="0"/>
              <a:t>	 String </a:t>
            </a:r>
            <a:r>
              <a:rPr lang="en-IN" sz="1050" dirty="0" err="1"/>
              <a:t>mycontent</a:t>
            </a:r>
            <a:r>
              <a:rPr lang="en-IN" sz="1050" dirty="0"/>
              <a:t> = "This String would be written" +</a:t>
            </a:r>
          </a:p>
          <a:p>
            <a:pPr marL="0" indent="0">
              <a:buNone/>
            </a:pPr>
            <a:r>
              <a:rPr lang="en-IN" sz="1050" dirty="0"/>
              <a:t>	    " to the specified File";</a:t>
            </a:r>
          </a:p>
          <a:p>
            <a:pPr marL="0" indent="0">
              <a:buNone/>
            </a:pPr>
            <a:r>
              <a:rPr lang="en-IN" sz="1050" dirty="0"/>
              <a:t>         //Specify the file name and path here</a:t>
            </a:r>
          </a:p>
          <a:p>
            <a:pPr marL="0" indent="0">
              <a:buNone/>
            </a:pPr>
            <a:r>
              <a:rPr lang="en-IN" sz="1050" dirty="0"/>
              <a:t>	 File </a:t>
            </a:r>
            <a:r>
              <a:rPr lang="en-IN" sz="1050" dirty="0" err="1"/>
              <a:t>file</a:t>
            </a:r>
            <a:r>
              <a:rPr lang="en-IN" sz="1050" dirty="0"/>
              <a:t> = new File("C:/myfile.txt");</a:t>
            </a:r>
          </a:p>
          <a:p>
            <a:pPr marL="0" indent="0">
              <a:buNone/>
            </a:pPr>
            <a:endParaRPr lang="en-IN" sz="1050" dirty="0"/>
          </a:p>
          <a:p>
            <a:pPr marL="0" indent="0">
              <a:buNone/>
            </a:pPr>
            <a:r>
              <a:rPr lang="en-IN" sz="1050" dirty="0"/>
              <a:t>	 /* This logic will make sure that the file </a:t>
            </a:r>
          </a:p>
          <a:p>
            <a:pPr marL="0" indent="0">
              <a:buNone/>
            </a:pPr>
            <a:r>
              <a:rPr lang="en-IN" sz="1050" dirty="0"/>
              <a:t>	  * gets created if it is not present at the</a:t>
            </a:r>
          </a:p>
          <a:p>
            <a:pPr marL="0" indent="0">
              <a:buNone/>
            </a:pPr>
            <a:r>
              <a:rPr lang="en-IN" sz="1050" dirty="0"/>
              <a:t>	  * specified location*/</a:t>
            </a:r>
          </a:p>
          <a:p>
            <a:pPr marL="0" indent="0">
              <a:buNone/>
            </a:pPr>
            <a:r>
              <a:rPr lang="en-IN" sz="1050" dirty="0"/>
              <a:t>	  if (!</a:t>
            </a:r>
            <a:r>
              <a:rPr lang="en-IN" sz="1050" dirty="0" err="1"/>
              <a:t>file.exists</a:t>
            </a:r>
            <a:r>
              <a:rPr lang="en-IN" sz="1050" dirty="0"/>
              <a:t>()) {</a:t>
            </a:r>
          </a:p>
          <a:p>
            <a:pPr marL="0" indent="0">
              <a:buNone/>
            </a:pPr>
            <a:r>
              <a:rPr lang="en-IN" sz="1050" dirty="0"/>
              <a:t>	     </a:t>
            </a:r>
            <a:r>
              <a:rPr lang="en-IN" sz="1050" dirty="0" err="1"/>
              <a:t>file.createNewFile</a:t>
            </a:r>
            <a:r>
              <a:rPr lang="en-IN" sz="1050" dirty="0"/>
              <a:t>();</a:t>
            </a:r>
          </a:p>
          <a:p>
            <a:pPr marL="0" indent="0">
              <a:buNone/>
            </a:pPr>
            <a:r>
              <a:rPr lang="en-IN" sz="1050" dirty="0"/>
              <a:t>	  }</a:t>
            </a:r>
          </a:p>
          <a:p>
            <a:pPr marL="0" indent="0">
              <a:buNone/>
            </a:pPr>
            <a:endParaRPr lang="en-IN" sz="1050" dirty="0"/>
          </a:p>
          <a:p>
            <a:pPr marL="0" indent="0">
              <a:buNone/>
            </a:pPr>
            <a:r>
              <a:rPr lang="en-IN" sz="1050" dirty="0"/>
              <a:t>	</a:t>
            </a:r>
          </a:p>
        </p:txBody>
      </p:sp>
      <p:sp>
        <p:nvSpPr>
          <p:cNvPr id="5" name="Content Placeholder 2"/>
          <p:cNvSpPr txBox="1">
            <a:spLocks/>
          </p:cNvSpPr>
          <p:nvPr/>
        </p:nvSpPr>
        <p:spPr bwMode="auto">
          <a:xfrm>
            <a:off x="4649274" y="1485899"/>
            <a:ext cx="4074598"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FontTx/>
              <a:buNone/>
            </a:pPr>
            <a:r>
              <a:rPr lang="en-IN" sz="1050" b="0" kern="0" dirty="0"/>
              <a:t>	  </a:t>
            </a:r>
            <a:r>
              <a:rPr lang="en-IN" sz="1050" b="0" kern="0" dirty="0" err="1"/>
              <a:t>FileWriter</a:t>
            </a:r>
            <a:r>
              <a:rPr lang="en-IN" sz="1050" b="0" kern="0" dirty="0"/>
              <a:t> </a:t>
            </a:r>
            <a:r>
              <a:rPr lang="en-IN" sz="1050" b="0" kern="0" dirty="0" err="1"/>
              <a:t>fw</a:t>
            </a:r>
            <a:r>
              <a:rPr lang="en-IN" sz="1050" b="0" kern="0" dirty="0"/>
              <a:t> = new </a:t>
            </a:r>
            <a:r>
              <a:rPr lang="en-IN" sz="1050" b="0" kern="0" dirty="0" err="1"/>
              <a:t>FileWriter</a:t>
            </a:r>
            <a:r>
              <a:rPr lang="en-IN" sz="1050" b="0" kern="0" dirty="0"/>
              <a:t>(file);</a:t>
            </a:r>
          </a:p>
          <a:p>
            <a:pPr marL="0" indent="0">
              <a:buFontTx/>
              <a:buNone/>
            </a:pPr>
            <a:r>
              <a:rPr lang="en-IN" sz="1050" b="0" kern="0" dirty="0"/>
              <a:t>	  </a:t>
            </a:r>
            <a:r>
              <a:rPr lang="en-IN" sz="1050" b="0" kern="0" dirty="0" err="1"/>
              <a:t>bw</a:t>
            </a:r>
            <a:r>
              <a:rPr lang="en-IN" sz="1050" b="0" kern="0" dirty="0"/>
              <a:t> = new </a:t>
            </a:r>
            <a:r>
              <a:rPr lang="en-IN" sz="1050" b="0" kern="0" dirty="0" err="1"/>
              <a:t>BufferedWriter</a:t>
            </a:r>
            <a:r>
              <a:rPr lang="en-IN" sz="1050" b="0" kern="0" dirty="0"/>
              <a:t>(</a:t>
            </a:r>
            <a:r>
              <a:rPr lang="en-IN" sz="1050" b="0" kern="0" dirty="0" err="1"/>
              <a:t>fw</a:t>
            </a:r>
            <a:r>
              <a:rPr lang="en-IN" sz="1050" b="0" kern="0" dirty="0"/>
              <a:t>);</a:t>
            </a:r>
          </a:p>
          <a:p>
            <a:pPr marL="0" indent="0">
              <a:buFontTx/>
              <a:buNone/>
            </a:pPr>
            <a:r>
              <a:rPr lang="en-IN" sz="1050" b="0" kern="0" dirty="0"/>
              <a:t>	  </a:t>
            </a:r>
            <a:r>
              <a:rPr lang="en-IN" sz="1050" b="0" kern="0" dirty="0" err="1"/>
              <a:t>bw.write</a:t>
            </a:r>
            <a:r>
              <a:rPr lang="en-IN" sz="1050" b="0" kern="0" dirty="0"/>
              <a:t>(</a:t>
            </a:r>
            <a:r>
              <a:rPr lang="en-IN" sz="1050" b="0" kern="0" dirty="0" err="1"/>
              <a:t>mycontent</a:t>
            </a:r>
            <a:r>
              <a:rPr lang="en-IN" sz="1050" b="0" kern="0" dirty="0"/>
              <a:t>);</a:t>
            </a:r>
          </a:p>
          <a:p>
            <a:pPr marL="0" indent="0">
              <a:buFontTx/>
              <a:buNone/>
            </a:pPr>
            <a:r>
              <a:rPr lang="en-IN" sz="1050" b="0" kern="0" dirty="0"/>
              <a:t>          </a:t>
            </a:r>
            <a:r>
              <a:rPr lang="en-IN" sz="1050" b="0" kern="0" dirty="0" err="1"/>
              <a:t>System.out.println</a:t>
            </a:r>
            <a:r>
              <a:rPr lang="en-IN" sz="1050" b="0" kern="0" dirty="0"/>
              <a:t>("File written Successfully");</a:t>
            </a:r>
          </a:p>
          <a:p>
            <a:pPr marL="0" indent="0">
              <a:buFontTx/>
              <a:buNone/>
            </a:pPr>
            <a:endParaRPr lang="en-IN" sz="1050" b="0" kern="0" dirty="0"/>
          </a:p>
          <a:p>
            <a:pPr marL="0" indent="0">
              <a:buFontTx/>
              <a:buNone/>
            </a:pPr>
            <a:r>
              <a:rPr lang="en-IN" sz="1050" b="0" kern="0" dirty="0"/>
              <a:t>      } catch (</a:t>
            </a:r>
            <a:r>
              <a:rPr lang="en-IN" sz="1050" b="0" kern="0" dirty="0" err="1"/>
              <a:t>IOException</a:t>
            </a:r>
            <a:r>
              <a:rPr lang="en-IN" sz="1050" b="0" kern="0" dirty="0"/>
              <a:t> </a:t>
            </a:r>
            <a:r>
              <a:rPr lang="en-IN" sz="1050" b="0" kern="0" dirty="0" err="1"/>
              <a:t>ioe</a:t>
            </a:r>
            <a:r>
              <a:rPr lang="en-IN" sz="1050" b="0" kern="0" dirty="0"/>
              <a:t>) {</a:t>
            </a:r>
          </a:p>
          <a:p>
            <a:pPr marL="0" indent="0">
              <a:buFontTx/>
              <a:buNone/>
            </a:pPr>
            <a:r>
              <a:rPr lang="en-IN" sz="1050" b="0" kern="0" dirty="0"/>
              <a:t>	   </a:t>
            </a:r>
            <a:r>
              <a:rPr lang="en-IN" sz="1050" b="0" kern="0" dirty="0" err="1"/>
              <a:t>ioe.printStackTrace</a:t>
            </a:r>
            <a:r>
              <a:rPr lang="en-IN" sz="1050" b="0" kern="0" dirty="0"/>
              <a:t>();</a:t>
            </a:r>
          </a:p>
          <a:p>
            <a:pPr marL="0" indent="0">
              <a:buFontTx/>
              <a:buNone/>
            </a:pPr>
            <a:r>
              <a:rPr lang="en-IN" sz="1050" b="0" kern="0" dirty="0"/>
              <a:t>	}</a:t>
            </a:r>
          </a:p>
          <a:p>
            <a:pPr marL="0" indent="0">
              <a:buFontTx/>
              <a:buNone/>
            </a:pPr>
            <a:r>
              <a:rPr lang="en-IN" sz="1050" b="0" kern="0" dirty="0"/>
              <a:t>	finally</a:t>
            </a:r>
          </a:p>
          <a:p>
            <a:pPr marL="0" indent="0">
              <a:buFontTx/>
              <a:buNone/>
            </a:pPr>
            <a:r>
              <a:rPr lang="en-IN" sz="1050" b="0" kern="0" dirty="0"/>
              <a:t>	{ </a:t>
            </a:r>
          </a:p>
          <a:p>
            <a:pPr marL="0" indent="0">
              <a:buFontTx/>
              <a:buNone/>
            </a:pPr>
            <a:r>
              <a:rPr lang="en-IN" sz="1050" b="0" kern="0" dirty="0"/>
              <a:t>	   try{</a:t>
            </a:r>
          </a:p>
          <a:p>
            <a:pPr marL="0" indent="0">
              <a:buFontTx/>
              <a:buNone/>
            </a:pPr>
            <a:r>
              <a:rPr lang="en-IN" sz="1050" b="0" kern="0" dirty="0"/>
              <a:t>	      if(</a:t>
            </a:r>
            <a:r>
              <a:rPr lang="en-IN" sz="1050" b="0" kern="0" dirty="0" err="1"/>
              <a:t>bw</a:t>
            </a:r>
            <a:r>
              <a:rPr lang="en-IN" sz="1050" b="0" kern="0" dirty="0"/>
              <a:t>!=null)</a:t>
            </a:r>
          </a:p>
          <a:p>
            <a:pPr marL="0" indent="0">
              <a:buFontTx/>
              <a:buNone/>
            </a:pPr>
            <a:r>
              <a:rPr lang="en-IN" sz="1050" b="0" kern="0" dirty="0"/>
              <a:t>		 </a:t>
            </a:r>
            <a:r>
              <a:rPr lang="en-IN" sz="1050" b="0" kern="0" dirty="0" err="1"/>
              <a:t>bw.close</a:t>
            </a:r>
            <a:r>
              <a:rPr lang="en-IN" sz="1050" b="0" kern="0" dirty="0"/>
              <a:t>();</a:t>
            </a:r>
          </a:p>
          <a:p>
            <a:pPr marL="0" indent="0">
              <a:buFontTx/>
              <a:buNone/>
            </a:pPr>
            <a:r>
              <a:rPr lang="en-IN" sz="1050" b="0" kern="0" dirty="0"/>
              <a:t>	   }catch(Exception ex){</a:t>
            </a:r>
          </a:p>
          <a:p>
            <a:pPr marL="0" indent="0">
              <a:buFontTx/>
              <a:buNone/>
            </a:pPr>
            <a:r>
              <a:rPr lang="en-IN" sz="1050" b="0" kern="0" dirty="0"/>
              <a:t>	       </a:t>
            </a:r>
            <a:r>
              <a:rPr lang="en-IN" sz="1050" b="0" kern="0" dirty="0" err="1"/>
              <a:t>System.out.println</a:t>
            </a:r>
            <a:r>
              <a:rPr lang="en-IN" sz="1050" b="0" kern="0" dirty="0"/>
              <a:t>("Error in closing the </a:t>
            </a:r>
            <a:r>
              <a:rPr lang="en-IN" sz="1050" b="0" kern="0" dirty="0" err="1"/>
              <a:t>BufferedWriter</a:t>
            </a:r>
            <a:r>
              <a:rPr lang="en-IN" sz="1050" b="0" kern="0" dirty="0"/>
              <a:t>"+ex);</a:t>
            </a:r>
          </a:p>
          <a:p>
            <a:pPr marL="0" indent="0">
              <a:buFontTx/>
              <a:buNone/>
            </a:pPr>
            <a:r>
              <a:rPr lang="en-IN" sz="1050" b="0" kern="0" dirty="0"/>
              <a:t>	    }</a:t>
            </a:r>
          </a:p>
          <a:p>
            <a:pPr marL="0" indent="0">
              <a:buFontTx/>
              <a:buNone/>
            </a:pPr>
            <a:r>
              <a:rPr lang="en-IN" sz="1050" b="0" kern="0" dirty="0"/>
              <a:t>	}</a:t>
            </a:r>
          </a:p>
          <a:p>
            <a:pPr marL="0" indent="0">
              <a:buFontTx/>
              <a:buNone/>
            </a:pPr>
            <a:r>
              <a:rPr lang="en-IN" sz="1050" b="0" kern="0" dirty="0"/>
              <a:t>   }</a:t>
            </a:r>
          </a:p>
          <a:p>
            <a:pPr marL="0" indent="0">
              <a:buFontTx/>
              <a:buNone/>
            </a:pPr>
            <a:r>
              <a:rPr lang="en-IN" sz="1050" b="0" kern="0" dirty="0"/>
              <a:t>}</a:t>
            </a:r>
          </a:p>
        </p:txBody>
      </p:sp>
    </p:spTree>
    <p:extLst>
      <p:ext uri="{BB962C8B-B14F-4D97-AF65-F5344CB8AC3E}">
        <p14:creationId xmlns:p14="http://schemas.microsoft.com/office/powerpoint/2010/main" val="2473377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600" dirty="0"/>
              <a:t>Append content to File using </a:t>
            </a:r>
            <a:r>
              <a:rPr lang="en-IN" sz="1600" dirty="0" err="1"/>
              <a:t>FileWriter</a:t>
            </a:r>
            <a:r>
              <a:rPr lang="en-IN" sz="1600" dirty="0"/>
              <a:t> and </a:t>
            </a:r>
            <a:r>
              <a:rPr lang="en-IN" sz="1600" dirty="0" err="1"/>
              <a:t>BufferedWriter</a:t>
            </a:r>
            <a:br>
              <a:rPr lang="en-IN" sz="1600" dirty="0"/>
            </a:br>
            <a:endParaRPr lang="en-IN" sz="1600" dirty="0"/>
          </a:p>
        </p:txBody>
      </p:sp>
      <p:sp>
        <p:nvSpPr>
          <p:cNvPr id="3" name="Content Placeholder 2"/>
          <p:cNvSpPr>
            <a:spLocks noGrp="1"/>
          </p:cNvSpPr>
          <p:nvPr>
            <p:ph idx="1"/>
          </p:nvPr>
        </p:nvSpPr>
        <p:spPr>
          <a:xfrm>
            <a:off x="574675" y="1485900"/>
            <a:ext cx="4061719" cy="3598863"/>
          </a:xfrm>
        </p:spPr>
        <p:txBody>
          <a:bodyPr/>
          <a:lstStyle/>
          <a:p>
            <a:pPr marL="0" indent="0">
              <a:buNone/>
            </a:pPr>
            <a:r>
              <a:rPr lang="en-IN" sz="1100" dirty="0"/>
              <a:t>import </a:t>
            </a:r>
            <a:r>
              <a:rPr lang="en-IN" sz="1100" dirty="0" err="1"/>
              <a:t>java.io.File</a:t>
            </a:r>
            <a:r>
              <a:rPr lang="en-IN" sz="1100" dirty="0"/>
              <a:t>;</a:t>
            </a:r>
          </a:p>
          <a:p>
            <a:pPr marL="0" indent="0">
              <a:buNone/>
            </a:pPr>
            <a:r>
              <a:rPr lang="en-IN" sz="1100" dirty="0"/>
              <a:t>import </a:t>
            </a:r>
            <a:r>
              <a:rPr lang="en-IN" sz="1100" dirty="0" err="1"/>
              <a:t>java.io.FileWriter</a:t>
            </a:r>
            <a:r>
              <a:rPr lang="en-IN" sz="1100" dirty="0"/>
              <a:t>;</a:t>
            </a:r>
          </a:p>
          <a:p>
            <a:pPr marL="0" indent="0">
              <a:buNone/>
            </a:pPr>
            <a:r>
              <a:rPr lang="en-IN" sz="1100" dirty="0"/>
              <a:t>import </a:t>
            </a:r>
            <a:r>
              <a:rPr lang="en-IN" sz="1100" dirty="0" err="1"/>
              <a:t>java.io.BufferedWriter</a:t>
            </a:r>
            <a:r>
              <a:rPr lang="en-IN" sz="1100" dirty="0"/>
              <a:t>;</a:t>
            </a:r>
          </a:p>
          <a:p>
            <a:pPr marL="0" indent="0">
              <a:buNone/>
            </a:pPr>
            <a:r>
              <a:rPr lang="en-IN" sz="1100" dirty="0"/>
              <a:t>import </a:t>
            </a:r>
            <a:r>
              <a:rPr lang="en-IN" sz="1100" dirty="0" err="1"/>
              <a:t>java.io.IOException</a:t>
            </a:r>
            <a:r>
              <a:rPr lang="en-IN" sz="1100" dirty="0"/>
              <a:t>;</a:t>
            </a:r>
          </a:p>
          <a:p>
            <a:pPr marL="0" indent="0">
              <a:buNone/>
            </a:pPr>
            <a:endParaRPr lang="en-IN" sz="1100" dirty="0"/>
          </a:p>
          <a:p>
            <a:pPr marL="0" indent="0">
              <a:buNone/>
            </a:pPr>
            <a:r>
              <a:rPr lang="en-IN" sz="1100" dirty="0"/>
              <a:t>class </a:t>
            </a:r>
            <a:r>
              <a:rPr lang="en-IN" sz="1100" dirty="0" err="1"/>
              <a:t>AppendFileDemo</a:t>
            </a:r>
            <a:endParaRPr lang="en-IN" sz="1100" dirty="0"/>
          </a:p>
          <a:p>
            <a:pPr marL="0" indent="0">
              <a:buNone/>
            </a:pPr>
            <a:r>
              <a:rPr lang="en-IN" sz="1100" dirty="0"/>
              <a:t>{</a:t>
            </a:r>
          </a:p>
          <a:p>
            <a:pPr marL="0" indent="0">
              <a:buNone/>
            </a:pPr>
            <a:r>
              <a:rPr lang="en-IN" sz="1100" dirty="0"/>
              <a:t>   public static void main( String[] </a:t>
            </a:r>
            <a:r>
              <a:rPr lang="en-IN" sz="1100" dirty="0" err="1"/>
              <a:t>args</a:t>
            </a:r>
            <a:r>
              <a:rPr lang="en-IN" sz="1100" dirty="0"/>
              <a:t> )</a:t>
            </a:r>
          </a:p>
          <a:p>
            <a:pPr marL="0" indent="0">
              <a:buNone/>
            </a:pPr>
            <a:r>
              <a:rPr lang="en-IN" sz="1100" dirty="0"/>
              <a:t>   {	</a:t>
            </a:r>
          </a:p>
          <a:p>
            <a:pPr marL="0" indent="0">
              <a:buNone/>
            </a:pPr>
            <a:r>
              <a:rPr lang="en-IN" sz="1100" dirty="0"/>
              <a:t>      try{</a:t>
            </a:r>
          </a:p>
          <a:p>
            <a:pPr marL="0" indent="0">
              <a:buNone/>
            </a:pPr>
            <a:r>
              <a:rPr lang="en-IN" sz="1100" dirty="0"/>
              <a:t>    	String content = "This is my content which would be appended " +</a:t>
            </a:r>
          </a:p>
          <a:p>
            <a:pPr marL="0" indent="0">
              <a:buNone/>
            </a:pPr>
            <a:r>
              <a:rPr lang="en-IN" sz="1100" dirty="0"/>
              <a:t>        	"at the end of the specified file";</a:t>
            </a:r>
          </a:p>
          <a:p>
            <a:pPr marL="0" indent="0">
              <a:buNone/>
            </a:pPr>
            <a:r>
              <a:rPr lang="en-IN" sz="1100" dirty="0"/>
              <a:t>        //Specify the file name and path here</a:t>
            </a:r>
          </a:p>
          <a:p>
            <a:pPr marL="0" indent="0">
              <a:buNone/>
            </a:pPr>
            <a:r>
              <a:rPr lang="en-IN" sz="1100" dirty="0"/>
              <a:t>    	File </a:t>
            </a:r>
            <a:r>
              <a:rPr lang="en-IN" sz="1100" dirty="0" err="1"/>
              <a:t>file</a:t>
            </a:r>
            <a:r>
              <a:rPr lang="en-IN" sz="1100" dirty="0"/>
              <a:t> =new File("C://myfile.txt");</a:t>
            </a:r>
          </a:p>
          <a:p>
            <a:pPr marL="0" indent="0">
              <a:buNone/>
            </a:pPr>
            <a:endParaRPr lang="en-IN" sz="1100" dirty="0"/>
          </a:p>
          <a:p>
            <a:pPr marL="0" indent="0">
              <a:buNone/>
            </a:pPr>
            <a:r>
              <a:rPr lang="en-IN" sz="1100" dirty="0"/>
              <a:t>    	/* This logic is to create the file if the</a:t>
            </a:r>
          </a:p>
          <a:p>
            <a:pPr marL="0" indent="0">
              <a:buNone/>
            </a:pPr>
            <a:r>
              <a:rPr lang="en-IN" sz="1100" dirty="0"/>
              <a:t>    	 * file is not already present</a:t>
            </a:r>
          </a:p>
          <a:p>
            <a:pPr marL="0" indent="0">
              <a:buNone/>
            </a:pPr>
            <a:r>
              <a:rPr lang="en-IN" sz="1100" dirty="0"/>
              <a:t>    	 */</a:t>
            </a:r>
          </a:p>
          <a:p>
            <a:pPr marL="0" indent="0">
              <a:buNone/>
            </a:pPr>
            <a:r>
              <a:rPr lang="en-IN" sz="1100" dirty="0"/>
              <a:t>    	if(!</a:t>
            </a:r>
            <a:r>
              <a:rPr lang="en-IN" sz="1100" dirty="0" err="1"/>
              <a:t>file.exists</a:t>
            </a:r>
            <a:r>
              <a:rPr lang="en-IN" sz="1100" dirty="0"/>
              <a:t>()){</a:t>
            </a:r>
          </a:p>
          <a:p>
            <a:pPr marL="0" indent="0">
              <a:buNone/>
            </a:pPr>
            <a:r>
              <a:rPr lang="en-IN" sz="1100" dirty="0"/>
              <a:t>    	   </a:t>
            </a:r>
            <a:r>
              <a:rPr lang="en-IN" sz="1100" dirty="0" err="1"/>
              <a:t>file.createNewFile</a:t>
            </a:r>
            <a:r>
              <a:rPr lang="en-IN" sz="1100" dirty="0"/>
              <a:t>();</a:t>
            </a:r>
          </a:p>
          <a:p>
            <a:pPr marL="0" indent="0">
              <a:buNone/>
            </a:pPr>
            <a:r>
              <a:rPr lang="en-IN" sz="1100" dirty="0"/>
              <a:t>    	}</a:t>
            </a:r>
          </a:p>
          <a:p>
            <a:pPr marL="0" indent="0">
              <a:buNone/>
            </a:pPr>
            <a:endParaRPr lang="en-IN" sz="1100" dirty="0"/>
          </a:p>
          <a:p>
            <a:pPr marL="0" indent="0">
              <a:buNone/>
            </a:pPr>
            <a:r>
              <a:rPr lang="en-IN" sz="1100" dirty="0"/>
              <a:t>    	</a:t>
            </a:r>
          </a:p>
        </p:txBody>
      </p:sp>
      <p:sp>
        <p:nvSpPr>
          <p:cNvPr id="5" name="Content Placeholder 2"/>
          <p:cNvSpPr txBox="1">
            <a:spLocks/>
          </p:cNvSpPr>
          <p:nvPr/>
        </p:nvSpPr>
        <p:spPr bwMode="auto">
          <a:xfrm>
            <a:off x="5082282" y="1485899"/>
            <a:ext cx="3804142"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FontTx/>
              <a:buNone/>
            </a:pPr>
            <a:endParaRPr lang="en-IN" sz="1050" b="0" kern="0" dirty="0"/>
          </a:p>
          <a:p>
            <a:pPr marL="0" indent="0">
              <a:buFontTx/>
              <a:buNone/>
            </a:pPr>
            <a:r>
              <a:rPr lang="en-IN" sz="1050" b="0" kern="0" dirty="0"/>
              <a:t>    	//Here true is to append the content to file</a:t>
            </a:r>
          </a:p>
          <a:p>
            <a:pPr marL="0" indent="0">
              <a:buFontTx/>
              <a:buNone/>
            </a:pPr>
            <a:r>
              <a:rPr lang="en-IN" sz="1050" b="0" kern="0" dirty="0"/>
              <a:t>    	</a:t>
            </a:r>
            <a:r>
              <a:rPr lang="en-IN" sz="1050" b="0" kern="0" dirty="0" err="1"/>
              <a:t>FileWriter</a:t>
            </a:r>
            <a:r>
              <a:rPr lang="en-IN" sz="1050" b="0" kern="0" dirty="0"/>
              <a:t> </a:t>
            </a:r>
            <a:r>
              <a:rPr lang="en-IN" sz="1050" b="0" kern="0" dirty="0" err="1"/>
              <a:t>fw</a:t>
            </a:r>
            <a:r>
              <a:rPr lang="en-IN" sz="1050" b="0" kern="0" dirty="0"/>
              <a:t> = new </a:t>
            </a:r>
            <a:r>
              <a:rPr lang="en-IN" sz="1050" b="0" kern="0" dirty="0" err="1"/>
              <a:t>FileWriter</a:t>
            </a:r>
            <a:r>
              <a:rPr lang="en-IN" sz="1050" b="0" kern="0" dirty="0"/>
              <a:t>(</a:t>
            </a:r>
            <a:r>
              <a:rPr lang="en-IN" sz="1050" b="0" kern="0" dirty="0" err="1"/>
              <a:t>file,true</a:t>
            </a:r>
            <a:r>
              <a:rPr lang="en-IN" sz="1050" b="0" kern="0" dirty="0"/>
              <a:t>);</a:t>
            </a:r>
          </a:p>
          <a:p>
            <a:pPr marL="0" indent="0">
              <a:buFontTx/>
              <a:buNone/>
            </a:pPr>
            <a:r>
              <a:rPr lang="en-IN" sz="1050" b="0" kern="0" dirty="0"/>
              <a:t>    	//</a:t>
            </a:r>
            <a:r>
              <a:rPr lang="en-IN" sz="1050" b="0" kern="0" dirty="0" err="1"/>
              <a:t>BufferedWriter</a:t>
            </a:r>
            <a:r>
              <a:rPr lang="en-IN" sz="1050" b="0" kern="0" dirty="0"/>
              <a:t> writer give better performance</a:t>
            </a:r>
          </a:p>
          <a:p>
            <a:pPr marL="0" indent="0">
              <a:buFontTx/>
              <a:buNone/>
            </a:pPr>
            <a:r>
              <a:rPr lang="en-IN" sz="1050" b="0" kern="0" dirty="0"/>
              <a:t>    	</a:t>
            </a:r>
            <a:r>
              <a:rPr lang="en-IN" sz="1050" b="0" kern="0" dirty="0" err="1"/>
              <a:t>BufferedWriter</a:t>
            </a:r>
            <a:r>
              <a:rPr lang="en-IN" sz="1050" b="0" kern="0" dirty="0"/>
              <a:t> </a:t>
            </a:r>
            <a:r>
              <a:rPr lang="en-IN" sz="1050" b="0" kern="0" dirty="0" err="1"/>
              <a:t>bw</a:t>
            </a:r>
            <a:r>
              <a:rPr lang="en-IN" sz="1050" b="0" kern="0" dirty="0"/>
              <a:t> = new </a:t>
            </a:r>
            <a:r>
              <a:rPr lang="en-IN" sz="1050" b="0" kern="0" dirty="0" err="1"/>
              <a:t>BufferedWriter</a:t>
            </a:r>
            <a:r>
              <a:rPr lang="en-IN" sz="1050" b="0" kern="0" dirty="0"/>
              <a:t>(</a:t>
            </a:r>
            <a:r>
              <a:rPr lang="en-IN" sz="1050" b="0" kern="0" dirty="0" err="1"/>
              <a:t>fw</a:t>
            </a:r>
            <a:r>
              <a:rPr lang="en-IN" sz="1050" b="0" kern="0" dirty="0"/>
              <a:t>);</a:t>
            </a:r>
          </a:p>
          <a:p>
            <a:pPr marL="0" indent="0">
              <a:buFontTx/>
              <a:buNone/>
            </a:pPr>
            <a:r>
              <a:rPr lang="en-IN" sz="1050" b="0" kern="0" dirty="0"/>
              <a:t>    	</a:t>
            </a:r>
            <a:r>
              <a:rPr lang="en-IN" sz="1050" b="0" kern="0" dirty="0" err="1"/>
              <a:t>bw.write</a:t>
            </a:r>
            <a:r>
              <a:rPr lang="en-IN" sz="1050" b="0" kern="0" dirty="0"/>
              <a:t>(content);</a:t>
            </a:r>
          </a:p>
          <a:p>
            <a:pPr marL="0" indent="0">
              <a:buFontTx/>
              <a:buNone/>
            </a:pPr>
            <a:r>
              <a:rPr lang="en-IN" sz="1050" b="0" kern="0" dirty="0"/>
              <a:t>    	//Closing </a:t>
            </a:r>
            <a:r>
              <a:rPr lang="en-IN" sz="1050" b="0" kern="0" dirty="0" err="1"/>
              <a:t>BufferedWriter</a:t>
            </a:r>
            <a:r>
              <a:rPr lang="en-IN" sz="1050" b="0" kern="0" dirty="0"/>
              <a:t> Stream</a:t>
            </a:r>
          </a:p>
          <a:p>
            <a:pPr marL="0" indent="0">
              <a:buFontTx/>
              <a:buNone/>
            </a:pPr>
            <a:r>
              <a:rPr lang="en-IN" sz="1050" b="0" kern="0" dirty="0"/>
              <a:t>    	</a:t>
            </a:r>
            <a:r>
              <a:rPr lang="en-IN" sz="1050" b="0" kern="0" dirty="0" err="1"/>
              <a:t>bw.close</a:t>
            </a:r>
            <a:r>
              <a:rPr lang="en-IN" sz="1050" b="0" kern="0" dirty="0"/>
              <a:t>();</a:t>
            </a:r>
          </a:p>
          <a:p>
            <a:pPr marL="0" indent="0">
              <a:buFontTx/>
              <a:buNone/>
            </a:pPr>
            <a:endParaRPr lang="en-IN" sz="1050" b="0" kern="0" dirty="0"/>
          </a:p>
          <a:p>
            <a:pPr marL="0" indent="0">
              <a:buFontTx/>
              <a:buNone/>
            </a:pPr>
            <a:r>
              <a:rPr lang="en-IN" sz="1050" b="0" kern="0" dirty="0"/>
              <a:t>	</a:t>
            </a:r>
            <a:r>
              <a:rPr lang="en-IN" sz="1050" b="0" kern="0" dirty="0" err="1"/>
              <a:t>System.out.println</a:t>
            </a:r>
            <a:r>
              <a:rPr lang="en-IN" sz="1050" b="0" kern="0" dirty="0"/>
              <a:t>("Data successfully appended at the end of file");</a:t>
            </a:r>
          </a:p>
          <a:p>
            <a:pPr marL="0" indent="0">
              <a:buFontTx/>
              <a:buNone/>
            </a:pPr>
            <a:endParaRPr lang="en-IN" sz="1050" b="0" kern="0" dirty="0"/>
          </a:p>
          <a:p>
            <a:pPr marL="0" indent="0">
              <a:buFontTx/>
              <a:buNone/>
            </a:pPr>
            <a:r>
              <a:rPr lang="en-IN" sz="1050" b="0" kern="0" dirty="0"/>
              <a:t>      }catch(</a:t>
            </a:r>
            <a:r>
              <a:rPr lang="en-IN" sz="1050" b="0" kern="0" dirty="0" err="1"/>
              <a:t>IOException</a:t>
            </a:r>
            <a:r>
              <a:rPr lang="en-IN" sz="1050" b="0" kern="0" dirty="0"/>
              <a:t> </a:t>
            </a:r>
            <a:r>
              <a:rPr lang="en-IN" sz="1050" b="0" kern="0" dirty="0" err="1"/>
              <a:t>ioe</a:t>
            </a:r>
            <a:r>
              <a:rPr lang="en-IN" sz="1050" b="0" kern="0" dirty="0"/>
              <a:t>){</a:t>
            </a:r>
          </a:p>
          <a:p>
            <a:pPr marL="0" indent="0">
              <a:buFontTx/>
              <a:buNone/>
            </a:pPr>
            <a:r>
              <a:rPr lang="en-IN" sz="1050" b="0" kern="0" dirty="0"/>
              <a:t>         </a:t>
            </a:r>
            <a:r>
              <a:rPr lang="en-IN" sz="1050" b="0" kern="0" dirty="0" err="1"/>
              <a:t>System.out.println</a:t>
            </a:r>
            <a:r>
              <a:rPr lang="en-IN" sz="1050" b="0" kern="0" dirty="0"/>
              <a:t>("Exception occurred:");</a:t>
            </a:r>
          </a:p>
          <a:p>
            <a:pPr marL="0" indent="0">
              <a:buFontTx/>
              <a:buNone/>
            </a:pPr>
            <a:r>
              <a:rPr lang="en-IN" sz="1050" b="0" kern="0" dirty="0"/>
              <a:t>    	 </a:t>
            </a:r>
            <a:r>
              <a:rPr lang="en-IN" sz="1050" b="0" kern="0" dirty="0" err="1"/>
              <a:t>ioe.printStackTrace</a:t>
            </a:r>
            <a:r>
              <a:rPr lang="en-IN" sz="1050" b="0" kern="0" dirty="0"/>
              <a:t>();</a:t>
            </a:r>
          </a:p>
          <a:p>
            <a:pPr marL="0" indent="0">
              <a:buFontTx/>
              <a:buNone/>
            </a:pPr>
            <a:r>
              <a:rPr lang="en-IN" sz="1050" b="0" kern="0" dirty="0"/>
              <a:t>       }</a:t>
            </a:r>
          </a:p>
          <a:p>
            <a:pPr marL="0" indent="0">
              <a:buFontTx/>
              <a:buNone/>
            </a:pPr>
            <a:r>
              <a:rPr lang="en-IN" sz="1050" b="0" kern="0" dirty="0"/>
              <a:t>   }</a:t>
            </a:r>
          </a:p>
          <a:p>
            <a:pPr marL="0" indent="0">
              <a:buFontTx/>
              <a:buNone/>
            </a:pPr>
            <a:r>
              <a:rPr lang="en-IN" sz="1050" b="0" kern="0" dirty="0"/>
              <a:t>}</a:t>
            </a:r>
          </a:p>
        </p:txBody>
      </p:sp>
    </p:spTree>
    <p:extLst>
      <p:ext uri="{BB962C8B-B14F-4D97-AF65-F5344CB8AC3E}">
        <p14:creationId xmlns:p14="http://schemas.microsoft.com/office/powerpoint/2010/main" val="231877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Append content to File using </a:t>
            </a:r>
            <a:r>
              <a:rPr lang="en-IN" dirty="0" err="1"/>
              <a:t>PrintWriter</a:t>
            </a:r>
            <a:br>
              <a:rPr lang="en-IN" dirty="0"/>
            </a:br>
            <a:endParaRPr lang="en-IN" dirty="0"/>
          </a:p>
        </p:txBody>
      </p:sp>
      <p:sp>
        <p:nvSpPr>
          <p:cNvPr id="3" name="Content Placeholder 2"/>
          <p:cNvSpPr>
            <a:spLocks noGrp="1"/>
          </p:cNvSpPr>
          <p:nvPr>
            <p:ph idx="1"/>
          </p:nvPr>
        </p:nvSpPr>
        <p:spPr>
          <a:xfrm>
            <a:off x="574675" y="1485900"/>
            <a:ext cx="3971567" cy="3598863"/>
          </a:xfrm>
        </p:spPr>
        <p:txBody>
          <a:bodyPr/>
          <a:lstStyle/>
          <a:p>
            <a:pPr marL="0" indent="0">
              <a:buNone/>
            </a:pPr>
            <a:r>
              <a:rPr lang="en-IN" sz="1100" dirty="0"/>
              <a:t>import </a:t>
            </a:r>
            <a:r>
              <a:rPr lang="en-IN" sz="1100" dirty="0" err="1"/>
              <a:t>java.io.File</a:t>
            </a:r>
            <a:r>
              <a:rPr lang="en-IN" sz="1100" dirty="0"/>
              <a:t>;</a:t>
            </a:r>
          </a:p>
          <a:p>
            <a:pPr marL="0" indent="0">
              <a:buNone/>
            </a:pPr>
            <a:r>
              <a:rPr lang="en-IN" sz="1100" dirty="0"/>
              <a:t>import </a:t>
            </a:r>
            <a:r>
              <a:rPr lang="en-IN" sz="1100" dirty="0" err="1"/>
              <a:t>java.io.FileWriter</a:t>
            </a:r>
            <a:r>
              <a:rPr lang="en-IN" sz="1100" dirty="0"/>
              <a:t>;</a:t>
            </a:r>
          </a:p>
          <a:p>
            <a:pPr marL="0" indent="0">
              <a:buNone/>
            </a:pPr>
            <a:r>
              <a:rPr lang="en-IN" sz="1100" dirty="0"/>
              <a:t>import </a:t>
            </a:r>
            <a:r>
              <a:rPr lang="en-IN" sz="1100" dirty="0" err="1"/>
              <a:t>java.io.PrintWriter</a:t>
            </a:r>
            <a:r>
              <a:rPr lang="en-IN" sz="1100" dirty="0"/>
              <a:t>;</a:t>
            </a:r>
          </a:p>
          <a:p>
            <a:pPr marL="0" indent="0">
              <a:buNone/>
            </a:pPr>
            <a:r>
              <a:rPr lang="en-IN" sz="1100" dirty="0"/>
              <a:t>import </a:t>
            </a:r>
            <a:r>
              <a:rPr lang="en-IN" sz="1100" dirty="0" err="1"/>
              <a:t>java.io.BufferedWriter</a:t>
            </a:r>
            <a:r>
              <a:rPr lang="en-IN" sz="1100" dirty="0"/>
              <a:t>;</a:t>
            </a:r>
          </a:p>
          <a:p>
            <a:pPr marL="0" indent="0">
              <a:buNone/>
            </a:pPr>
            <a:r>
              <a:rPr lang="en-IN" sz="1100" dirty="0"/>
              <a:t>import </a:t>
            </a:r>
            <a:r>
              <a:rPr lang="en-IN" sz="1100" dirty="0" err="1"/>
              <a:t>java.io.IOException</a:t>
            </a:r>
            <a:r>
              <a:rPr lang="en-IN" sz="1100" dirty="0"/>
              <a:t>;</a:t>
            </a:r>
          </a:p>
          <a:p>
            <a:pPr marL="0" indent="0">
              <a:buNone/>
            </a:pPr>
            <a:endParaRPr lang="en-IN" sz="1100" dirty="0"/>
          </a:p>
          <a:p>
            <a:pPr marL="0" indent="0">
              <a:buNone/>
            </a:pPr>
            <a:r>
              <a:rPr lang="en-IN" sz="1100" dirty="0"/>
              <a:t>class AppendFileDemo2</a:t>
            </a:r>
          </a:p>
          <a:p>
            <a:pPr marL="0" indent="0">
              <a:buNone/>
            </a:pPr>
            <a:r>
              <a:rPr lang="en-IN" sz="1100" dirty="0"/>
              <a:t>{</a:t>
            </a:r>
          </a:p>
          <a:p>
            <a:pPr marL="0" indent="0">
              <a:buNone/>
            </a:pPr>
            <a:r>
              <a:rPr lang="en-IN" sz="1100" dirty="0"/>
              <a:t>   public static void main( String[] </a:t>
            </a:r>
            <a:r>
              <a:rPr lang="en-IN" sz="1100" dirty="0" err="1"/>
              <a:t>args</a:t>
            </a:r>
            <a:r>
              <a:rPr lang="en-IN" sz="1100" dirty="0"/>
              <a:t> )</a:t>
            </a:r>
          </a:p>
          <a:p>
            <a:pPr marL="0" indent="0">
              <a:buNone/>
            </a:pPr>
            <a:r>
              <a:rPr lang="en-IN" sz="1100" dirty="0"/>
              <a:t>   {	</a:t>
            </a:r>
          </a:p>
          <a:p>
            <a:pPr marL="0" indent="0">
              <a:buNone/>
            </a:pPr>
            <a:r>
              <a:rPr lang="en-IN" sz="1100" dirty="0"/>
              <a:t>      try{</a:t>
            </a:r>
          </a:p>
          <a:p>
            <a:pPr marL="0" indent="0">
              <a:buNone/>
            </a:pPr>
            <a:r>
              <a:rPr lang="en-IN" sz="1100" dirty="0"/>
              <a:t>          File </a:t>
            </a:r>
            <a:r>
              <a:rPr lang="en-IN" sz="1100" dirty="0" err="1"/>
              <a:t>file</a:t>
            </a:r>
            <a:r>
              <a:rPr lang="en-IN" sz="1100" dirty="0"/>
              <a:t> =new File("C://myfile.txt");</a:t>
            </a:r>
          </a:p>
          <a:p>
            <a:pPr marL="0" indent="0">
              <a:buNone/>
            </a:pPr>
            <a:r>
              <a:rPr lang="en-IN" sz="1100" dirty="0"/>
              <a:t>    	  if(!</a:t>
            </a:r>
            <a:r>
              <a:rPr lang="en-IN" sz="1100" dirty="0" err="1"/>
              <a:t>file.exists</a:t>
            </a:r>
            <a:r>
              <a:rPr lang="en-IN" sz="1100" dirty="0"/>
              <a:t>()){</a:t>
            </a:r>
          </a:p>
          <a:p>
            <a:pPr marL="0" indent="0">
              <a:buNone/>
            </a:pPr>
            <a:r>
              <a:rPr lang="en-IN" sz="1100" dirty="0"/>
              <a:t>    	 	</a:t>
            </a:r>
            <a:r>
              <a:rPr lang="en-IN" sz="1100" dirty="0" err="1"/>
              <a:t>file.createNewFile</a:t>
            </a:r>
            <a:r>
              <a:rPr lang="en-IN" sz="1100" dirty="0"/>
              <a:t>();</a:t>
            </a:r>
          </a:p>
          <a:p>
            <a:pPr marL="0" indent="0">
              <a:buNone/>
            </a:pPr>
            <a:r>
              <a:rPr lang="en-IN" sz="1100" dirty="0"/>
              <a:t>    	  }</a:t>
            </a:r>
          </a:p>
          <a:p>
            <a:pPr marL="0" indent="0">
              <a:buNone/>
            </a:pPr>
            <a:r>
              <a:rPr lang="en-IN" sz="1100" dirty="0"/>
              <a:t>    	  </a:t>
            </a:r>
            <a:r>
              <a:rPr lang="en-IN" sz="1100" dirty="0" err="1"/>
              <a:t>FileWriter</a:t>
            </a:r>
            <a:r>
              <a:rPr lang="en-IN" sz="1100" dirty="0"/>
              <a:t> </a:t>
            </a:r>
            <a:r>
              <a:rPr lang="en-IN" sz="1100" dirty="0" err="1"/>
              <a:t>fw</a:t>
            </a:r>
            <a:r>
              <a:rPr lang="en-IN" sz="1100" dirty="0"/>
              <a:t> = new </a:t>
            </a:r>
            <a:r>
              <a:rPr lang="en-IN" sz="1100" dirty="0" err="1"/>
              <a:t>FileWriter</a:t>
            </a:r>
            <a:r>
              <a:rPr lang="en-IN" sz="1100" dirty="0"/>
              <a:t>(</a:t>
            </a:r>
            <a:r>
              <a:rPr lang="en-IN" sz="1100" dirty="0" err="1"/>
              <a:t>file,true</a:t>
            </a:r>
            <a:r>
              <a:rPr lang="en-IN" sz="1100" dirty="0"/>
              <a:t>);</a:t>
            </a:r>
          </a:p>
          <a:p>
            <a:pPr marL="0" indent="0">
              <a:buNone/>
            </a:pPr>
            <a:r>
              <a:rPr lang="en-IN" sz="1100" dirty="0"/>
              <a:t>    	  </a:t>
            </a:r>
            <a:r>
              <a:rPr lang="en-IN" sz="1100" dirty="0" err="1"/>
              <a:t>BufferedWriter</a:t>
            </a:r>
            <a:r>
              <a:rPr lang="en-IN" sz="1100" dirty="0"/>
              <a:t> </a:t>
            </a:r>
            <a:r>
              <a:rPr lang="en-IN" sz="1100" dirty="0" err="1"/>
              <a:t>bw</a:t>
            </a:r>
            <a:r>
              <a:rPr lang="en-IN" sz="1100" dirty="0"/>
              <a:t> = new </a:t>
            </a:r>
            <a:r>
              <a:rPr lang="en-IN" sz="1100" dirty="0" err="1"/>
              <a:t>BufferedWriter</a:t>
            </a:r>
            <a:r>
              <a:rPr lang="en-IN" sz="1100" dirty="0"/>
              <a:t>(</a:t>
            </a:r>
            <a:r>
              <a:rPr lang="en-IN" sz="1100" dirty="0" err="1"/>
              <a:t>fw</a:t>
            </a:r>
            <a:r>
              <a:rPr lang="en-IN" sz="1100" dirty="0"/>
              <a:t>);</a:t>
            </a:r>
          </a:p>
          <a:p>
            <a:pPr marL="0" indent="0">
              <a:buNone/>
            </a:pPr>
            <a:r>
              <a:rPr lang="en-IN" sz="1100" dirty="0"/>
              <a:t>    	  </a:t>
            </a:r>
            <a:r>
              <a:rPr lang="en-IN" sz="1100" dirty="0" err="1"/>
              <a:t>PrintWriter</a:t>
            </a:r>
            <a:r>
              <a:rPr lang="en-IN" sz="1100" dirty="0"/>
              <a:t> </a:t>
            </a:r>
            <a:r>
              <a:rPr lang="en-IN" sz="1100" dirty="0" err="1"/>
              <a:t>pw</a:t>
            </a:r>
            <a:r>
              <a:rPr lang="en-IN" sz="1100" dirty="0"/>
              <a:t> = new </a:t>
            </a:r>
            <a:r>
              <a:rPr lang="en-IN" sz="1100" dirty="0" err="1"/>
              <a:t>PrintWriter</a:t>
            </a:r>
            <a:r>
              <a:rPr lang="en-IN" sz="1100" dirty="0"/>
              <a:t>(</a:t>
            </a:r>
            <a:r>
              <a:rPr lang="en-IN" sz="1100" dirty="0" err="1"/>
              <a:t>bw</a:t>
            </a:r>
            <a:r>
              <a:rPr lang="en-IN" sz="1100" dirty="0"/>
              <a:t>);</a:t>
            </a:r>
          </a:p>
          <a:p>
            <a:pPr marL="0" indent="0">
              <a:buNone/>
            </a:pPr>
            <a:r>
              <a:rPr lang="en-IN" sz="1100" dirty="0"/>
              <a:t>          //This will add a new line to the file content</a:t>
            </a:r>
          </a:p>
          <a:p>
            <a:pPr marL="0" indent="0">
              <a:buNone/>
            </a:pPr>
            <a:r>
              <a:rPr lang="en-IN" sz="1100" dirty="0"/>
              <a:t>    	  </a:t>
            </a:r>
            <a:r>
              <a:rPr lang="en-IN" sz="1100" dirty="0" err="1"/>
              <a:t>pw.println</a:t>
            </a:r>
            <a:r>
              <a:rPr lang="en-IN" sz="1100" dirty="0"/>
              <a:t>("");</a:t>
            </a:r>
          </a:p>
        </p:txBody>
      </p:sp>
      <p:sp>
        <p:nvSpPr>
          <p:cNvPr id="5" name="Content Placeholder 2"/>
          <p:cNvSpPr txBox="1">
            <a:spLocks/>
          </p:cNvSpPr>
          <p:nvPr/>
        </p:nvSpPr>
        <p:spPr bwMode="auto">
          <a:xfrm>
            <a:off x="5172433" y="1485900"/>
            <a:ext cx="3971567"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FontTx/>
              <a:buNone/>
            </a:pPr>
            <a:r>
              <a:rPr lang="en-IN" sz="1100" b="0" kern="0" dirty="0"/>
              <a:t>/* Below three statements would add three </a:t>
            </a:r>
          </a:p>
          <a:p>
            <a:pPr marL="0" indent="0">
              <a:buFontTx/>
              <a:buNone/>
            </a:pPr>
            <a:r>
              <a:rPr lang="en-IN" sz="1100" b="0" kern="0" dirty="0"/>
              <a:t>           * mentioned Strings to the file in new lines.</a:t>
            </a:r>
          </a:p>
          <a:p>
            <a:pPr marL="0" indent="0">
              <a:buFontTx/>
              <a:buNone/>
            </a:pPr>
            <a:r>
              <a:rPr lang="en-IN" sz="1100" b="0" kern="0" dirty="0"/>
              <a:t>           */</a:t>
            </a:r>
          </a:p>
          <a:p>
            <a:pPr marL="0" indent="0">
              <a:buFontTx/>
              <a:buNone/>
            </a:pPr>
            <a:r>
              <a:rPr lang="en-IN" sz="1100" b="0" kern="0" dirty="0"/>
              <a:t>    	  </a:t>
            </a:r>
            <a:r>
              <a:rPr lang="en-IN" sz="1100" b="0" kern="0" dirty="0" err="1"/>
              <a:t>pw.println</a:t>
            </a:r>
            <a:r>
              <a:rPr lang="en-IN" sz="1100" b="0" kern="0" dirty="0"/>
              <a:t>("This is first line");</a:t>
            </a:r>
          </a:p>
          <a:p>
            <a:pPr marL="0" indent="0">
              <a:buFontTx/>
              <a:buNone/>
            </a:pPr>
            <a:r>
              <a:rPr lang="en-IN" sz="1100" b="0" kern="0" dirty="0"/>
              <a:t>    	  </a:t>
            </a:r>
            <a:r>
              <a:rPr lang="en-IN" sz="1100" b="0" kern="0" dirty="0" err="1"/>
              <a:t>pw.println</a:t>
            </a:r>
            <a:r>
              <a:rPr lang="en-IN" sz="1100" b="0" kern="0" dirty="0"/>
              <a:t>("This is the second line");</a:t>
            </a:r>
          </a:p>
          <a:p>
            <a:pPr marL="0" indent="0">
              <a:buFontTx/>
              <a:buNone/>
            </a:pPr>
            <a:r>
              <a:rPr lang="en-IN" sz="1100" b="0" kern="0" dirty="0"/>
              <a:t>    	  </a:t>
            </a:r>
            <a:r>
              <a:rPr lang="en-IN" sz="1100" b="0" kern="0" dirty="0" err="1"/>
              <a:t>pw.println</a:t>
            </a:r>
            <a:r>
              <a:rPr lang="en-IN" sz="1100" b="0" kern="0" dirty="0"/>
              <a:t>("This is third line");</a:t>
            </a:r>
          </a:p>
          <a:p>
            <a:pPr marL="0" indent="0">
              <a:buFontTx/>
              <a:buNone/>
            </a:pPr>
            <a:r>
              <a:rPr lang="en-IN" sz="1100" b="0" kern="0" dirty="0"/>
              <a:t>    	  </a:t>
            </a:r>
            <a:r>
              <a:rPr lang="en-IN" sz="1100" b="0" kern="0" dirty="0" err="1"/>
              <a:t>pw.close</a:t>
            </a:r>
            <a:r>
              <a:rPr lang="en-IN" sz="1100" b="0" kern="0" dirty="0"/>
              <a:t>();</a:t>
            </a:r>
          </a:p>
          <a:p>
            <a:pPr marL="0" indent="0">
              <a:buFontTx/>
              <a:buNone/>
            </a:pPr>
            <a:endParaRPr lang="en-IN" sz="1100" b="0" kern="0" dirty="0"/>
          </a:p>
          <a:p>
            <a:pPr marL="0" indent="0">
              <a:buFontTx/>
              <a:buNone/>
            </a:pPr>
            <a:r>
              <a:rPr lang="en-IN" sz="1100" b="0" kern="0" dirty="0"/>
              <a:t>	  </a:t>
            </a:r>
            <a:r>
              <a:rPr lang="en-IN" sz="1100" b="0" kern="0" dirty="0" err="1"/>
              <a:t>System.out.println</a:t>
            </a:r>
            <a:r>
              <a:rPr lang="en-IN" sz="1100" b="0" kern="0" dirty="0"/>
              <a:t>("Data successfully appended at the end of file");</a:t>
            </a:r>
          </a:p>
          <a:p>
            <a:pPr marL="0" indent="0">
              <a:buFontTx/>
              <a:buNone/>
            </a:pPr>
            <a:endParaRPr lang="en-IN" sz="1100" b="0" kern="0" dirty="0"/>
          </a:p>
          <a:p>
            <a:pPr marL="0" indent="0">
              <a:buFontTx/>
              <a:buNone/>
            </a:pPr>
            <a:r>
              <a:rPr lang="en-IN" sz="1100" b="0" kern="0" dirty="0"/>
              <a:t>       }catch(</a:t>
            </a:r>
            <a:r>
              <a:rPr lang="en-IN" sz="1100" b="0" kern="0" dirty="0" err="1"/>
              <a:t>IOException</a:t>
            </a:r>
            <a:r>
              <a:rPr lang="en-IN" sz="1100" b="0" kern="0" dirty="0"/>
              <a:t> </a:t>
            </a:r>
            <a:r>
              <a:rPr lang="en-IN" sz="1100" b="0" kern="0" dirty="0" err="1"/>
              <a:t>ioe</a:t>
            </a:r>
            <a:r>
              <a:rPr lang="en-IN" sz="1100" b="0" kern="0" dirty="0"/>
              <a:t>){</a:t>
            </a:r>
          </a:p>
          <a:p>
            <a:pPr marL="0" indent="0">
              <a:buFontTx/>
              <a:buNone/>
            </a:pPr>
            <a:r>
              <a:rPr lang="en-IN" sz="1100" b="0" kern="0" dirty="0"/>
              <a:t>    	   </a:t>
            </a:r>
            <a:r>
              <a:rPr lang="en-IN" sz="1100" b="0" kern="0" dirty="0" err="1"/>
              <a:t>System.out.println</a:t>
            </a:r>
            <a:r>
              <a:rPr lang="en-IN" sz="1100" b="0" kern="0" dirty="0"/>
              <a:t>("Exception occurred:");</a:t>
            </a:r>
          </a:p>
          <a:p>
            <a:pPr marL="0" indent="0">
              <a:buFontTx/>
              <a:buNone/>
            </a:pPr>
            <a:r>
              <a:rPr lang="en-IN" sz="1100" b="0" kern="0" dirty="0"/>
              <a:t>    	   </a:t>
            </a:r>
            <a:r>
              <a:rPr lang="en-IN" sz="1100" b="0" kern="0" dirty="0" err="1"/>
              <a:t>ioe.printStackTrace</a:t>
            </a:r>
            <a:r>
              <a:rPr lang="en-IN" sz="1100" b="0" kern="0" dirty="0"/>
              <a:t>();</a:t>
            </a:r>
          </a:p>
          <a:p>
            <a:pPr marL="0" indent="0">
              <a:buFontTx/>
              <a:buNone/>
            </a:pPr>
            <a:r>
              <a:rPr lang="en-IN" sz="1100" b="0" kern="0" dirty="0"/>
              <a:t>      }</a:t>
            </a:r>
          </a:p>
          <a:p>
            <a:pPr marL="0" indent="0">
              <a:buFontTx/>
              <a:buNone/>
            </a:pPr>
            <a:r>
              <a:rPr lang="en-IN" sz="1100" b="0" kern="0" dirty="0"/>
              <a:t>   }</a:t>
            </a:r>
          </a:p>
          <a:p>
            <a:pPr marL="0" indent="0">
              <a:buFontTx/>
              <a:buNone/>
            </a:pPr>
            <a:r>
              <a:rPr lang="en-IN" sz="1100" b="0" kern="0" dirty="0"/>
              <a:t>}</a:t>
            </a:r>
          </a:p>
        </p:txBody>
      </p:sp>
    </p:spTree>
    <p:extLst>
      <p:ext uri="{BB962C8B-B14F-4D97-AF65-F5344CB8AC3E}">
        <p14:creationId xmlns:p14="http://schemas.microsoft.com/office/powerpoint/2010/main" val="4197286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delete file in Java – delete() Method</a:t>
            </a:r>
            <a:br>
              <a:rPr lang="en-IN" dirty="0"/>
            </a:br>
            <a:endParaRPr lang="en-IN" dirty="0"/>
          </a:p>
        </p:txBody>
      </p:sp>
      <p:sp>
        <p:nvSpPr>
          <p:cNvPr id="3" name="Content Placeholder 2"/>
          <p:cNvSpPr>
            <a:spLocks noGrp="1"/>
          </p:cNvSpPr>
          <p:nvPr>
            <p:ph idx="1"/>
          </p:nvPr>
        </p:nvSpPr>
        <p:spPr/>
        <p:txBody>
          <a:bodyPr/>
          <a:lstStyle/>
          <a:p>
            <a:pPr marL="0" indent="0">
              <a:buNone/>
            </a:pPr>
            <a:r>
              <a:rPr lang="en-IN" sz="1200" dirty="0"/>
              <a:t>import </a:t>
            </a:r>
            <a:r>
              <a:rPr lang="en-IN" sz="1200" dirty="0" err="1"/>
              <a:t>java.io.File</a:t>
            </a:r>
            <a:r>
              <a:rPr lang="en-IN" sz="1200" dirty="0"/>
              <a:t>;</a:t>
            </a:r>
          </a:p>
          <a:p>
            <a:pPr marL="0" indent="0">
              <a:buNone/>
            </a:pPr>
            <a:r>
              <a:rPr lang="en-IN" sz="1200" dirty="0"/>
              <a:t>public class </a:t>
            </a:r>
            <a:r>
              <a:rPr lang="en-IN" sz="1200" dirty="0" err="1"/>
              <a:t>DeleteFileJavaDemo</a:t>
            </a:r>
            <a:endParaRPr lang="en-IN" sz="1200" dirty="0"/>
          </a:p>
          <a:p>
            <a:pPr marL="0" indent="0">
              <a:buNone/>
            </a:pPr>
            <a:r>
              <a:rPr lang="en-IN" sz="1200" dirty="0"/>
              <a:t>{</a:t>
            </a:r>
          </a:p>
          <a:p>
            <a:pPr marL="0" indent="0">
              <a:buNone/>
            </a:pPr>
            <a:r>
              <a:rPr lang="en-IN" sz="1200" dirty="0"/>
              <a:t>   public static void main(String[] </a:t>
            </a:r>
            <a:r>
              <a:rPr lang="en-IN" sz="1200" dirty="0" err="1"/>
              <a:t>args</a:t>
            </a:r>
            <a:r>
              <a:rPr lang="en-IN" sz="1200" dirty="0"/>
              <a:t>)</a:t>
            </a:r>
          </a:p>
          <a:p>
            <a:pPr marL="0" indent="0">
              <a:buNone/>
            </a:pPr>
            <a:r>
              <a:rPr lang="en-IN" sz="1200" dirty="0"/>
              <a:t>   {	</a:t>
            </a:r>
          </a:p>
          <a:p>
            <a:pPr marL="0" indent="0">
              <a:buNone/>
            </a:pPr>
            <a:r>
              <a:rPr lang="en-IN" sz="1200" dirty="0"/>
              <a:t>      try{</a:t>
            </a:r>
          </a:p>
          <a:p>
            <a:pPr marL="0" indent="0">
              <a:buNone/>
            </a:pPr>
            <a:r>
              <a:rPr lang="en-IN" sz="1200" dirty="0"/>
              <a:t>         //Specify the file name and path</a:t>
            </a:r>
          </a:p>
          <a:p>
            <a:pPr marL="0" indent="0">
              <a:buNone/>
            </a:pPr>
            <a:r>
              <a:rPr lang="en-IN" sz="1200" dirty="0"/>
              <a:t>    	 File </a:t>
            </a:r>
            <a:r>
              <a:rPr lang="en-IN" sz="1200" dirty="0" err="1"/>
              <a:t>file</a:t>
            </a:r>
            <a:r>
              <a:rPr lang="en-IN" sz="1200" dirty="0"/>
              <a:t> = new File("C:\\myfile.txt");</a:t>
            </a:r>
          </a:p>
          <a:p>
            <a:pPr marL="0" indent="0">
              <a:buNone/>
            </a:pPr>
            <a:r>
              <a:rPr lang="en-IN" sz="1200" dirty="0"/>
              <a:t>         /*the delete() method returns true if the file is</a:t>
            </a:r>
          </a:p>
          <a:p>
            <a:pPr marL="0" indent="0">
              <a:buNone/>
            </a:pPr>
            <a:r>
              <a:rPr lang="en-IN" sz="1200" dirty="0"/>
              <a:t>          * deleted successfully else it returns false</a:t>
            </a:r>
          </a:p>
          <a:p>
            <a:pPr marL="0" indent="0">
              <a:buNone/>
            </a:pPr>
            <a:r>
              <a:rPr lang="en-IN" sz="1200" dirty="0"/>
              <a:t>          */</a:t>
            </a:r>
          </a:p>
          <a:p>
            <a:pPr marL="0" indent="0">
              <a:buNone/>
            </a:pPr>
            <a:r>
              <a:rPr lang="en-IN" sz="1200" dirty="0"/>
              <a:t>    	 if(</a:t>
            </a:r>
            <a:r>
              <a:rPr lang="en-IN" sz="1200" dirty="0" err="1"/>
              <a:t>file.delete</a:t>
            </a:r>
            <a:r>
              <a:rPr lang="en-IN" sz="1200" dirty="0"/>
              <a:t>()){</a:t>
            </a:r>
          </a:p>
          <a:p>
            <a:pPr marL="0" indent="0">
              <a:buNone/>
            </a:pPr>
            <a:r>
              <a:rPr lang="en-IN" sz="1200" dirty="0"/>
              <a:t>    	    </a:t>
            </a:r>
            <a:r>
              <a:rPr lang="en-IN" sz="1200" dirty="0" err="1"/>
              <a:t>System.out.println</a:t>
            </a:r>
            <a:r>
              <a:rPr lang="en-IN" sz="1200" dirty="0"/>
              <a:t>(</a:t>
            </a:r>
            <a:r>
              <a:rPr lang="en-IN" sz="1200" dirty="0" err="1"/>
              <a:t>file.getName</a:t>
            </a:r>
            <a:r>
              <a:rPr lang="en-IN" sz="1200" dirty="0"/>
              <a:t>() + " is deleted!");</a:t>
            </a:r>
          </a:p>
          <a:p>
            <a:pPr marL="0" indent="0">
              <a:buNone/>
            </a:pPr>
            <a:r>
              <a:rPr lang="en-IN" sz="1200" dirty="0"/>
              <a:t>         }else{</a:t>
            </a:r>
          </a:p>
          <a:p>
            <a:pPr marL="0" indent="0">
              <a:buNone/>
            </a:pPr>
            <a:r>
              <a:rPr lang="en-IN" sz="1200" dirty="0"/>
              <a:t>    	    </a:t>
            </a:r>
            <a:r>
              <a:rPr lang="en-IN" sz="1200" dirty="0" err="1"/>
              <a:t>System.out.println</a:t>
            </a:r>
            <a:r>
              <a:rPr lang="en-IN" sz="1200" dirty="0"/>
              <a:t>("Delete failed: File didn't delete");</a:t>
            </a:r>
          </a:p>
          <a:p>
            <a:pPr marL="0" indent="0">
              <a:buNone/>
            </a:pPr>
            <a:r>
              <a:rPr lang="en-IN" sz="1200" dirty="0"/>
              <a:t>    	  }</a:t>
            </a:r>
          </a:p>
          <a:p>
            <a:pPr marL="0" indent="0">
              <a:buNone/>
            </a:pPr>
            <a:r>
              <a:rPr lang="en-IN" sz="1200" dirty="0"/>
              <a:t>       }catch(Exception e){</a:t>
            </a:r>
          </a:p>
          <a:p>
            <a:pPr marL="0" indent="0">
              <a:buNone/>
            </a:pPr>
            <a:r>
              <a:rPr lang="en-IN" sz="1200" dirty="0"/>
              <a:t>           </a:t>
            </a:r>
            <a:r>
              <a:rPr lang="en-IN" sz="1200" dirty="0" err="1"/>
              <a:t>System.out.println</a:t>
            </a:r>
            <a:r>
              <a:rPr lang="en-IN" sz="1200" dirty="0"/>
              <a:t>("Exception occurred");</a:t>
            </a:r>
          </a:p>
          <a:p>
            <a:pPr marL="0" indent="0">
              <a:buNone/>
            </a:pPr>
            <a:r>
              <a:rPr lang="en-IN" sz="1200" dirty="0"/>
              <a:t>    	   </a:t>
            </a:r>
            <a:r>
              <a:rPr lang="en-IN" sz="1200" dirty="0" err="1"/>
              <a:t>e.printStackTrace</a:t>
            </a:r>
            <a:r>
              <a:rPr lang="en-IN" sz="1200" dirty="0"/>
              <a:t>();</a:t>
            </a:r>
          </a:p>
          <a:p>
            <a:pPr marL="0" indent="0">
              <a:buNone/>
            </a:pPr>
            <a:r>
              <a:rPr lang="en-IN" sz="1200" dirty="0"/>
              <a:t>    	}</a:t>
            </a:r>
          </a:p>
          <a:p>
            <a:pPr marL="0" indent="0">
              <a:buNone/>
            </a:pPr>
            <a:r>
              <a:rPr lang="en-IN" sz="1200" dirty="0"/>
              <a:t>    }</a:t>
            </a:r>
          </a:p>
          <a:p>
            <a:pPr marL="0" indent="0">
              <a:buNone/>
            </a:pPr>
            <a:r>
              <a:rPr lang="en-IN" sz="1200" dirty="0"/>
              <a:t>}</a:t>
            </a:r>
          </a:p>
        </p:txBody>
      </p:sp>
    </p:spTree>
    <p:extLst>
      <p:ext uri="{BB962C8B-B14F-4D97-AF65-F5344CB8AC3E}">
        <p14:creationId xmlns:p14="http://schemas.microsoft.com/office/powerpoint/2010/main" val="2453612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rename file in Java – </a:t>
            </a:r>
            <a:r>
              <a:rPr lang="en-IN" dirty="0" err="1"/>
              <a:t>renameTo</a:t>
            </a:r>
            <a:r>
              <a:rPr lang="en-IN" dirty="0"/>
              <a:t>() method</a:t>
            </a:r>
            <a:br>
              <a:rPr lang="en-IN" dirty="0"/>
            </a:br>
            <a:endParaRPr lang="en-IN" dirty="0"/>
          </a:p>
        </p:txBody>
      </p:sp>
      <p:sp>
        <p:nvSpPr>
          <p:cNvPr id="3" name="Content Placeholder 2"/>
          <p:cNvSpPr>
            <a:spLocks noGrp="1"/>
          </p:cNvSpPr>
          <p:nvPr>
            <p:ph idx="1"/>
          </p:nvPr>
        </p:nvSpPr>
        <p:spPr>
          <a:xfrm>
            <a:off x="574675" y="1176807"/>
            <a:ext cx="8024813" cy="3598863"/>
          </a:xfrm>
        </p:spPr>
        <p:txBody>
          <a:bodyPr/>
          <a:lstStyle/>
          <a:p>
            <a:pPr marL="0" indent="0">
              <a:buNone/>
            </a:pPr>
            <a:r>
              <a:rPr lang="en-IN" sz="1400" dirty="0"/>
              <a:t>import </a:t>
            </a:r>
            <a:r>
              <a:rPr lang="en-IN" sz="1400" dirty="0" err="1"/>
              <a:t>java.io.File</a:t>
            </a:r>
            <a:r>
              <a:rPr lang="en-IN" sz="1400" dirty="0"/>
              <a:t>;</a:t>
            </a:r>
          </a:p>
          <a:p>
            <a:pPr marL="0" indent="0">
              <a:buNone/>
            </a:pPr>
            <a:r>
              <a:rPr lang="en-IN" sz="1400" dirty="0"/>
              <a:t>public class </a:t>
            </a:r>
            <a:r>
              <a:rPr lang="en-IN" sz="1400" dirty="0" err="1"/>
              <a:t>RenameFileJavaDemo</a:t>
            </a:r>
            <a:endParaRPr lang="en-IN" sz="1400" dirty="0"/>
          </a:p>
          <a:p>
            <a:pPr marL="0" indent="0">
              <a:buNone/>
            </a:pPr>
            <a:r>
              <a:rPr lang="en-IN" sz="1400" dirty="0"/>
              <a:t>{</a:t>
            </a:r>
          </a:p>
          <a:p>
            <a:pPr marL="0" indent="0">
              <a:buNone/>
            </a:pPr>
            <a:r>
              <a:rPr lang="en-IN" sz="1400" dirty="0"/>
              <a:t>    public static void main(String[] </a:t>
            </a:r>
            <a:r>
              <a:rPr lang="en-IN" sz="1400" dirty="0" err="1"/>
              <a:t>args</a:t>
            </a:r>
            <a:r>
              <a:rPr lang="en-IN" sz="1400" dirty="0"/>
              <a:t>)</a:t>
            </a:r>
          </a:p>
          <a:p>
            <a:pPr marL="0" indent="0">
              <a:buNone/>
            </a:pPr>
            <a:r>
              <a:rPr lang="en-IN" sz="1400" dirty="0"/>
              <a:t>    {	</a:t>
            </a:r>
          </a:p>
          <a:p>
            <a:pPr marL="0" indent="0">
              <a:buNone/>
            </a:pPr>
            <a:r>
              <a:rPr lang="en-IN" sz="1400" dirty="0"/>
              <a:t>        //Old File</a:t>
            </a:r>
          </a:p>
          <a:p>
            <a:pPr marL="0" indent="0">
              <a:buNone/>
            </a:pPr>
            <a:r>
              <a:rPr lang="en-IN" sz="1400" dirty="0"/>
              <a:t>	File </a:t>
            </a:r>
            <a:r>
              <a:rPr lang="en-IN" sz="1400" dirty="0" err="1"/>
              <a:t>oldfile</a:t>
            </a:r>
            <a:r>
              <a:rPr lang="en-IN" sz="1400" dirty="0"/>
              <a:t> =new File("C:\\myfile.txt");</a:t>
            </a:r>
          </a:p>
          <a:p>
            <a:pPr marL="0" indent="0">
              <a:buNone/>
            </a:pPr>
            <a:r>
              <a:rPr lang="en-IN" sz="1400" dirty="0"/>
              <a:t>	//New File</a:t>
            </a:r>
          </a:p>
          <a:p>
            <a:pPr marL="0" indent="0">
              <a:buNone/>
            </a:pPr>
            <a:r>
              <a:rPr lang="en-IN" sz="1400" dirty="0"/>
              <a:t>	File </a:t>
            </a:r>
            <a:r>
              <a:rPr lang="en-IN" sz="1400" dirty="0" err="1"/>
              <a:t>newfile</a:t>
            </a:r>
            <a:r>
              <a:rPr lang="en-IN" sz="1400" dirty="0"/>
              <a:t> =new File("C:\\mynewfile.txt");</a:t>
            </a:r>
          </a:p>
          <a:p>
            <a:pPr marL="0" indent="0">
              <a:buNone/>
            </a:pPr>
            <a:r>
              <a:rPr lang="en-IN" sz="1400" dirty="0"/>
              <a:t>	/*</a:t>
            </a:r>
            <a:r>
              <a:rPr lang="en-IN" sz="1400" dirty="0" err="1"/>
              <a:t>renameTo</a:t>
            </a:r>
            <a:r>
              <a:rPr lang="en-IN" sz="1400" dirty="0"/>
              <a:t>() return </a:t>
            </a:r>
            <a:r>
              <a:rPr lang="en-IN" sz="1400" dirty="0" err="1"/>
              <a:t>boolean</a:t>
            </a:r>
            <a:r>
              <a:rPr lang="en-IN" sz="1400" dirty="0"/>
              <a:t> value</a:t>
            </a:r>
          </a:p>
          <a:p>
            <a:pPr marL="0" indent="0">
              <a:buNone/>
            </a:pPr>
            <a:r>
              <a:rPr lang="en-IN" sz="1400" dirty="0"/>
              <a:t>	 * It return true if rename operation is</a:t>
            </a:r>
          </a:p>
          <a:p>
            <a:pPr marL="0" indent="0">
              <a:buNone/>
            </a:pPr>
            <a:r>
              <a:rPr lang="en-IN" sz="1400" dirty="0"/>
              <a:t>	 * successful</a:t>
            </a:r>
          </a:p>
          <a:p>
            <a:pPr marL="0" indent="0">
              <a:buNone/>
            </a:pPr>
            <a:r>
              <a:rPr lang="en-IN" sz="1400" dirty="0"/>
              <a:t>	 */</a:t>
            </a:r>
          </a:p>
          <a:p>
            <a:pPr marL="0" indent="0">
              <a:buNone/>
            </a:pPr>
            <a:r>
              <a:rPr lang="en-IN" sz="1400" dirty="0"/>
              <a:t>        </a:t>
            </a:r>
            <a:r>
              <a:rPr lang="en-IN" sz="1400" dirty="0" err="1"/>
              <a:t>boolean</a:t>
            </a:r>
            <a:r>
              <a:rPr lang="en-IN" sz="1400" dirty="0"/>
              <a:t> flag = </a:t>
            </a:r>
            <a:r>
              <a:rPr lang="en-IN" sz="1400" dirty="0" err="1"/>
              <a:t>oldfile.renameTo</a:t>
            </a:r>
            <a:r>
              <a:rPr lang="en-IN" sz="1400" dirty="0"/>
              <a:t>(</a:t>
            </a:r>
            <a:r>
              <a:rPr lang="en-IN" sz="1400" dirty="0" err="1"/>
              <a:t>newfile</a:t>
            </a:r>
            <a:r>
              <a:rPr lang="en-IN" sz="1400" dirty="0"/>
              <a:t>);</a:t>
            </a:r>
          </a:p>
          <a:p>
            <a:pPr marL="0" indent="0">
              <a:buNone/>
            </a:pPr>
            <a:r>
              <a:rPr lang="en-IN" sz="1400" dirty="0"/>
              <a:t>	if(flag){</a:t>
            </a:r>
          </a:p>
          <a:p>
            <a:pPr marL="0" indent="0">
              <a:buNone/>
            </a:pPr>
            <a:r>
              <a:rPr lang="en-IN" sz="1400" dirty="0"/>
              <a:t>	   </a:t>
            </a:r>
            <a:r>
              <a:rPr lang="en-IN" sz="1400" dirty="0" err="1"/>
              <a:t>System.out.println</a:t>
            </a:r>
            <a:r>
              <a:rPr lang="en-IN" sz="1400" dirty="0"/>
              <a:t>("File renamed successfully");</a:t>
            </a:r>
          </a:p>
          <a:p>
            <a:pPr marL="0" indent="0">
              <a:buNone/>
            </a:pPr>
            <a:r>
              <a:rPr lang="en-IN" sz="1400" dirty="0"/>
              <a:t>	}else{</a:t>
            </a:r>
          </a:p>
          <a:p>
            <a:pPr marL="0" indent="0">
              <a:buNone/>
            </a:pPr>
            <a:r>
              <a:rPr lang="en-IN" sz="1400" dirty="0"/>
              <a:t>	   </a:t>
            </a:r>
            <a:r>
              <a:rPr lang="en-IN" sz="1400" dirty="0" err="1"/>
              <a:t>System.out.println</a:t>
            </a:r>
            <a:r>
              <a:rPr lang="en-IN" sz="1400" dirty="0"/>
              <a:t>("Rename operation failed");</a:t>
            </a:r>
          </a:p>
          <a:p>
            <a:pPr marL="0" indent="0">
              <a:buNone/>
            </a:pPr>
            <a:r>
              <a:rPr lang="en-IN" sz="1400" dirty="0"/>
              <a:t>	 }</a:t>
            </a:r>
          </a:p>
          <a:p>
            <a:pPr marL="0" indent="0">
              <a:buNone/>
            </a:pPr>
            <a:r>
              <a:rPr lang="en-IN" sz="1400" dirty="0"/>
              <a:t>    }</a:t>
            </a:r>
          </a:p>
          <a:p>
            <a:pPr marL="0" indent="0">
              <a:buNone/>
            </a:pPr>
            <a:r>
              <a:rPr lang="en-IN" sz="1400" dirty="0"/>
              <a:t>}</a:t>
            </a:r>
          </a:p>
        </p:txBody>
      </p:sp>
    </p:spTree>
    <p:extLst>
      <p:ext uri="{BB962C8B-B14F-4D97-AF65-F5344CB8AC3E}">
        <p14:creationId xmlns:p14="http://schemas.microsoft.com/office/powerpoint/2010/main" val="29566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Compress a File in GZIP Format</a:t>
            </a:r>
            <a:br>
              <a:rPr lang="en-IN" dirty="0"/>
            </a:br>
            <a:endParaRPr lang="en-IN" dirty="0"/>
          </a:p>
        </p:txBody>
      </p:sp>
      <p:sp>
        <p:nvSpPr>
          <p:cNvPr id="3" name="Content Placeholder 2"/>
          <p:cNvSpPr>
            <a:spLocks noGrp="1"/>
          </p:cNvSpPr>
          <p:nvPr>
            <p:ph idx="1"/>
          </p:nvPr>
        </p:nvSpPr>
        <p:spPr>
          <a:xfrm>
            <a:off x="574675" y="1215443"/>
            <a:ext cx="4177629" cy="5172478"/>
          </a:xfrm>
        </p:spPr>
        <p:txBody>
          <a:bodyPr/>
          <a:lstStyle/>
          <a:p>
            <a:pPr marL="0" indent="0">
              <a:buNone/>
            </a:pPr>
            <a:r>
              <a:rPr lang="en-IN" sz="1000" dirty="0"/>
              <a:t>import </a:t>
            </a:r>
            <a:r>
              <a:rPr lang="en-IN" sz="1000" dirty="0" err="1"/>
              <a:t>java.io.FileInputStream</a:t>
            </a:r>
            <a:r>
              <a:rPr lang="en-IN" sz="1000" dirty="0"/>
              <a:t>;</a:t>
            </a:r>
          </a:p>
          <a:p>
            <a:pPr marL="0" indent="0">
              <a:buNone/>
            </a:pPr>
            <a:r>
              <a:rPr lang="en-IN" sz="1000" dirty="0"/>
              <a:t>import </a:t>
            </a:r>
            <a:r>
              <a:rPr lang="en-IN" sz="1000" dirty="0" err="1"/>
              <a:t>java.io.FileOutputStream</a:t>
            </a:r>
            <a:r>
              <a:rPr lang="en-IN" sz="1000" dirty="0"/>
              <a:t>;</a:t>
            </a:r>
          </a:p>
          <a:p>
            <a:pPr marL="0" indent="0">
              <a:buNone/>
            </a:pPr>
            <a:r>
              <a:rPr lang="en-IN" sz="1000" dirty="0"/>
              <a:t>import </a:t>
            </a:r>
            <a:r>
              <a:rPr lang="en-IN" sz="1000" dirty="0" err="1"/>
              <a:t>java.io.IOException</a:t>
            </a:r>
            <a:r>
              <a:rPr lang="en-IN" sz="1000" dirty="0"/>
              <a:t>;</a:t>
            </a:r>
          </a:p>
          <a:p>
            <a:pPr marL="0" indent="0">
              <a:buNone/>
            </a:pPr>
            <a:r>
              <a:rPr lang="en-IN" sz="1000" dirty="0"/>
              <a:t>import </a:t>
            </a:r>
            <a:r>
              <a:rPr lang="en-IN" sz="1000" dirty="0" err="1"/>
              <a:t>java.util.zip.GZIPOutputStream</a:t>
            </a:r>
            <a:r>
              <a:rPr lang="en-IN" sz="1000" dirty="0"/>
              <a:t>;</a:t>
            </a:r>
          </a:p>
          <a:p>
            <a:pPr marL="0" indent="0">
              <a:buNone/>
            </a:pPr>
            <a:r>
              <a:rPr lang="en-IN" sz="1000" dirty="0"/>
              <a:t> </a:t>
            </a:r>
          </a:p>
          <a:p>
            <a:pPr marL="0" indent="0">
              <a:buNone/>
            </a:pPr>
            <a:r>
              <a:rPr lang="en-IN" sz="1000" dirty="0"/>
              <a:t>public class </a:t>
            </a:r>
            <a:r>
              <a:rPr lang="en-IN" sz="1000" dirty="0" err="1"/>
              <a:t>GZipExample</a:t>
            </a:r>
            <a:endParaRPr lang="en-IN" sz="1000" dirty="0"/>
          </a:p>
          <a:p>
            <a:pPr marL="0" indent="0">
              <a:buNone/>
            </a:pPr>
            <a:r>
              <a:rPr lang="en-IN" sz="1000" dirty="0"/>
              <a:t>{</a:t>
            </a:r>
          </a:p>
          <a:p>
            <a:pPr marL="0" indent="0">
              <a:buNone/>
            </a:pPr>
            <a:r>
              <a:rPr lang="en-IN" sz="1000" dirty="0"/>
              <a:t>  public static void main( String[] </a:t>
            </a:r>
            <a:r>
              <a:rPr lang="en-IN" sz="1000" dirty="0" err="1"/>
              <a:t>args</a:t>
            </a:r>
            <a:r>
              <a:rPr lang="en-IN" sz="1000" dirty="0"/>
              <a:t> )</a:t>
            </a:r>
          </a:p>
          <a:p>
            <a:pPr marL="0" indent="0">
              <a:buNone/>
            </a:pPr>
            <a:r>
              <a:rPr lang="en-IN" sz="1000" dirty="0"/>
              <a:t>  {</a:t>
            </a:r>
          </a:p>
          <a:p>
            <a:pPr marL="0" indent="0">
              <a:buNone/>
            </a:pPr>
            <a:r>
              <a:rPr lang="en-IN" sz="1000" dirty="0"/>
              <a:t>    </a:t>
            </a:r>
            <a:r>
              <a:rPr lang="en-IN" sz="1000" dirty="0" err="1"/>
              <a:t>GZipExample</a:t>
            </a:r>
            <a:r>
              <a:rPr lang="en-IN" sz="1000" dirty="0"/>
              <a:t> </a:t>
            </a:r>
            <a:r>
              <a:rPr lang="en-IN" sz="1000" dirty="0" err="1"/>
              <a:t>zipObj</a:t>
            </a:r>
            <a:r>
              <a:rPr lang="en-IN" sz="1000" dirty="0"/>
              <a:t> = new </a:t>
            </a:r>
            <a:r>
              <a:rPr lang="en-IN" sz="1000" dirty="0" err="1"/>
              <a:t>GZipExample</a:t>
            </a:r>
            <a:r>
              <a:rPr lang="en-IN" sz="1000" dirty="0"/>
              <a:t>();</a:t>
            </a:r>
          </a:p>
          <a:p>
            <a:pPr marL="0" indent="0">
              <a:buNone/>
            </a:pPr>
            <a:r>
              <a:rPr lang="en-IN" sz="1000" dirty="0"/>
              <a:t>    </a:t>
            </a:r>
            <a:r>
              <a:rPr lang="en-IN" sz="1000" dirty="0" err="1"/>
              <a:t>zipObj.gzipMyFile</a:t>
            </a:r>
            <a:r>
              <a:rPr lang="en-IN" sz="1000" dirty="0"/>
              <a:t>();</a:t>
            </a:r>
          </a:p>
          <a:p>
            <a:pPr marL="0" indent="0">
              <a:buNone/>
            </a:pPr>
            <a:r>
              <a:rPr lang="en-IN" sz="1000" dirty="0"/>
              <a:t>  }</a:t>
            </a:r>
          </a:p>
          <a:p>
            <a:pPr marL="0" indent="0">
              <a:buNone/>
            </a:pPr>
            <a:r>
              <a:rPr lang="en-IN" sz="1000" dirty="0"/>
              <a:t> </a:t>
            </a:r>
          </a:p>
          <a:p>
            <a:pPr marL="0" indent="0">
              <a:buNone/>
            </a:pPr>
            <a:r>
              <a:rPr lang="en-IN" sz="1000" dirty="0"/>
              <a:t>  public void </a:t>
            </a:r>
            <a:r>
              <a:rPr lang="en-IN" sz="1000" dirty="0" err="1"/>
              <a:t>gzipMyFile</a:t>
            </a:r>
            <a:r>
              <a:rPr lang="en-IN" sz="1000" dirty="0"/>
              <a:t>(){ </a:t>
            </a:r>
          </a:p>
          <a:p>
            <a:pPr marL="0" indent="0">
              <a:buNone/>
            </a:pPr>
            <a:r>
              <a:rPr lang="en-IN" sz="1000" dirty="0"/>
              <a:t>    byte[] buffer = new byte[1024];</a:t>
            </a:r>
          </a:p>
          <a:p>
            <a:pPr marL="0" indent="0">
              <a:buNone/>
            </a:pPr>
            <a:r>
              <a:rPr lang="en-IN" sz="1000" dirty="0"/>
              <a:t>    try{</a:t>
            </a:r>
          </a:p>
          <a:p>
            <a:pPr marL="0" indent="0">
              <a:buNone/>
            </a:pPr>
            <a:r>
              <a:rPr lang="en-IN" sz="1000" dirty="0"/>
              <a:t>      //Specify Name and Path of Output </a:t>
            </a:r>
            <a:r>
              <a:rPr lang="en-IN" sz="1000" dirty="0" err="1"/>
              <a:t>GZip</a:t>
            </a:r>
            <a:r>
              <a:rPr lang="en-IN" sz="1000" dirty="0"/>
              <a:t> file here</a:t>
            </a:r>
          </a:p>
          <a:p>
            <a:pPr marL="0" indent="0">
              <a:buNone/>
            </a:pPr>
            <a:r>
              <a:rPr lang="en-IN" sz="1000" dirty="0"/>
              <a:t>      </a:t>
            </a:r>
            <a:r>
              <a:rPr lang="en-IN" sz="1000" dirty="0" err="1"/>
              <a:t>GZIPOutputStream</a:t>
            </a:r>
            <a:r>
              <a:rPr lang="en-IN" sz="1000" dirty="0"/>
              <a:t> </a:t>
            </a:r>
            <a:r>
              <a:rPr lang="en-IN" sz="1000" dirty="0" err="1"/>
              <a:t>gos</a:t>
            </a:r>
            <a:r>
              <a:rPr lang="en-IN" sz="1000" dirty="0"/>
              <a:t> = </a:t>
            </a:r>
          </a:p>
          <a:p>
            <a:pPr marL="0" indent="0">
              <a:buNone/>
            </a:pPr>
            <a:r>
              <a:rPr lang="en-IN" sz="1000" dirty="0"/>
              <a:t>       new </a:t>
            </a:r>
            <a:r>
              <a:rPr lang="en-IN" sz="1000" dirty="0" err="1"/>
              <a:t>GZIPOutputStream</a:t>
            </a:r>
            <a:r>
              <a:rPr lang="en-IN" sz="1000" dirty="0"/>
              <a:t>(new </a:t>
            </a:r>
            <a:r>
              <a:rPr lang="en-IN" sz="1000" dirty="0" err="1"/>
              <a:t>FileOutputStream</a:t>
            </a:r>
            <a:r>
              <a:rPr lang="en-IN" sz="1000" dirty="0"/>
              <a:t>("B://Java/Myfile.gz"));</a:t>
            </a:r>
          </a:p>
          <a:p>
            <a:pPr marL="0" indent="0">
              <a:buNone/>
            </a:pPr>
            <a:r>
              <a:rPr lang="en-IN" sz="1000" dirty="0"/>
              <a:t> </a:t>
            </a:r>
          </a:p>
          <a:p>
            <a:pPr marL="0" indent="0">
              <a:buNone/>
            </a:pPr>
            <a:r>
              <a:rPr lang="en-IN" sz="1000" dirty="0"/>
              <a:t>      //Specify location of Input file here</a:t>
            </a:r>
          </a:p>
          <a:p>
            <a:pPr marL="0" indent="0">
              <a:buNone/>
            </a:pPr>
            <a:r>
              <a:rPr lang="en-IN" sz="1000" dirty="0"/>
              <a:t>      </a:t>
            </a:r>
            <a:r>
              <a:rPr lang="en-IN" sz="1000" dirty="0" err="1"/>
              <a:t>FileInputStream</a:t>
            </a:r>
            <a:r>
              <a:rPr lang="en-IN" sz="1000" dirty="0"/>
              <a:t> </a:t>
            </a:r>
            <a:r>
              <a:rPr lang="en-IN" sz="1000" dirty="0" err="1"/>
              <a:t>fis</a:t>
            </a:r>
            <a:r>
              <a:rPr lang="en-IN" sz="1000" dirty="0"/>
              <a:t> = </a:t>
            </a:r>
          </a:p>
          <a:p>
            <a:pPr marL="0" indent="0">
              <a:buNone/>
            </a:pPr>
            <a:r>
              <a:rPr lang="en-IN" sz="1000" dirty="0"/>
              <a:t>       new </a:t>
            </a:r>
            <a:r>
              <a:rPr lang="en-IN" sz="1000" dirty="0" err="1"/>
              <a:t>FileInputStream</a:t>
            </a:r>
            <a:r>
              <a:rPr lang="en-IN" sz="1000" dirty="0"/>
              <a:t>("B://Java/Myfile.txt");</a:t>
            </a:r>
          </a:p>
          <a:p>
            <a:pPr marL="0" indent="0">
              <a:buNone/>
            </a:pPr>
            <a:r>
              <a:rPr lang="en-IN" sz="1000" dirty="0"/>
              <a:t> </a:t>
            </a:r>
          </a:p>
          <a:p>
            <a:pPr marL="0" indent="0">
              <a:buNone/>
            </a:pPr>
            <a:r>
              <a:rPr lang="en-IN" sz="1000" dirty="0"/>
              <a:t>      //Reading from input file and writing to output </a:t>
            </a:r>
            <a:r>
              <a:rPr lang="en-IN" sz="1000" dirty="0" err="1"/>
              <a:t>GZip</a:t>
            </a:r>
            <a:r>
              <a:rPr lang="en-IN" sz="1000" dirty="0"/>
              <a:t> file</a:t>
            </a:r>
          </a:p>
          <a:p>
            <a:pPr marL="0" indent="0">
              <a:buNone/>
            </a:pPr>
            <a:r>
              <a:rPr lang="en-IN" sz="1000" dirty="0"/>
              <a:t>      </a:t>
            </a:r>
            <a:r>
              <a:rPr lang="en-IN" sz="1000" dirty="0" err="1"/>
              <a:t>int</a:t>
            </a:r>
            <a:r>
              <a:rPr lang="en-IN" sz="1000" dirty="0"/>
              <a:t> length;</a:t>
            </a:r>
          </a:p>
          <a:p>
            <a:pPr marL="0" indent="0">
              <a:buNone/>
            </a:pPr>
            <a:r>
              <a:rPr lang="en-IN" sz="1000" dirty="0"/>
              <a:t>      </a:t>
            </a:r>
          </a:p>
        </p:txBody>
      </p:sp>
      <p:sp>
        <p:nvSpPr>
          <p:cNvPr id="5" name="Content Placeholder 2"/>
          <p:cNvSpPr txBox="1">
            <a:spLocks/>
          </p:cNvSpPr>
          <p:nvPr/>
        </p:nvSpPr>
        <p:spPr bwMode="auto">
          <a:xfrm>
            <a:off x="4752304" y="1215443"/>
            <a:ext cx="4177629" cy="517247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FontTx/>
              <a:buNone/>
            </a:pPr>
            <a:r>
              <a:rPr lang="en-IN" sz="1000" b="0" kern="0" dirty="0"/>
              <a:t>while ((length = </a:t>
            </a:r>
            <a:r>
              <a:rPr lang="en-IN" sz="1000" b="0" kern="0" dirty="0" err="1"/>
              <a:t>fis.read</a:t>
            </a:r>
            <a:r>
              <a:rPr lang="en-IN" sz="1000" b="0" kern="0" dirty="0"/>
              <a:t>(buffer)) &gt; 0) {</a:t>
            </a:r>
          </a:p>
          <a:p>
            <a:pPr marL="0" indent="0">
              <a:buFontTx/>
              <a:buNone/>
            </a:pPr>
            <a:r>
              <a:rPr lang="en-IN" sz="1000" b="0" kern="0" dirty="0"/>
              <a:t> </a:t>
            </a:r>
          </a:p>
          <a:p>
            <a:pPr marL="0" indent="0">
              <a:buFontTx/>
              <a:buNone/>
            </a:pPr>
            <a:r>
              <a:rPr lang="en-IN" sz="1000" b="0" kern="0" dirty="0"/>
              <a:t>        /* public void write(byte[] </a:t>
            </a:r>
            <a:r>
              <a:rPr lang="en-IN" sz="1000" b="0" kern="0" dirty="0" err="1"/>
              <a:t>buf</a:t>
            </a:r>
            <a:r>
              <a:rPr lang="en-IN" sz="1000" b="0" kern="0" dirty="0"/>
              <a:t>, </a:t>
            </a:r>
            <a:r>
              <a:rPr lang="en-IN" sz="1000" b="0" kern="0" dirty="0" err="1"/>
              <a:t>int</a:t>
            </a:r>
            <a:r>
              <a:rPr lang="en-IN" sz="1000" b="0" kern="0" dirty="0"/>
              <a:t> off, </a:t>
            </a:r>
            <a:r>
              <a:rPr lang="en-IN" sz="1000" b="0" kern="0" dirty="0" err="1"/>
              <a:t>int</a:t>
            </a:r>
            <a:r>
              <a:rPr lang="en-IN" sz="1000" b="0" kern="0" dirty="0"/>
              <a:t> </a:t>
            </a:r>
            <a:r>
              <a:rPr lang="en-IN" sz="1000" b="0" kern="0" dirty="0" err="1"/>
              <a:t>len</a:t>
            </a:r>
            <a:r>
              <a:rPr lang="en-IN" sz="1000" b="0" kern="0" dirty="0"/>
              <a:t>): </a:t>
            </a:r>
          </a:p>
          <a:p>
            <a:pPr marL="0" indent="0">
              <a:buFontTx/>
              <a:buNone/>
            </a:pPr>
            <a:r>
              <a:rPr lang="en-IN" sz="1000" b="0" kern="0" dirty="0"/>
              <a:t>         * Writes array of bytes to the compressed output stream.</a:t>
            </a:r>
          </a:p>
          <a:p>
            <a:pPr marL="0" indent="0">
              <a:buFontTx/>
              <a:buNone/>
            </a:pPr>
            <a:r>
              <a:rPr lang="en-IN" sz="1000" b="0" kern="0" dirty="0"/>
              <a:t>         * This method will block until all the bytes are written.</a:t>
            </a:r>
          </a:p>
          <a:p>
            <a:pPr marL="0" indent="0">
              <a:buFontTx/>
              <a:buNone/>
            </a:pPr>
            <a:r>
              <a:rPr lang="en-IN" sz="1000" b="0" kern="0" dirty="0"/>
              <a:t>         * Parameters:</a:t>
            </a:r>
          </a:p>
          <a:p>
            <a:pPr marL="0" indent="0">
              <a:buFontTx/>
              <a:buNone/>
            </a:pPr>
            <a:r>
              <a:rPr lang="en-IN" sz="1000" b="0" kern="0" dirty="0"/>
              <a:t>         * </a:t>
            </a:r>
            <a:r>
              <a:rPr lang="en-IN" sz="1000" b="0" kern="0" dirty="0" err="1"/>
              <a:t>buf</a:t>
            </a:r>
            <a:r>
              <a:rPr lang="en-IN" sz="1000" b="0" kern="0" dirty="0"/>
              <a:t> - the data to be written</a:t>
            </a:r>
          </a:p>
          <a:p>
            <a:pPr marL="0" indent="0">
              <a:buFontTx/>
              <a:buNone/>
            </a:pPr>
            <a:r>
              <a:rPr lang="en-IN" sz="1000" b="0" kern="0" dirty="0"/>
              <a:t>         * off - the start offset of the data</a:t>
            </a:r>
          </a:p>
          <a:p>
            <a:pPr marL="0" indent="0">
              <a:buFontTx/>
              <a:buNone/>
            </a:pPr>
            <a:r>
              <a:rPr lang="en-IN" sz="1000" b="0" kern="0" dirty="0"/>
              <a:t>         * </a:t>
            </a:r>
            <a:r>
              <a:rPr lang="en-IN" sz="1000" b="0" kern="0" dirty="0" err="1"/>
              <a:t>len</a:t>
            </a:r>
            <a:r>
              <a:rPr lang="en-IN" sz="1000" b="0" kern="0" dirty="0"/>
              <a:t> - the length of the data</a:t>
            </a:r>
          </a:p>
          <a:p>
            <a:pPr marL="0" indent="0">
              <a:buFontTx/>
              <a:buNone/>
            </a:pPr>
            <a:r>
              <a:rPr lang="en-IN" sz="1000" b="0" kern="0" dirty="0"/>
              <a:t>         */</a:t>
            </a:r>
          </a:p>
          <a:p>
            <a:pPr marL="0" indent="0">
              <a:buFontTx/>
              <a:buNone/>
            </a:pPr>
            <a:r>
              <a:rPr lang="en-IN" sz="1000" b="0" kern="0" dirty="0"/>
              <a:t>        </a:t>
            </a:r>
            <a:r>
              <a:rPr lang="en-IN" sz="1000" b="0" kern="0" dirty="0" err="1"/>
              <a:t>gos.write</a:t>
            </a:r>
            <a:r>
              <a:rPr lang="en-IN" sz="1000" b="0" kern="0" dirty="0"/>
              <a:t>(buffer, 0, length);</a:t>
            </a:r>
          </a:p>
          <a:p>
            <a:pPr marL="0" indent="0">
              <a:buFontTx/>
              <a:buNone/>
            </a:pPr>
            <a:r>
              <a:rPr lang="en-IN" sz="1000" b="0" kern="0" dirty="0"/>
              <a:t>      }</a:t>
            </a:r>
          </a:p>
          <a:p>
            <a:pPr marL="0" indent="0">
              <a:buFontTx/>
              <a:buNone/>
            </a:pPr>
            <a:r>
              <a:rPr lang="en-IN" sz="1000" b="0" kern="0" dirty="0"/>
              <a:t> </a:t>
            </a:r>
          </a:p>
          <a:p>
            <a:pPr marL="0" indent="0">
              <a:buFontTx/>
              <a:buNone/>
            </a:pPr>
            <a:r>
              <a:rPr lang="en-IN" sz="1000" b="0" kern="0" dirty="0"/>
              <a:t>      </a:t>
            </a:r>
            <a:r>
              <a:rPr lang="en-IN" sz="1000" b="0" kern="0" dirty="0" err="1"/>
              <a:t>fis.close</a:t>
            </a:r>
            <a:r>
              <a:rPr lang="en-IN" sz="1000" b="0" kern="0" dirty="0"/>
              <a:t>();</a:t>
            </a:r>
          </a:p>
          <a:p>
            <a:pPr marL="0" indent="0">
              <a:buFontTx/>
              <a:buNone/>
            </a:pPr>
            <a:r>
              <a:rPr lang="en-IN" sz="1000" b="0" kern="0" dirty="0"/>
              <a:t> </a:t>
            </a:r>
          </a:p>
          <a:p>
            <a:pPr marL="0" indent="0">
              <a:buFontTx/>
              <a:buNone/>
            </a:pPr>
            <a:r>
              <a:rPr lang="en-IN" sz="1000" b="0" kern="0" dirty="0"/>
              <a:t>      /* public void finish(): Finishes writing compressed </a:t>
            </a:r>
          </a:p>
          <a:p>
            <a:pPr marL="0" indent="0">
              <a:buFontTx/>
              <a:buNone/>
            </a:pPr>
            <a:r>
              <a:rPr lang="en-IN" sz="1000" b="0" kern="0" dirty="0"/>
              <a:t>       * data to the output stream without closing the </a:t>
            </a:r>
          </a:p>
          <a:p>
            <a:pPr marL="0" indent="0">
              <a:buFontTx/>
              <a:buNone/>
            </a:pPr>
            <a:r>
              <a:rPr lang="en-IN" sz="1000" b="0" kern="0" dirty="0"/>
              <a:t>       * underlying stream.</a:t>
            </a:r>
          </a:p>
          <a:p>
            <a:pPr marL="0" indent="0">
              <a:buFontTx/>
              <a:buNone/>
            </a:pPr>
            <a:r>
              <a:rPr lang="en-IN" sz="1000" b="0" kern="0" dirty="0"/>
              <a:t>       */</a:t>
            </a:r>
          </a:p>
          <a:p>
            <a:pPr marL="0" indent="0">
              <a:buFontTx/>
              <a:buNone/>
            </a:pPr>
            <a:r>
              <a:rPr lang="en-IN" sz="1000" b="0" kern="0" dirty="0"/>
              <a:t>      </a:t>
            </a:r>
            <a:r>
              <a:rPr lang="en-IN" sz="1000" b="0" kern="0" dirty="0" err="1"/>
              <a:t>gos.finish</a:t>
            </a:r>
            <a:r>
              <a:rPr lang="en-IN" sz="1000" b="0" kern="0" dirty="0"/>
              <a:t>();</a:t>
            </a:r>
          </a:p>
          <a:p>
            <a:pPr marL="0" indent="0">
              <a:buFontTx/>
              <a:buNone/>
            </a:pPr>
            <a:r>
              <a:rPr lang="en-IN" sz="1000" b="0" kern="0" dirty="0"/>
              <a:t>      </a:t>
            </a:r>
            <a:r>
              <a:rPr lang="en-IN" sz="1000" b="0" kern="0" dirty="0" err="1"/>
              <a:t>gos.close</a:t>
            </a:r>
            <a:r>
              <a:rPr lang="en-IN" sz="1000" b="0" kern="0" dirty="0"/>
              <a:t>();</a:t>
            </a:r>
          </a:p>
          <a:p>
            <a:pPr marL="0" indent="0">
              <a:buFontTx/>
              <a:buNone/>
            </a:pPr>
            <a:r>
              <a:rPr lang="en-IN" sz="1000" b="0" kern="0" dirty="0"/>
              <a:t> </a:t>
            </a:r>
          </a:p>
          <a:p>
            <a:pPr marL="0" indent="0">
              <a:buFontTx/>
              <a:buNone/>
            </a:pPr>
            <a:r>
              <a:rPr lang="en-IN" sz="1000" b="0" kern="0" dirty="0"/>
              <a:t>      </a:t>
            </a:r>
            <a:r>
              <a:rPr lang="en-IN" sz="1000" b="0" kern="0" dirty="0" err="1"/>
              <a:t>System.out.println</a:t>
            </a:r>
            <a:r>
              <a:rPr lang="en-IN" sz="1000" b="0" kern="0" dirty="0"/>
              <a:t>("File Compressed!!");</a:t>
            </a:r>
          </a:p>
          <a:p>
            <a:pPr marL="0" indent="0">
              <a:buFontTx/>
              <a:buNone/>
            </a:pPr>
            <a:r>
              <a:rPr lang="en-IN" sz="1000" b="0" kern="0" dirty="0"/>
              <a:t> </a:t>
            </a:r>
          </a:p>
          <a:p>
            <a:pPr marL="0" indent="0">
              <a:buFontTx/>
              <a:buNone/>
            </a:pPr>
            <a:r>
              <a:rPr lang="en-IN" sz="1000" b="0" kern="0" dirty="0"/>
              <a:t>    }catch(</a:t>
            </a:r>
            <a:r>
              <a:rPr lang="en-IN" sz="1000" b="0" kern="0" dirty="0" err="1"/>
              <a:t>IOException</a:t>
            </a:r>
            <a:r>
              <a:rPr lang="en-IN" sz="1000" b="0" kern="0" dirty="0"/>
              <a:t> </a:t>
            </a:r>
            <a:r>
              <a:rPr lang="en-IN" sz="1000" b="0" kern="0" dirty="0" err="1"/>
              <a:t>ioe</a:t>
            </a:r>
            <a:r>
              <a:rPr lang="en-IN" sz="1000" b="0" kern="0" dirty="0"/>
              <a:t>){</a:t>
            </a:r>
          </a:p>
          <a:p>
            <a:pPr marL="0" indent="0">
              <a:buFontTx/>
              <a:buNone/>
            </a:pPr>
            <a:r>
              <a:rPr lang="en-IN" sz="1000" b="0" kern="0" dirty="0"/>
              <a:t>        </a:t>
            </a:r>
            <a:r>
              <a:rPr lang="en-IN" sz="1000" b="0" kern="0" dirty="0" err="1"/>
              <a:t>ioe.printStackTrace</a:t>
            </a:r>
            <a:r>
              <a:rPr lang="en-IN" sz="1000" b="0" kern="0" dirty="0"/>
              <a:t>(); </a:t>
            </a:r>
          </a:p>
          <a:p>
            <a:pPr marL="0" indent="0">
              <a:buFontTx/>
              <a:buNone/>
            </a:pPr>
            <a:r>
              <a:rPr lang="en-IN" sz="1000" b="0" kern="0" dirty="0"/>
              <a:t>     }</a:t>
            </a:r>
          </a:p>
          <a:p>
            <a:pPr marL="0" indent="0">
              <a:buFontTx/>
              <a:buNone/>
            </a:pPr>
            <a:r>
              <a:rPr lang="en-IN" sz="1000" b="0" kern="0" dirty="0"/>
              <a:t>  }</a:t>
            </a:r>
          </a:p>
          <a:p>
            <a:pPr marL="0" indent="0">
              <a:buFontTx/>
              <a:buNone/>
            </a:pPr>
            <a:r>
              <a:rPr lang="en-IN" sz="1000" b="0" kern="0" dirty="0"/>
              <a:t>}</a:t>
            </a:r>
          </a:p>
        </p:txBody>
      </p:sp>
    </p:spTree>
    <p:extLst>
      <p:ext uri="{BB962C8B-B14F-4D97-AF65-F5344CB8AC3E}">
        <p14:creationId xmlns:p14="http://schemas.microsoft.com/office/powerpoint/2010/main" val="847402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Copy a File to another File in Java</a:t>
            </a:r>
            <a:br>
              <a:rPr lang="en-IN" dirty="0"/>
            </a:br>
            <a:endParaRPr lang="en-IN" dirty="0"/>
          </a:p>
        </p:txBody>
      </p:sp>
      <p:sp>
        <p:nvSpPr>
          <p:cNvPr id="3" name="Content Placeholder 2"/>
          <p:cNvSpPr>
            <a:spLocks noGrp="1"/>
          </p:cNvSpPr>
          <p:nvPr>
            <p:ph idx="1"/>
          </p:nvPr>
        </p:nvSpPr>
        <p:spPr>
          <a:xfrm>
            <a:off x="574675" y="1485900"/>
            <a:ext cx="4345055" cy="4335351"/>
          </a:xfrm>
        </p:spPr>
        <p:txBody>
          <a:bodyPr/>
          <a:lstStyle/>
          <a:p>
            <a:pPr marL="0" indent="0">
              <a:buNone/>
            </a:pPr>
            <a:r>
              <a:rPr lang="en-IN" sz="1100" dirty="0"/>
              <a:t>import </a:t>
            </a:r>
            <a:r>
              <a:rPr lang="en-IN" sz="1100" dirty="0" err="1"/>
              <a:t>java.io.File</a:t>
            </a:r>
            <a:r>
              <a:rPr lang="en-IN" sz="1100" dirty="0"/>
              <a:t>;</a:t>
            </a:r>
          </a:p>
          <a:p>
            <a:pPr marL="0" indent="0">
              <a:buNone/>
            </a:pPr>
            <a:r>
              <a:rPr lang="en-IN" sz="1100" dirty="0"/>
              <a:t>import </a:t>
            </a:r>
            <a:r>
              <a:rPr lang="en-IN" sz="1100" dirty="0" err="1"/>
              <a:t>java.io.FileInputStream</a:t>
            </a:r>
            <a:r>
              <a:rPr lang="en-IN" sz="1100" dirty="0"/>
              <a:t>;</a:t>
            </a:r>
          </a:p>
          <a:p>
            <a:pPr marL="0" indent="0">
              <a:buNone/>
            </a:pPr>
            <a:r>
              <a:rPr lang="en-IN" sz="1100" dirty="0"/>
              <a:t>import </a:t>
            </a:r>
            <a:r>
              <a:rPr lang="en-IN" sz="1100" dirty="0" err="1"/>
              <a:t>java.io.FileOutputStream</a:t>
            </a:r>
            <a:r>
              <a:rPr lang="en-IN" sz="1100" dirty="0"/>
              <a:t>;</a:t>
            </a:r>
          </a:p>
          <a:p>
            <a:pPr marL="0" indent="0">
              <a:buNone/>
            </a:pPr>
            <a:r>
              <a:rPr lang="en-IN" sz="1100" dirty="0"/>
              <a:t>import </a:t>
            </a:r>
            <a:r>
              <a:rPr lang="en-IN" sz="1100" dirty="0" err="1"/>
              <a:t>java.io.IOException</a:t>
            </a:r>
            <a:r>
              <a:rPr lang="en-IN" sz="1100" dirty="0"/>
              <a:t>;</a:t>
            </a:r>
          </a:p>
          <a:p>
            <a:pPr marL="0" indent="0">
              <a:buNone/>
            </a:pPr>
            <a:r>
              <a:rPr lang="en-IN" sz="1100" dirty="0"/>
              <a:t> </a:t>
            </a:r>
          </a:p>
          <a:p>
            <a:pPr marL="0" indent="0">
              <a:buNone/>
            </a:pPr>
            <a:r>
              <a:rPr lang="en-IN" sz="1100" dirty="0"/>
              <a:t>public class </a:t>
            </a:r>
            <a:r>
              <a:rPr lang="en-IN" sz="1100" dirty="0" err="1"/>
              <a:t>CopyExample</a:t>
            </a:r>
            <a:r>
              <a:rPr lang="en-IN" sz="1100" dirty="0"/>
              <a:t> </a:t>
            </a:r>
          </a:p>
          <a:p>
            <a:pPr marL="0" indent="0">
              <a:buNone/>
            </a:pPr>
            <a:r>
              <a:rPr lang="en-IN" sz="1100" dirty="0"/>
              <a:t>{</a:t>
            </a:r>
          </a:p>
          <a:p>
            <a:pPr marL="0" indent="0">
              <a:buNone/>
            </a:pPr>
            <a:r>
              <a:rPr lang="en-IN" sz="1100" dirty="0"/>
              <a:t>    public static void main(String[] </a:t>
            </a:r>
            <a:r>
              <a:rPr lang="en-IN" sz="1100" dirty="0" err="1"/>
              <a:t>args</a:t>
            </a:r>
            <a:r>
              <a:rPr lang="en-IN" sz="1100" dirty="0"/>
              <a:t>)</a:t>
            </a:r>
          </a:p>
          <a:p>
            <a:pPr marL="0" indent="0">
              <a:buNone/>
            </a:pPr>
            <a:r>
              <a:rPr lang="en-IN" sz="1100" dirty="0"/>
              <a:t>    {	</a:t>
            </a:r>
          </a:p>
          <a:p>
            <a:pPr marL="0" indent="0">
              <a:buNone/>
            </a:pPr>
            <a:r>
              <a:rPr lang="en-IN" sz="1100" dirty="0"/>
              <a:t>    	</a:t>
            </a:r>
            <a:r>
              <a:rPr lang="en-IN" sz="1100" dirty="0" err="1"/>
              <a:t>FileInputStream</a:t>
            </a:r>
            <a:r>
              <a:rPr lang="en-IN" sz="1100" dirty="0"/>
              <a:t> instream = null;</a:t>
            </a:r>
          </a:p>
          <a:p>
            <a:pPr marL="0" indent="0">
              <a:buNone/>
            </a:pPr>
            <a:r>
              <a:rPr lang="en-IN" sz="1100" dirty="0"/>
              <a:t>	</a:t>
            </a:r>
            <a:r>
              <a:rPr lang="en-IN" sz="1100" dirty="0" err="1"/>
              <a:t>FileOutputStream</a:t>
            </a:r>
            <a:r>
              <a:rPr lang="en-IN" sz="1100" dirty="0"/>
              <a:t> </a:t>
            </a:r>
            <a:r>
              <a:rPr lang="en-IN" sz="1100" dirty="0" err="1"/>
              <a:t>outstream</a:t>
            </a:r>
            <a:r>
              <a:rPr lang="en-IN" sz="1100" dirty="0"/>
              <a:t> = null;</a:t>
            </a:r>
          </a:p>
          <a:p>
            <a:pPr marL="0" indent="0">
              <a:buNone/>
            </a:pPr>
            <a:r>
              <a:rPr lang="en-IN" sz="1100" dirty="0"/>
              <a:t> </a:t>
            </a:r>
          </a:p>
          <a:p>
            <a:pPr marL="0" indent="0">
              <a:buNone/>
            </a:pPr>
            <a:r>
              <a:rPr lang="en-IN" sz="1100" dirty="0"/>
              <a:t>    	try{</a:t>
            </a:r>
          </a:p>
          <a:p>
            <a:pPr marL="0" indent="0">
              <a:buNone/>
            </a:pPr>
            <a:r>
              <a:rPr lang="en-IN" sz="1100" dirty="0"/>
              <a:t>    	    File </a:t>
            </a:r>
            <a:r>
              <a:rPr lang="en-IN" sz="1100" dirty="0" err="1"/>
              <a:t>infile</a:t>
            </a:r>
            <a:r>
              <a:rPr lang="en-IN" sz="1100" dirty="0"/>
              <a:t> =new File("C:\\MyInputFile.txt");</a:t>
            </a:r>
          </a:p>
          <a:p>
            <a:pPr marL="0" indent="0">
              <a:buNone/>
            </a:pPr>
            <a:r>
              <a:rPr lang="en-IN" sz="1100" dirty="0"/>
              <a:t>    	    File </a:t>
            </a:r>
            <a:r>
              <a:rPr lang="en-IN" sz="1100" dirty="0" err="1"/>
              <a:t>outfile</a:t>
            </a:r>
            <a:r>
              <a:rPr lang="en-IN" sz="1100" dirty="0"/>
              <a:t> =new File("C:\\MyOutputFile.txt");</a:t>
            </a:r>
          </a:p>
          <a:p>
            <a:pPr marL="0" indent="0">
              <a:buNone/>
            </a:pPr>
            <a:r>
              <a:rPr lang="en-IN" sz="1100" dirty="0"/>
              <a:t> </a:t>
            </a:r>
          </a:p>
          <a:p>
            <a:pPr marL="0" indent="0">
              <a:buNone/>
            </a:pPr>
            <a:r>
              <a:rPr lang="en-IN" sz="1100" dirty="0"/>
              <a:t>    	    instream = new </a:t>
            </a:r>
            <a:r>
              <a:rPr lang="en-IN" sz="1100" dirty="0" err="1"/>
              <a:t>FileInputStream</a:t>
            </a:r>
            <a:r>
              <a:rPr lang="en-IN" sz="1100" dirty="0"/>
              <a:t>(</a:t>
            </a:r>
            <a:r>
              <a:rPr lang="en-IN" sz="1100" dirty="0" err="1"/>
              <a:t>infile</a:t>
            </a:r>
            <a:r>
              <a:rPr lang="en-IN" sz="1100" dirty="0"/>
              <a:t>);</a:t>
            </a:r>
          </a:p>
          <a:p>
            <a:pPr marL="0" indent="0">
              <a:buNone/>
            </a:pPr>
            <a:r>
              <a:rPr lang="en-IN" sz="1100" dirty="0"/>
              <a:t>    	    </a:t>
            </a:r>
            <a:r>
              <a:rPr lang="en-IN" sz="1100" dirty="0" err="1"/>
              <a:t>outstream</a:t>
            </a:r>
            <a:r>
              <a:rPr lang="en-IN" sz="1100" dirty="0"/>
              <a:t> = new </a:t>
            </a:r>
            <a:r>
              <a:rPr lang="en-IN" sz="1100" dirty="0" err="1"/>
              <a:t>FileOutputStream</a:t>
            </a:r>
            <a:r>
              <a:rPr lang="en-IN" sz="1100" dirty="0"/>
              <a:t>(</a:t>
            </a:r>
            <a:r>
              <a:rPr lang="en-IN" sz="1100" dirty="0" err="1"/>
              <a:t>outfile</a:t>
            </a:r>
            <a:r>
              <a:rPr lang="en-IN" sz="1100" dirty="0"/>
              <a:t>);</a:t>
            </a:r>
          </a:p>
          <a:p>
            <a:pPr marL="0" indent="0">
              <a:buNone/>
            </a:pPr>
            <a:r>
              <a:rPr lang="en-IN" sz="1100" dirty="0"/>
              <a:t> </a:t>
            </a:r>
          </a:p>
          <a:p>
            <a:pPr marL="0" indent="0">
              <a:buNone/>
            </a:pPr>
            <a:r>
              <a:rPr lang="en-IN" sz="1100" dirty="0"/>
              <a:t>    	    byte[] buffer = new byte[1024];</a:t>
            </a:r>
          </a:p>
          <a:p>
            <a:pPr marL="0" indent="0">
              <a:buNone/>
            </a:pPr>
            <a:r>
              <a:rPr lang="en-IN" sz="1100" dirty="0"/>
              <a:t> </a:t>
            </a:r>
          </a:p>
          <a:p>
            <a:pPr marL="0" indent="0">
              <a:buNone/>
            </a:pPr>
            <a:r>
              <a:rPr lang="en-IN" sz="1100" dirty="0"/>
              <a:t>    	    </a:t>
            </a:r>
            <a:r>
              <a:rPr lang="en-IN" sz="1100" dirty="0" err="1"/>
              <a:t>int</a:t>
            </a:r>
            <a:r>
              <a:rPr lang="en-IN" sz="1100" dirty="0"/>
              <a:t> length;</a:t>
            </a:r>
          </a:p>
          <a:p>
            <a:pPr marL="0" indent="0">
              <a:buNone/>
            </a:pPr>
            <a:r>
              <a:rPr lang="en-IN" sz="1100" dirty="0"/>
              <a:t>    	 	</a:t>
            </a:r>
          </a:p>
        </p:txBody>
      </p:sp>
      <p:sp>
        <p:nvSpPr>
          <p:cNvPr id="5" name="Content Placeholder 2"/>
          <p:cNvSpPr txBox="1">
            <a:spLocks/>
          </p:cNvSpPr>
          <p:nvPr/>
        </p:nvSpPr>
        <p:spPr bwMode="auto">
          <a:xfrm>
            <a:off x="4919730" y="1485900"/>
            <a:ext cx="4005329" cy="4335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a:lstStyle>
          <a:p>
            <a:pPr marL="0" indent="0">
              <a:buNone/>
            </a:pPr>
            <a:r>
              <a:rPr lang="en-IN" sz="1100" b="0" kern="0" dirty="0"/>
              <a:t>	   </a:t>
            </a:r>
            <a:r>
              <a:rPr lang="en-IN" sz="1100" b="0" dirty="0"/>
              <a:t>/*copying the contents from input stream to</a:t>
            </a:r>
          </a:p>
          <a:p>
            <a:pPr marL="0" indent="0">
              <a:buNone/>
            </a:pPr>
            <a:r>
              <a:rPr lang="en-IN" sz="1100" b="0" dirty="0"/>
              <a:t>    	     * output stream using read and write methods</a:t>
            </a:r>
          </a:p>
          <a:p>
            <a:pPr marL="0" indent="0">
              <a:buNone/>
            </a:pPr>
            <a:r>
              <a:rPr lang="en-IN" sz="1100" b="0" dirty="0"/>
              <a:t>    	     */</a:t>
            </a:r>
          </a:p>
          <a:p>
            <a:pPr marL="0" indent="0">
              <a:buFontTx/>
              <a:buNone/>
            </a:pPr>
            <a:r>
              <a:rPr lang="en-IN" sz="1100" b="0" kern="0" dirty="0"/>
              <a:t> while ((length = </a:t>
            </a:r>
            <a:r>
              <a:rPr lang="en-IN" sz="1100" b="0" kern="0" dirty="0" err="1"/>
              <a:t>instream.read</a:t>
            </a:r>
            <a:r>
              <a:rPr lang="en-IN" sz="1100" b="0" kern="0" dirty="0"/>
              <a:t>(buffer)) &gt; 0){</a:t>
            </a:r>
          </a:p>
          <a:p>
            <a:pPr marL="0" indent="0">
              <a:buFontTx/>
              <a:buNone/>
            </a:pPr>
            <a:r>
              <a:rPr lang="en-IN" sz="1100" b="0" kern="0" dirty="0"/>
              <a:t>    	    	</a:t>
            </a:r>
            <a:r>
              <a:rPr lang="en-IN" sz="1100" b="0" kern="0" dirty="0" err="1"/>
              <a:t>outstream.write</a:t>
            </a:r>
            <a:r>
              <a:rPr lang="en-IN" sz="1100" b="0" kern="0" dirty="0"/>
              <a:t>(buffer, 0, length);</a:t>
            </a:r>
          </a:p>
          <a:p>
            <a:pPr marL="0" indent="0">
              <a:buFontTx/>
              <a:buNone/>
            </a:pPr>
            <a:r>
              <a:rPr lang="en-IN" sz="1100" b="0" kern="0" dirty="0"/>
              <a:t>    	    }</a:t>
            </a:r>
          </a:p>
          <a:p>
            <a:pPr marL="0" indent="0">
              <a:buFontTx/>
              <a:buNone/>
            </a:pPr>
            <a:endParaRPr lang="en-IN" sz="1100" b="0" kern="0" dirty="0"/>
          </a:p>
          <a:p>
            <a:pPr marL="0" indent="0">
              <a:buFontTx/>
              <a:buNone/>
            </a:pPr>
            <a:r>
              <a:rPr lang="en-IN" sz="1100" b="0" kern="0" dirty="0"/>
              <a:t>    	    //Closing the input/output file streams</a:t>
            </a:r>
          </a:p>
          <a:p>
            <a:pPr marL="0" indent="0">
              <a:buFontTx/>
              <a:buNone/>
            </a:pPr>
            <a:r>
              <a:rPr lang="en-IN" sz="1100" b="0" kern="0" dirty="0"/>
              <a:t>    	    </a:t>
            </a:r>
            <a:r>
              <a:rPr lang="en-IN" sz="1100" b="0" kern="0" dirty="0" err="1"/>
              <a:t>instream.close</a:t>
            </a:r>
            <a:r>
              <a:rPr lang="en-IN" sz="1100" b="0" kern="0" dirty="0"/>
              <a:t>();</a:t>
            </a:r>
          </a:p>
          <a:p>
            <a:pPr marL="0" indent="0">
              <a:buFontTx/>
              <a:buNone/>
            </a:pPr>
            <a:r>
              <a:rPr lang="en-IN" sz="1100" b="0" kern="0" dirty="0"/>
              <a:t>    	    </a:t>
            </a:r>
            <a:r>
              <a:rPr lang="en-IN" sz="1100" b="0" kern="0" dirty="0" err="1"/>
              <a:t>outstream.close</a:t>
            </a:r>
            <a:r>
              <a:rPr lang="en-IN" sz="1100" b="0" kern="0" dirty="0"/>
              <a:t>();</a:t>
            </a:r>
          </a:p>
          <a:p>
            <a:pPr marL="0" indent="0">
              <a:buFontTx/>
              <a:buNone/>
            </a:pPr>
            <a:endParaRPr lang="en-IN" sz="1100" b="0" kern="0" dirty="0"/>
          </a:p>
          <a:p>
            <a:pPr marL="0" indent="0">
              <a:buFontTx/>
              <a:buNone/>
            </a:pPr>
            <a:r>
              <a:rPr lang="en-IN" sz="1100" b="0" kern="0" dirty="0"/>
              <a:t>    	    </a:t>
            </a:r>
            <a:r>
              <a:rPr lang="en-IN" sz="1100" b="0" kern="0" dirty="0" err="1"/>
              <a:t>System.out.println</a:t>
            </a:r>
            <a:r>
              <a:rPr lang="en-IN" sz="1100" b="0" kern="0" dirty="0"/>
              <a:t>("File copied successfully!!");</a:t>
            </a:r>
          </a:p>
          <a:p>
            <a:pPr marL="0" indent="0">
              <a:buFontTx/>
              <a:buNone/>
            </a:pPr>
            <a:r>
              <a:rPr lang="en-IN" sz="1100" b="0" kern="0" dirty="0"/>
              <a:t> </a:t>
            </a:r>
          </a:p>
          <a:p>
            <a:pPr marL="0" indent="0">
              <a:buFontTx/>
              <a:buNone/>
            </a:pPr>
            <a:r>
              <a:rPr lang="en-IN" sz="1100" b="0" kern="0" dirty="0"/>
              <a:t>    	}catch(</a:t>
            </a:r>
            <a:r>
              <a:rPr lang="en-IN" sz="1100" b="0" kern="0" dirty="0" err="1"/>
              <a:t>IOException</a:t>
            </a:r>
            <a:r>
              <a:rPr lang="en-IN" sz="1100" b="0" kern="0" dirty="0"/>
              <a:t> </a:t>
            </a:r>
            <a:r>
              <a:rPr lang="en-IN" sz="1100" b="0" kern="0" dirty="0" err="1"/>
              <a:t>ioe</a:t>
            </a:r>
            <a:r>
              <a:rPr lang="en-IN" sz="1100" b="0" kern="0" dirty="0"/>
              <a:t>){</a:t>
            </a:r>
          </a:p>
          <a:p>
            <a:pPr marL="0" indent="0">
              <a:buFontTx/>
              <a:buNone/>
            </a:pPr>
            <a:r>
              <a:rPr lang="en-IN" sz="1100" b="0" kern="0" dirty="0"/>
              <a:t>    		</a:t>
            </a:r>
            <a:r>
              <a:rPr lang="en-IN" sz="1100" b="0" kern="0" dirty="0" err="1"/>
              <a:t>ioe.printStackTrace</a:t>
            </a:r>
            <a:r>
              <a:rPr lang="en-IN" sz="1100" b="0" kern="0" dirty="0"/>
              <a:t>();</a:t>
            </a:r>
          </a:p>
          <a:p>
            <a:pPr marL="0" indent="0">
              <a:buFontTx/>
              <a:buNone/>
            </a:pPr>
            <a:r>
              <a:rPr lang="en-IN" sz="1100" b="0" kern="0" dirty="0"/>
              <a:t>    	 }</a:t>
            </a:r>
          </a:p>
          <a:p>
            <a:pPr marL="0" indent="0">
              <a:buFontTx/>
              <a:buNone/>
            </a:pPr>
            <a:r>
              <a:rPr lang="en-IN" sz="1100" b="0" kern="0" dirty="0"/>
              <a:t>    }</a:t>
            </a:r>
          </a:p>
          <a:p>
            <a:pPr marL="0" indent="0">
              <a:buFontTx/>
              <a:buNone/>
            </a:pPr>
            <a:r>
              <a:rPr lang="en-IN" sz="1100" b="0" kern="0" dirty="0"/>
              <a:t>}</a:t>
            </a:r>
          </a:p>
        </p:txBody>
      </p:sp>
    </p:spTree>
    <p:extLst>
      <p:ext uri="{BB962C8B-B14F-4D97-AF65-F5344CB8AC3E}">
        <p14:creationId xmlns:p14="http://schemas.microsoft.com/office/powerpoint/2010/main" val="2170722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make a File Read Only in Java</a:t>
            </a:r>
            <a:br>
              <a:rPr lang="en-IN" dirty="0"/>
            </a:br>
            <a:endParaRPr lang="en-IN" dirty="0"/>
          </a:p>
        </p:txBody>
      </p:sp>
      <p:sp>
        <p:nvSpPr>
          <p:cNvPr id="3" name="Content Placeholder 2"/>
          <p:cNvSpPr>
            <a:spLocks noGrp="1"/>
          </p:cNvSpPr>
          <p:nvPr>
            <p:ph idx="1"/>
          </p:nvPr>
        </p:nvSpPr>
        <p:spPr>
          <a:xfrm>
            <a:off x="574675" y="1266959"/>
            <a:ext cx="8024813" cy="3598863"/>
          </a:xfrm>
        </p:spPr>
        <p:txBody>
          <a:bodyPr/>
          <a:lstStyle/>
          <a:p>
            <a:pPr marL="0" indent="0">
              <a:buNone/>
            </a:pPr>
            <a:r>
              <a:rPr lang="en-IN" sz="1400" dirty="0"/>
              <a:t>import </a:t>
            </a:r>
            <a:r>
              <a:rPr lang="en-IN" sz="1400" dirty="0" err="1"/>
              <a:t>java.io.File</a:t>
            </a:r>
            <a:r>
              <a:rPr lang="en-IN" sz="1400" dirty="0"/>
              <a:t>;</a:t>
            </a:r>
          </a:p>
          <a:p>
            <a:pPr marL="0" indent="0">
              <a:buNone/>
            </a:pPr>
            <a:r>
              <a:rPr lang="en-IN" sz="1400" dirty="0"/>
              <a:t>import </a:t>
            </a:r>
            <a:r>
              <a:rPr lang="en-IN" sz="1400" dirty="0" err="1"/>
              <a:t>java.io.IOException</a:t>
            </a:r>
            <a:r>
              <a:rPr lang="en-IN" sz="1400" dirty="0"/>
              <a:t>;</a:t>
            </a:r>
          </a:p>
          <a:p>
            <a:pPr marL="0" indent="0">
              <a:buNone/>
            </a:pPr>
            <a:r>
              <a:rPr lang="en-IN" sz="1400" dirty="0"/>
              <a:t> </a:t>
            </a:r>
          </a:p>
          <a:p>
            <a:pPr marL="0" indent="0">
              <a:buNone/>
            </a:pPr>
            <a:r>
              <a:rPr lang="en-IN" sz="1400" dirty="0"/>
              <a:t>public class </a:t>
            </a:r>
            <a:r>
              <a:rPr lang="en-IN" sz="1400" dirty="0" err="1"/>
              <a:t>ReadOnlyChangeExample</a:t>
            </a:r>
            <a:endParaRPr lang="en-IN" sz="1400" dirty="0"/>
          </a:p>
          <a:p>
            <a:pPr marL="0" indent="0">
              <a:buNone/>
            </a:pPr>
            <a:r>
              <a:rPr lang="en-IN" sz="1400" dirty="0"/>
              <a:t>{</a:t>
            </a:r>
          </a:p>
          <a:p>
            <a:pPr marL="0" indent="0">
              <a:buNone/>
            </a:pPr>
            <a:r>
              <a:rPr lang="en-IN" sz="1400" dirty="0"/>
              <a:t> </a:t>
            </a:r>
          </a:p>
          <a:p>
            <a:pPr marL="0" indent="0">
              <a:buNone/>
            </a:pPr>
            <a:r>
              <a:rPr lang="en-IN" sz="1400" dirty="0"/>
              <a:t>    public static void main(String[] </a:t>
            </a:r>
            <a:r>
              <a:rPr lang="en-IN" sz="1400" dirty="0" err="1"/>
              <a:t>args</a:t>
            </a:r>
            <a:r>
              <a:rPr lang="en-IN" sz="1400" dirty="0"/>
              <a:t>) throws </a:t>
            </a:r>
            <a:r>
              <a:rPr lang="en-IN" sz="1400" dirty="0" err="1"/>
              <a:t>IOException</a:t>
            </a:r>
            <a:endParaRPr lang="en-IN" sz="1400" dirty="0"/>
          </a:p>
          <a:p>
            <a:pPr marL="0" indent="0">
              <a:buNone/>
            </a:pPr>
            <a:r>
              <a:rPr lang="en-IN" sz="1400" dirty="0"/>
              <a:t>    {	</a:t>
            </a:r>
          </a:p>
          <a:p>
            <a:pPr marL="0" indent="0">
              <a:buNone/>
            </a:pPr>
            <a:r>
              <a:rPr lang="en-IN" sz="1400" dirty="0"/>
              <a:t>    	File </a:t>
            </a:r>
            <a:r>
              <a:rPr lang="en-IN" sz="1400" dirty="0" err="1"/>
              <a:t>myfile</a:t>
            </a:r>
            <a:r>
              <a:rPr lang="en-IN" sz="1400" dirty="0"/>
              <a:t> = new File("C://Myfile.txt");</a:t>
            </a:r>
          </a:p>
          <a:p>
            <a:pPr marL="0" indent="0">
              <a:buNone/>
            </a:pPr>
            <a:r>
              <a:rPr lang="en-IN" sz="1400" dirty="0"/>
              <a:t>    	//making the file read only</a:t>
            </a:r>
          </a:p>
          <a:p>
            <a:pPr marL="0" indent="0">
              <a:buNone/>
            </a:pPr>
            <a:r>
              <a:rPr lang="en-IN" sz="1400" dirty="0"/>
              <a:t>    	</a:t>
            </a:r>
            <a:r>
              <a:rPr lang="en-IN" sz="1400" dirty="0" err="1"/>
              <a:t>boolean</a:t>
            </a:r>
            <a:r>
              <a:rPr lang="en-IN" sz="1400" dirty="0"/>
              <a:t> flag = </a:t>
            </a:r>
            <a:r>
              <a:rPr lang="en-IN" sz="1400" dirty="0" err="1"/>
              <a:t>myfile.setReadOnly</a:t>
            </a:r>
            <a:r>
              <a:rPr lang="en-IN" sz="1400" dirty="0"/>
              <a:t>();	</a:t>
            </a:r>
          </a:p>
          <a:p>
            <a:pPr marL="0" indent="0">
              <a:buNone/>
            </a:pPr>
            <a:r>
              <a:rPr lang="en-IN" sz="1400" dirty="0"/>
              <a:t>    	if (flag==true)</a:t>
            </a:r>
          </a:p>
          <a:p>
            <a:pPr marL="0" indent="0">
              <a:buNone/>
            </a:pPr>
            <a:r>
              <a:rPr lang="en-IN" sz="1400" dirty="0"/>
              <a:t>    	{</a:t>
            </a:r>
          </a:p>
          <a:p>
            <a:pPr marL="0" indent="0">
              <a:buNone/>
            </a:pPr>
            <a:r>
              <a:rPr lang="en-IN" sz="1400" dirty="0"/>
              <a:t>    	   </a:t>
            </a:r>
            <a:r>
              <a:rPr lang="en-IN" sz="1400" dirty="0" err="1"/>
              <a:t>System.out.println</a:t>
            </a:r>
            <a:r>
              <a:rPr lang="en-IN" sz="1400" dirty="0"/>
              <a:t>("File successfully converted to Read only mode!!");</a:t>
            </a:r>
          </a:p>
          <a:p>
            <a:pPr marL="0" indent="0">
              <a:buNone/>
            </a:pPr>
            <a:r>
              <a:rPr lang="en-IN" sz="1400" dirty="0"/>
              <a:t>    	}</a:t>
            </a:r>
          </a:p>
          <a:p>
            <a:pPr marL="0" indent="0">
              <a:buNone/>
            </a:pPr>
            <a:r>
              <a:rPr lang="en-IN" sz="1400" dirty="0"/>
              <a:t>    	else</a:t>
            </a:r>
          </a:p>
          <a:p>
            <a:pPr marL="0" indent="0">
              <a:buNone/>
            </a:pPr>
            <a:r>
              <a:rPr lang="en-IN" sz="1400" dirty="0"/>
              <a:t>    	{</a:t>
            </a:r>
          </a:p>
          <a:p>
            <a:pPr marL="0" indent="0">
              <a:buNone/>
            </a:pPr>
            <a:r>
              <a:rPr lang="en-IN" sz="1400" dirty="0"/>
              <a:t>    	   </a:t>
            </a:r>
            <a:r>
              <a:rPr lang="en-IN" sz="1400" dirty="0" err="1"/>
              <a:t>System.out.println</a:t>
            </a:r>
            <a:r>
              <a:rPr lang="en-IN" sz="1400" dirty="0"/>
              <a:t>("Unsuccessful Operation!!");</a:t>
            </a:r>
          </a:p>
          <a:p>
            <a:pPr marL="0" indent="0">
              <a:buNone/>
            </a:pPr>
            <a:r>
              <a:rPr lang="en-IN" sz="1400" dirty="0"/>
              <a:t>    	}</a:t>
            </a:r>
          </a:p>
          <a:p>
            <a:pPr marL="0" indent="0">
              <a:buNone/>
            </a:pPr>
            <a:r>
              <a:rPr lang="en-IN" sz="1400" dirty="0"/>
              <a:t>    }</a:t>
            </a:r>
          </a:p>
          <a:p>
            <a:pPr marL="0" indent="0">
              <a:buNone/>
            </a:pPr>
            <a:r>
              <a:rPr lang="en-IN" sz="1400" dirty="0"/>
              <a:t>}</a:t>
            </a:r>
          </a:p>
        </p:txBody>
      </p:sp>
    </p:spTree>
    <p:extLst>
      <p:ext uri="{BB962C8B-B14F-4D97-AF65-F5344CB8AC3E}">
        <p14:creationId xmlns:p14="http://schemas.microsoft.com/office/powerpoint/2010/main" val="3758435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check if a File is hidden in Java</a:t>
            </a:r>
            <a:br>
              <a:rPr lang="en-IN" dirty="0"/>
            </a:br>
            <a:endParaRPr lang="en-IN" dirty="0"/>
          </a:p>
        </p:txBody>
      </p:sp>
      <p:sp>
        <p:nvSpPr>
          <p:cNvPr id="3" name="Content Placeholder 2"/>
          <p:cNvSpPr>
            <a:spLocks noGrp="1"/>
          </p:cNvSpPr>
          <p:nvPr>
            <p:ph idx="1"/>
          </p:nvPr>
        </p:nvSpPr>
        <p:spPr/>
        <p:txBody>
          <a:bodyPr/>
          <a:lstStyle/>
          <a:p>
            <a:pPr marL="0" indent="0">
              <a:buNone/>
            </a:pPr>
            <a:r>
              <a:rPr lang="en-IN" sz="1400" dirty="0"/>
              <a:t>import </a:t>
            </a:r>
            <a:r>
              <a:rPr lang="en-IN" sz="1400" dirty="0" err="1"/>
              <a:t>java.io.File</a:t>
            </a:r>
            <a:r>
              <a:rPr lang="en-IN" sz="1400" dirty="0"/>
              <a:t>;</a:t>
            </a:r>
          </a:p>
          <a:p>
            <a:pPr marL="0" indent="0">
              <a:buNone/>
            </a:pPr>
            <a:r>
              <a:rPr lang="en-IN" sz="1400" dirty="0"/>
              <a:t>import </a:t>
            </a:r>
            <a:r>
              <a:rPr lang="en-IN" sz="1400" dirty="0" err="1"/>
              <a:t>java.io.IOException</a:t>
            </a:r>
            <a:r>
              <a:rPr lang="en-IN" sz="1400" dirty="0"/>
              <a:t>;</a:t>
            </a:r>
          </a:p>
          <a:p>
            <a:pPr marL="0" indent="0">
              <a:buNone/>
            </a:pPr>
            <a:r>
              <a:rPr lang="en-IN" sz="1400" dirty="0"/>
              <a:t> </a:t>
            </a:r>
          </a:p>
          <a:p>
            <a:pPr marL="0" indent="0">
              <a:buNone/>
            </a:pPr>
            <a:r>
              <a:rPr lang="en-IN" sz="1400" dirty="0"/>
              <a:t>public class </a:t>
            </a:r>
            <a:r>
              <a:rPr lang="en-IN" sz="1400" dirty="0" err="1"/>
              <a:t>HiddenPropertyCheck</a:t>
            </a:r>
            <a:endParaRPr lang="en-IN" sz="1400" dirty="0"/>
          </a:p>
          <a:p>
            <a:pPr marL="0" indent="0">
              <a:buNone/>
            </a:pPr>
            <a:r>
              <a:rPr lang="en-IN" sz="1400" dirty="0"/>
              <a:t>{</a:t>
            </a:r>
          </a:p>
          <a:p>
            <a:pPr marL="0" indent="0">
              <a:buNone/>
            </a:pPr>
            <a:r>
              <a:rPr lang="en-IN" sz="1400" dirty="0"/>
              <a:t> </a:t>
            </a:r>
          </a:p>
          <a:p>
            <a:pPr marL="0" indent="0">
              <a:buNone/>
            </a:pPr>
            <a:r>
              <a:rPr lang="en-IN" sz="1400" dirty="0"/>
              <a:t>    public static void main(String[] </a:t>
            </a:r>
            <a:r>
              <a:rPr lang="en-IN" sz="1400" dirty="0" err="1"/>
              <a:t>args</a:t>
            </a:r>
            <a:r>
              <a:rPr lang="en-IN" sz="1400" dirty="0"/>
              <a:t>) throws </a:t>
            </a:r>
            <a:r>
              <a:rPr lang="en-IN" sz="1400" dirty="0" err="1"/>
              <a:t>IOException</a:t>
            </a:r>
            <a:r>
              <a:rPr lang="en-IN" sz="1400" dirty="0"/>
              <a:t>, </a:t>
            </a:r>
            <a:r>
              <a:rPr lang="en-IN" sz="1400" dirty="0" err="1"/>
              <a:t>SecurityException</a:t>
            </a:r>
            <a:endParaRPr lang="en-IN" sz="1400" dirty="0"/>
          </a:p>
          <a:p>
            <a:pPr marL="0" indent="0">
              <a:buNone/>
            </a:pPr>
            <a:r>
              <a:rPr lang="en-IN" sz="1400" dirty="0"/>
              <a:t>    {	</a:t>
            </a:r>
          </a:p>
          <a:p>
            <a:pPr marL="0" indent="0">
              <a:buNone/>
            </a:pPr>
            <a:r>
              <a:rPr lang="en-IN" sz="1400" dirty="0"/>
              <a:t>    	// Provide the complete file path here</a:t>
            </a:r>
          </a:p>
          <a:p>
            <a:pPr marL="0" indent="0">
              <a:buNone/>
            </a:pPr>
            <a:r>
              <a:rPr lang="en-IN" sz="1400" dirty="0"/>
              <a:t>    	File </a:t>
            </a:r>
            <a:r>
              <a:rPr lang="en-IN" sz="1400" dirty="0" err="1"/>
              <a:t>file</a:t>
            </a:r>
            <a:r>
              <a:rPr lang="en-IN" sz="1400" dirty="0"/>
              <a:t> = new File("c:/myfile.txt");</a:t>
            </a:r>
          </a:p>
          <a:p>
            <a:pPr marL="0" indent="0">
              <a:buNone/>
            </a:pPr>
            <a:r>
              <a:rPr lang="en-IN" sz="1400" dirty="0"/>
              <a:t> </a:t>
            </a:r>
          </a:p>
          <a:p>
            <a:pPr marL="0" indent="0">
              <a:buNone/>
            </a:pPr>
            <a:r>
              <a:rPr lang="en-IN" sz="1400" dirty="0"/>
              <a:t>    	if(</a:t>
            </a:r>
            <a:r>
              <a:rPr lang="en-IN" sz="1400" dirty="0" err="1"/>
              <a:t>file.isHidden</a:t>
            </a:r>
            <a:r>
              <a:rPr lang="en-IN" sz="1400" dirty="0"/>
              <a:t>()){</a:t>
            </a:r>
          </a:p>
          <a:p>
            <a:pPr marL="0" indent="0">
              <a:buNone/>
            </a:pPr>
            <a:r>
              <a:rPr lang="en-IN" sz="1400" dirty="0"/>
              <a:t>    		</a:t>
            </a:r>
            <a:r>
              <a:rPr lang="en-IN" sz="1400" dirty="0" err="1"/>
              <a:t>System.out.println</a:t>
            </a:r>
            <a:r>
              <a:rPr lang="en-IN" sz="1400" dirty="0"/>
              <a:t>("The specified file is hidden");</a:t>
            </a:r>
          </a:p>
          <a:p>
            <a:pPr marL="0" indent="0">
              <a:buNone/>
            </a:pPr>
            <a:r>
              <a:rPr lang="en-IN" sz="1400" dirty="0"/>
              <a:t>    	}else{</a:t>
            </a:r>
          </a:p>
          <a:p>
            <a:pPr marL="0" indent="0">
              <a:buNone/>
            </a:pPr>
            <a:r>
              <a:rPr lang="en-IN" sz="1400" dirty="0"/>
              <a:t>    		</a:t>
            </a:r>
            <a:r>
              <a:rPr lang="en-IN" sz="1400" dirty="0" err="1"/>
              <a:t>System.out.println</a:t>
            </a:r>
            <a:r>
              <a:rPr lang="en-IN" sz="1400" dirty="0"/>
              <a:t>("The specified file is not hidden");</a:t>
            </a:r>
          </a:p>
          <a:p>
            <a:pPr marL="0" indent="0">
              <a:buNone/>
            </a:pPr>
            <a:r>
              <a:rPr lang="en-IN" sz="1400" dirty="0"/>
              <a:t>    	}</a:t>
            </a:r>
          </a:p>
          <a:p>
            <a:pPr marL="0" indent="0">
              <a:buNone/>
            </a:pPr>
            <a:r>
              <a:rPr lang="en-IN" sz="1400" dirty="0"/>
              <a:t>    }</a:t>
            </a:r>
          </a:p>
          <a:p>
            <a:pPr marL="0" indent="0">
              <a:buNone/>
            </a:pPr>
            <a:r>
              <a:rPr lang="en-IN" sz="1400" dirty="0"/>
              <a:t>}</a:t>
            </a:r>
          </a:p>
        </p:txBody>
      </p:sp>
    </p:spTree>
    <p:extLst>
      <p:ext uri="{BB962C8B-B14F-4D97-AF65-F5344CB8AC3E}">
        <p14:creationId xmlns:p14="http://schemas.microsoft.com/office/powerpoint/2010/main" val="1621800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01632" y="1407353"/>
            <a:ext cx="7988300" cy="1451757"/>
          </a:xfrm>
        </p:spPr>
        <p:txBody>
          <a:bodyPr/>
          <a:lstStyle/>
          <a:p>
            <a:pPr algn="ctr"/>
            <a:r>
              <a:rPr lang="en-US" dirty="0"/>
              <a:t>Java &amp; JEE Training</a:t>
            </a:r>
            <a:br>
              <a:rPr lang="en-US" dirty="0"/>
            </a:br>
            <a:br>
              <a:rPr lang="en-US" dirty="0"/>
            </a:br>
            <a:r>
              <a:rPr lang="en-US" sz="2000" dirty="0"/>
              <a:t>JDBC – Java Database Connectivity</a:t>
            </a:r>
            <a:endParaRPr lang="en-US" dirty="0"/>
          </a:p>
        </p:txBody>
      </p:sp>
      <p:sp>
        <p:nvSpPr>
          <p:cNvPr id="4" name="Title 2"/>
          <p:cNvSpPr txBox="1">
            <a:spLocks/>
          </p:cNvSpPr>
          <p:nvPr/>
        </p:nvSpPr>
        <p:spPr bwMode="auto">
          <a:xfrm>
            <a:off x="601632" y="3392183"/>
            <a:ext cx="7988300" cy="12350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0" cap="none" spc="0" normalizeH="0" baseline="0" noProof="0" dirty="0">
              <a:ln>
                <a:noFill/>
              </a:ln>
              <a:solidFill>
                <a:schemeClr val="bg1"/>
              </a:solidFill>
              <a:effectLst/>
              <a:uLnTx/>
              <a:uFillTx/>
              <a:latin typeface="+mj-lt"/>
              <a:ea typeface="+mj-ea"/>
              <a:cs typeface="+mj-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chemeClr val="bg1"/>
                </a:solidFill>
                <a:effectLst/>
                <a:uLnTx/>
                <a:uFillTx/>
                <a:latin typeface="+mj-lt"/>
                <a:ea typeface="+mj-ea"/>
                <a:cs typeface="+mj-cs"/>
              </a:rPr>
              <a:t>MindsMapped Consulting</a:t>
            </a:r>
          </a:p>
        </p:txBody>
      </p:sp>
    </p:spTree>
    <p:extLst>
      <p:ext uri="{BB962C8B-B14F-4D97-AF65-F5344CB8AC3E}">
        <p14:creationId xmlns:p14="http://schemas.microsoft.com/office/powerpoint/2010/main" val="25487581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3" name="Content Placeholder 2"/>
          <p:cNvSpPr>
            <a:spLocks noGrp="1"/>
          </p:cNvSpPr>
          <p:nvPr>
            <p:ph idx="1"/>
          </p:nvPr>
        </p:nvSpPr>
        <p:spPr/>
        <p:txBody>
          <a:bodyPr/>
          <a:lstStyle/>
          <a:p>
            <a:r>
              <a:rPr lang="en-US" altLang="en-US" sz="2400" dirty="0">
                <a:solidFill>
                  <a:srgbClr val="000000"/>
                </a:solidFill>
                <a:latin typeface="Times New Roman" panose="02020603050405020304" pitchFamily="18" charset="0"/>
              </a:rPr>
              <a:t>Data stored in variables and arrays is temporary</a:t>
            </a:r>
          </a:p>
          <a:p>
            <a:pPr lvl="1"/>
            <a:r>
              <a:rPr lang="en-US" altLang="en-US" sz="2400" dirty="0">
                <a:solidFill>
                  <a:srgbClr val="000000"/>
                </a:solidFill>
                <a:latin typeface="Times New Roman" panose="02020603050405020304" pitchFamily="18" charset="0"/>
              </a:rPr>
              <a:t>It’s lost when a local variable goes out of scope or when the program terminates</a:t>
            </a:r>
          </a:p>
          <a:p>
            <a:r>
              <a:rPr lang="en-US" altLang="en-US" sz="2400" dirty="0">
                <a:solidFill>
                  <a:srgbClr val="000000"/>
                </a:solidFill>
                <a:latin typeface="Times New Roman" panose="02020603050405020304" pitchFamily="18" charset="0"/>
              </a:rPr>
              <a:t>For long-term retention of  data, computers use </a:t>
            </a:r>
            <a:r>
              <a:rPr lang="en-US" altLang="en-US" sz="2400" b="1" dirty="0">
                <a:solidFill>
                  <a:srgbClr val="0000FF"/>
                </a:solidFill>
                <a:latin typeface="Times New Roman" panose="02020603050405020304" pitchFamily="18" charset="0"/>
              </a:rPr>
              <a:t>files</a:t>
            </a:r>
            <a:r>
              <a:rPr lang="en-US" altLang="en-US" sz="2400" b="1" dirty="0">
                <a:solidFill>
                  <a:srgbClr val="000000"/>
                </a:solidFill>
                <a:latin typeface="Times New Roman" panose="02020603050405020304" pitchFamily="18" charset="0"/>
              </a:rPr>
              <a:t>. </a:t>
            </a:r>
          </a:p>
          <a:p>
            <a:r>
              <a:rPr lang="en-US" altLang="en-US" sz="2400" dirty="0">
                <a:solidFill>
                  <a:srgbClr val="000000"/>
                </a:solidFill>
                <a:latin typeface="Times New Roman" panose="02020603050405020304" pitchFamily="18" charset="0"/>
              </a:rPr>
              <a:t>Computers store files on </a:t>
            </a:r>
            <a:r>
              <a:rPr lang="en-US" altLang="en-US" sz="2400" b="1" dirty="0">
                <a:solidFill>
                  <a:srgbClr val="0000FF"/>
                </a:solidFill>
                <a:latin typeface="Times New Roman" panose="02020603050405020304" pitchFamily="18" charset="0"/>
              </a:rPr>
              <a:t>secondary storage devices</a:t>
            </a:r>
            <a:r>
              <a:rPr lang="en-US" altLang="en-US" sz="2400" b="1" dirty="0">
                <a:solidFill>
                  <a:srgbClr val="000000"/>
                </a:solidFill>
                <a:latin typeface="Times New Roman" panose="02020603050405020304" pitchFamily="18" charset="0"/>
              </a:rPr>
              <a:t> </a:t>
            </a:r>
            <a:endParaRPr lang="en-US" altLang="en-US" sz="2400" dirty="0">
              <a:solidFill>
                <a:srgbClr val="000000"/>
              </a:solidFill>
              <a:latin typeface="Times New Roman" panose="02020603050405020304" pitchFamily="18" charset="0"/>
            </a:endParaRPr>
          </a:p>
          <a:p>
            <a:pPr lvl="1"/>
            <a:r>
              <a:rPr lang="en-US" altLang="en-US" sz="2400" dirty="0">
                <a:solidFill>
                  <a:srgbClr val="000000"/>
                </a:solidFill>
                <a:latin typeface="Times New Roman" panose="02020603050405020304" pitchFamily="18" charset="0"/>
              </a:rPr>
              <a:t>hard disks, optical disks, flash drives and magnetic tapes. </a:t>
            </a:r>
          </a:p>
          <a:p>
            <a:r>
              <a:rPr lang="en-US" altLang="en-US" sz="2400" dirty="0">
                <a:solidFill>
                  <a:srgbClr val="000000"/>
                </a:solidFill>
                <a:latin typeface="Times New Roman" panose="02020603050405020304" pitchFamily="18" charset="0"/>
              </a:rPr>
              <a:t>Data maintained in files is </a:t>
            </a:r>
            <a:r>
              <a:rPr lang="en-US" altLang="en-US" sz="2400" b="1" dirty="0">
                <a:solidFill>
                  <a:srgbClr val="0000FF"/>
                </a:solidFill>
                <a:latin typeface="Times New Roman" panose="02020603050405020304" pitchFamily="18" charset="0"/>
              </a:rPr>
              <a:t>persistent data</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because it exists beyond the duration of program execution. </a:t>
            </a:r>
          </a:p>
          <a:p>
            <a:endParaRPr lang="en-IN" sz="2400" dirty="0"/>
          </a:p>
        </p:txBody>
      </p:sp>
    </p:spTree>
    <p:extLst>
      <p:ext uri="{BB962C8B-B14F-4D97-AF65-F5344CB8AC3E}">
        <p14:creationId xmlns:p14="http://schemas.microsoft.com/office/powerpoint/2010/main" val="3713434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Hierarchy</a:t>
            </a:r>
          </a:p>
        </p:txBody>
      </p:sp>
      <p:pic>
        <p:nvPicPr>
          <p:cNvPr id="4" name="Content Placeholder 3"/>
          <p:cNvPicPr>
            <a:picLocks noGrp="1" noChangeAspect="1"/>
          </p:cNvPicPr>
          <p:nvPr>
            <p:ph idx="1"/>
          </p:nvPr>
        </p:nvPicPr>
        <p:blipFill>
          <a:blip r:embed="rId2"/>
          <a:stretch>
            <a:fillRect/>
          </a:stretch>
        </p:blipFill>
        <p:spPr>
          <a:xfrm>
            <a:off x="1113787" y="1156289"/>
            <a:ext cx="6946587" cy="5351786"/>
          </a:xfrm>
          <a:prstGeom prst="rect">
            <a:avLst/>
          </a:prstGeom>
        </p:spPr>
      </p:pic>
    </p:spTree>
    <p:extLst>
      <p:ext uri="{BB962C8B-B14F-4D97-AF65-F5344CB8AC3E}">
        <p14:creationId xmlns:p14="http://schemas.microsoft.com/office/powerpoint/2010/main" val="292574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Databases</a:t>
            </a:r>
          </a:p>
        </p:txBody>
      </p:sp>
      <p:sp>
        <p:nvSpPr>
          <p:cNvPr id="3" name="Content Placeholder 2"/>
          <p:cNvSpPr>
            <a:spLocks noGrp="1"/>
          </p:cNvSpPr>
          <p:nvPr>
            <p:ph idx="1"/>
          </p:nvPr>
        </p:nvSpPr>
        <p:spPr/>
        <p:txBody>
          <a:bodyPr/>
          <a:lstStyle/>
          <a:p>
            <a:r>
              <a:rPr lang="en-US" altLang="en-US" sz="2000" dirty="0">
                <a:solidFill>
                  <a:srgbClr val="000000"/>
                </a:solidFill>
                <a:latin typeface="Times New Roman" panose="02020603050405020304" pitchFamily="18" charset="0"/>
              </a:rPr>
              <a:t>There are many ways to organize records in a file. The most common is called a </a:t>
            </a:r>
            <a:r>
              <a:rPr lang="en-US" altLang="en-US" sz="2000" b="1" dirty="0">
                <a:solidFill>
                  <a:srgbClr val="0000FF"/>
                </a:solidFill>
                <a:latin typeface="Times New Roman" panose="02020603050405020304" pitchFamily="18" charset="0"/>
              </a:rPr>
              <a:t>sequential file</a:t>
            </a:r>
            <a:r>
              <a:rPr lang="en-US" altLang="en-US" sz="2000" dirty="0">
                <a:solidFill>
                  <a:srgbClr val="000000"/>
                </a:solidFill>
                <a:latin typeface="Times New Roman" panose="02020603050405020304" pitchFamily="18" charset="0"/>
              </a:rPr>
              <a:t>, in which records are stored in order by the record-key field.</a:t>
            </a:r>
            <a:r>
              <a:rPr lang="en-US" altLang="en-US" sz="2000" b="1" dirty="0">
                <a:solidFill>
                  <a:srgbClr val="000000"/>
                </a:solidFill>
                <a:latin typeface="Times New Roman" panose="02020603050405020304" pitchFamily="18" charset="0"/>
              </a:rPr>
              <a:t> </a:t>
            </a:r>
          </a:p>
          <a:p>
            <a:r>
              <a:rPr lang="en-US" altLang="en-US" sz="2000" dirty="0">
                <a:solidFill>
                  <a:srgbClr val="000000"/>
                </a:solidFill>
                <a:latin typeface="Times New Roman" panose="02020603050405020304" pitchFamily="18" charset="0"/>
              </a:rPr>
              <a:t>A group of related files is called a </a:t>
            </a:r>
            <a:r>
              <a:rPr lang="en-US" altLang="en-US" sz="2000" b="1" dirty="0">
                <a:solidFill>
                  <a:srgbClr val="0000FF"/>
                </a:solidFill>
                <a:latin typeface="Times New Roman" panose="02020603050405020304" pitchFamily="18" charset="0"/>
              </a:rPr>
              <a:t>database</a:t>
            </a:r>
            <a:r>
              <a:rPr lang="en-US" altLang="en-US" sz="2000" b="1" i="1" dirty="0">
                <a:solidFill>
                  <a:srgbClr val="000000"/>
                </a:solidFill>
                <a:latin typeface="Times New Roman" panose="02020603050405020304" pitchFamily="18" charset="0"/>
              </a:rPr>
              <a:t>. </a:t>
            </a:r>
          </a:p>
          <a:p>
            <a:r>
              <a:rPr lang="en-US" altLang="en-US" sz="2000" dirty="0">
                <a:solidFill>
                  <a:srgbClr val="000000"/>
                </a:solidFill>
                <a:latin typeface="Times New Roman" panose="02020603050405020304" pitchFamily="18" charset="0"/>
              </a:rPr>
              <a:t>A collection of programs designed to create and manage databases is called a </a:t>
            </a:r>
            <a:r>
              <a:rPr lang="en-US" altLang="en-US" sz="2000" b="1" dirty="0">
                <a:solidFill>
                  <a:srgbClr val="0000FF"/>
                </a:solidFill>
                <a:latin typeface="Times New Roman" panose="02020603050405020304" pitchFamily="18" charset="0"/>
              </a:rPr>
              <a:t>database management system (DBMS)</a:t>
            </a:r>
            <a:r>
              <a:rPr lang="en-US" altLang="en-US" sz="2000" b="1" dirty="0">
                <a:solidFill>
                  <a:srgbClr val="000000"/>
                </a:solidFill>
                <a:latin typeface="Times New Roman" panose="02020603050405020304" pitchFamily="18" charset="0"/>
              </a:rPr>
              <a:t>. </a:t>
            </a:r>
          </a:p>
          <a:p>
            <a:endParaRPr lang="en-IN" sz="2000" dirty="0"/>
          </a:p>
        </p:txBody>
      </p:sp>
    </p:spTree>
    <p:extLst>
      <p:ext uri="{BB962C8B-B14F-4D97-AF65-F5344CB8AC3E}">
        <p14:creationId xmlns:p14="http://schemas.microsoft.com/office/powerpoint/2010/main" val="641156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JDBC – Java Database Connectivity</a:t>
            </a:r>
          </a:p>
        </p:txBody>
      </p:sp>
      <p:sp>
        <p:nvSpPr>
          <p:cNvPr id="3" name="Content Placeholder 2"/>
          <p:cNvSpPr>
            <a:spLocks noGrp="1"/>
          </p:cNvSpPr>
          <p:nvPr>
            <p:ph idx="1"/>
          </p:nvPr>
        </p:nvSpPr>
        <p:spPr/>
        <p:txBody>
          <a:bodyPr/>
          <a:lstStyle/>
          <a:p>
            <a:r>
              <a:rPr lang="en-IN" dirty="0"/>
              <a:t>Java JDBC is a Java API to connect and execute query with the database. JDBC API uses JDBC drivers to connect with the database. </a:t>
            </a:r>
          </a:p>
          <a:p>
            <a:r>
              <a:rPr lang="en-IN" dirty="0"/>
              <a:t>Before JDBC, </a:t>
            </a:r>
            <a:r>
              <a:rPr lang="en-IN" b="1" dirty="0"/>
              <a:t>ODBC API </a:t>
            </a:r>
            <a:r>
              <a:rPr lang="en-IN" dirty="0"/>
              <a:t>was the database API to connect and execute query with the database. But, ODBC API uses ODBC driver which is written in C language (i.e. platform dependent and unsecured). That is why Java has defined its own API (JDBC API) that uses JDBC drivers (written in Java language).</a:t>
            </a:r>
          </a:p>
        </p:txBody>
      </p:sp>
      <p:pic>
        <p:nvPicPr>
          <p:cNvPr id="4" name="Picture 3"/>
          <p:cNvPicPr>
            <a:picLocks noChangeAspect="1"/>
          </p:cNvPicPr>
          <p:nvPr/>
        </p:nvPicPr>
        <p:blipFill>
          <a:blip r:embed="rId2"/>
          <a:stretch>
            <a:fillRect/>
          </a:stretch>
        </p:blipFill>
        <p:spPr>
          <a:xfrm>
            <a:off x="1505594" y="3453150"/>
            <a:ext cx="6162973" cy="2896134"/>
          </a:xfrm>
          <a:prstGeom prst="rect">
            <a:avLst/>
          </a:prstGeom>
        </p:spPr>
      </p:pic>
    </p:spTree>
    <p:extLst>
      <p:ext uri="{BB962C8B-B14F-4D97-AF65-F5344CB8AC3E}">
        <p14:creationId xmlns:p14="http://schemas.microsoft.com/office/powerpoint/2010/main" val="2422283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JDBC Driver</a:t>
            </a:r>
          </a:p>
        </p:txBody>
      </p:sp>
      <p:sp>
        <p:nvSpPr>
          <p:cNvPr id="3" name="Content Placeholder 2"/>
          <p:cNvSpPr>
            <a:spLocks noGrp="1"/>
          </p:cNvSpPr>
          <p:nvPr>
            <p:ph idx="1"/>
          </p:nvPr>
        </p:nvSpPr>
        <p:spPr/>
        <p:txBody>
          <a:bodyPr/>
          <a:lstStyle/>
          <a:p>
            <a:r>
              <a:rPr lang="en-IN" dirty="0"/>
              <a:t>JDBC Driver is a software component that enables java application to interact with the database.</a:t>
            </a:r>
          </a:p>
          <a:p>
            <a:endParaRPr lang="en-IN" dirty="0"/>
          </a:p>
        </p:txBody>
      </p:sp>
    </p:spTree>
    <p:extLst>
      <p:ext uri="{BB962C8B-B14F-4D97-AF65-F5344CB8AC3E}">
        <p14:creationId xmlns:p14="http://schemas.microsoft.com/office/powerpoint/2010/main" val="2129657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5 Steps to connect to the database in java</a:t>
            </a:r>
          </a:p>
        </p:txBody>
      </p:sp>
      <p:sp>
        <p:nvSpPr>
          <p:cNvPr id="3" name="Content Placeholder 2"/>
          <p:cNvSpPr>
            <a:spLocks noGrp="1"/>
          </p:cNvSpPr>
          <p:nvPr>
            <p:ph idx="1"/>
          </p:nvPr>
        </p:nvSpPr>
        <p:spPr/>
        <p:txBody>
          <a:bodyPr/>
          <a:lstStyle/>
          <a:p>
            <a:pPr marL="342900" indent="-342900">
              <a:buFont typeface="+mj-lt"/>
              <a:buAutoNum type="arabicPeriod"/>
            </a:pPr>
            <a:r>
              <a:rPr lang="en-IN" dirty="0"/>
              <a:t>Register the driver class</a:t>
            </a:r>
          </a:p>
          <a:p>
            <a:pPr marL="342900" indent="-342900">
              <a:buFont typeface="+mj-lt"/>
              <a:buAutoNum type="arabicPeriod"/>
            </a:pPr>
            <a:r>
              <a:rPr lang="en-IN" dirty="0"/>
              <a:t>Creating connection</a:t>
            </a:r>
          </a:p>
          <a:p>
            <a:pPr marL="342900" indent="-342900">
              <a:buFont typeface="+mj-lt"/>
              <a:buAutoNum type="arabicPeriod"/>
            </a:pPr>
            <a:r>
              <a:rPr lang="en-IN" dirty="0"/>
              <a:t>Creating statement</a:t>
            </a:r>
          </a:p>
          <a:p>
            <a:pPr marL="342900" indent="-342900">
              <a:buFont typeface="+mj-lt"/>
              <a:buAutoNum type="arabicPeriod"/>
            </a:pPr>
            <a:r>
              <a:rPr lang="en-IN" dirty="0"/>
              <a:t>Executing queries</a:t>
            </a:r>
          </a:p>
          <a:p>
            <a:pPr marL="342900" indent="-342900">
              <a:buFont typeface="+mj-lt"/>
              <a:buAutoNum type="arabicPeriod"/>
            </a:pPr>
            <a:r>
              <a:rPr lang="en-IN" dirty="0"/>
              <a:t>Closing connection</a:t>
            </a:r>
          </a:p>
          <a:p>
            <a:endParaRPr lang="en-IN" dirty="0"/>
          </a:p>
        </p:txBody>
      </p:sp>
    </p:spTree>
    <p:extLst>
      <p:ext uri="{BB962C8B-B14F-4D97-AF65-F5344CB8AC3E}">
        <p14:creationId xmlns:p14="http://schemas.microsoft.com/office/powerpoint/2010/main" val="1670729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5 Steps to connect to the database in java</a:t>
            </a:r>
          </a:p>
        </p:txBody>
      </p:sp>
      <p:sp>
        <p:nvSpPr>
          <p:cNvPr id="3" name="Content Placeholder 2"/>
          <p:cNvSpPr>
            <a:spLocks noGrp="1"/>
          </p:cNvSpPr>
          <p:nvPr>
            <p:ph idx="1"/>
          </p:nvPr>
        </p:nvSpPr>
        <p:spPr>
          <a:xfrm>
            <a:off x="574674" y="1151049"/>
            <a:ext cx="8024813" cy="4567170"/>
          </a:xfrm>
        </p:spPr>
        <p:txBody>
          <a:bodyPr/>
          <a:lstStyle/>
          <a:p>
            <a:pPr marL="342900" indent="-342900">
              <a:buFont typeface="+mj-lt"/>
              <a:buAutoNum type="arabicPeriod"/>
            </a:pPr>
            <a:r>
              <a:rPr lang="en-IN" dirty="0"/>
              <a:t>Register the driver class </a:t>
            </a:r>
          </a:p>
          <a:p>
            <a:pPr marL="357188" lvl="1" indent="0">
              <a:buNone/>
            </a:pPr>
            <a:r>
              <a:rPr lang="en-IN" sz="1400" dirty="0" err="1">
                <a:latin typeface="Courier New" panose="02070309020205020404" pitchFamily="49" charset="0"/>
                <a:cs typeface="Courier New" panose="02070309020205020404" pitchFamily="49" charset="0"/>
              </a:rPr>
              <a:t>Class.forName</a:t>
            </a: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oracle.jdbc.driver.OracleDriver</a:t>
            </a:r>
            <a:r>
              <a:rPr lang="en-IN" sz="1400" dirty="0">
                <a:latin typeface="Courier New" panose="02070309020205020404" pitchFamily="49" charset="0"/>
                <a:cs typeface="Courier New" panose="02070309020205020404" pitchFamily="49" charset="0"/>
              </a:rPr>
              <a:t>")</a:t>
            </a:r>
            <a:endParaRPr lang="en-IN" dirty="0">
              <a:latin typeface="Courier New" panose="02070309020205020404" pitchFamily="49" charset="0"/>
              <a:cs typeface="Courier New" panose="02070309020205020404" pitchFamily="49" charset="0"/>
            </a:endParaRPr>
          </a:p>
          <a:p>
            <a:pPr marL="0" indent="0">
              <a:buNone/>
            </a:pPr>
            <a:r>
              <a:rPr lang="en-IN" dirty="0"/>
              <a:t>     (throws </a:t>
            </a:r>
            <a:r>
              <a:rPr lang="en-IN" dirty="0" err="1"/>
              <a:t>ClassNotFoundException</a:t>
            </a:r>
            <a:r>
              <a:rPr lang="en-IN" dirty="0"/>
              <a:t>)</a:t>
            </a:r>
          </a:p>
          <a:p>
            <a:pPr marL="0" indent="0">
              <a:buNone/>
            </a:pPr>
            <a:r>
              <a:rPr lang="en-IN" dirty="0"/>
              <a:t>2. Creating connection – </a:t>
            </a:r>
          </a:p>
          <a:p>
            <a:pPr marL="357188" lvl="1" indent="0">
              <a:buNone/>
            </a:pPr>
            <a:r>
              <a:rPr lang="en-IN" sz="1400" dirty="0">
                <a:latin typeface="Courier New" panose="02070309020205020404" pitchFamily="49" charset="0"/>
                <a:cs typeface="Courier New" panose="02070309020205020404" pitchFamily="49" charset="0"/>
              </a:rPr>
              <a:t>Connection con=</a:t>
            </a:r>
            <a:r>
              <a:rPr lang="en-IN" sz="1400" dirty="0" err="1">
                <a:latin typeface="Courier New" panose="02070309020205020404" pitchFamily="49" charset="0"/>
                <a:cs typeface="Courier New" panose="02070309020205020404" pitchFamily="49" charset="0"/>
              </a:rPr>
              <a:t>DriverManager.getConnection</a:t>
            </a:r>
            <a:r>
              <a:rPr lang="en-IN" sz="1400" dirty="0">
                <a:latin typeface="Courier New" panose="02070309020205020404" pitchFamily="49" charset="0"/>
                <a:cs typeface="Courier New" panose="02070309020205020404" pitchFamily="49" charset="0"/>
              </a:rPr>
              <a:t>(  </a:t>
            </a:r>
          </a:p>
          <a:p>
            <a:pPr marL="357188" lvl="1" indent="0">
              <a:buNone/>
            </a:pP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jdbc:oracle:thin</a:t>
            </a:r>
            <a:r>
              <a:rPr lang="en-IN" sz="1400" dirty="0">
                <a:latin typeface="Courier New" panose="02070309020205020404" pitchFamily="49" charset="0"/>
                <a:cs typeface="Courier New" panose="02070309020205020404" pitchFamily="49" charset="0"/>
              </a:rPr>
              <a:t>:@localhost:1521:xe","system","password");</a:t>
            </a:r>
          </a:p>
          <a:p>
            <a:pPr marL="357188" lvl="1" indent="0">
              <a:buNone/>
            </a:pPr>
            <a:r>
              <a:rPr lang="en-IN" sz="1400" dirty="0">
                <a:latin typeface="Courier New" panose="02070309020205020404" pitchFamily="49" charset="0"/>
                <a:cs typeface="Courier New" panose="02070309020205020404" pitchFamily="49" charset="0"/>
              </a:rPr>
              <a:t>Connection con=</a:t>
            </a:r>
            <a:r>
              <a:rPr lang="en-IN" sz="1400" dirty="0" err="1">
                <a:latin typeface="Courier New" panose="02070309020205020404" pitchFamily="49" charset="0"/>
                <a:cs typeface="Courier New" panose="02070309020205020404" pitchFamily="49" charset="0"/>
              </a:rPr>
              <a:t>DriverManager.getConnection</a:t>
            </a:r>
            <a:r>
              <a:rPr lang="en-IN" sz="1400" dirty="0">
                <a:latin typeface="Courier New" panose="02070309020205020404" pitchFamily="49" charset="0"/>
                <a:cs typeface="Courier New" panose="02070309020205020404" pitchFamily="49" charset="0"/>
              </a:rPr>
              <a:t>(  </a:t>
            </a:r>
          </a:p>
          <a:p>
            <a:pPr marL="357188" lvl="1" indent="0">
              <a:buNone/>
            </a:pP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jdbc:oracle:thin</a:t>
            </a:r>
            <a:r>
              <a:rPr lang="en-IN" sz="1400" dirty="0">
                <a:latin typeface="Courier New" panose="02070309020205020404" pitchFamily="49" charset="0"/>
                <a:cs typeface="Courier New" panose="02070309020205020404" pitchFamily="49" charset="0"/>
              </a:rPr>
              <a:t>:@localhost:1521:xe"); </a:t>
            </a:r>
          </a:p>
          <a:p>
            <a:pPr marL="0" indent="0">
              <a:buNone/>
            </a:pPr>
            <a:r>
              <a:rPr lang="en-IN" dirty="0"/>
              <a:t>     (throws </a:t>
            </a:r>
            <a:r>
              <a:rPr lang="en-IN" dirty="0" err="1"/>
              <a:t>SQLException</a:t>
            </a:r>
            <a:r>
              <a:rPr lang="en-IN" dirty="0"/>
              <a:t>)</a:t>
            </a:r>
          </a:p>
          <a:p>
            <a:pPr marL="0" indent="0">
              <a:buNone/>
            </a:pPr>
            <a:r>
              <a:rPr lang="en-IN" dirty="0"/>
              <a:t>3. Creating statement: </a:t>
            </a:r>
          </a:p>
          <a:p>
            <a:pPr marL="357188" lvl="1" indent="0">
              <a:buNone/>
            </a:pPr>
            <a:r>
              <a:rPr lang="en-IN" sz="1400" dirty="0">
                <a:latin typeface="Courier New" panose="02070309020205020404" pitchFamily="49" charset="0"/>
                <a:cs typeface="Courier New" panose="02070309020205020404" pitchFamily="49" charset="0"/>
              </a:rPr>
              <a:t>Statement </a:t>
            </a:r>
            <a:r>
              <a:rPr lang="en-IN" sz="1400" dirty="0" err="1">
                <a:latin typeface="Courier New" panose="02070309020205020404" pitchFamily="49" charset="0"/>
                <a:cs typeface="Courier New" panose="02070309020205020404" pitchFamily="49" charset="0"/>
              </a:rPr>
              <a:t>stmt</a:t>
            </a: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con.createStatement</a:t>
            </a:r>
            <a:r>
              <a:rPr lang="en-IN" sz="1400" dirty="0">
                <a:latin typeface="Courier New" panose="02070309020205020404" pitchFamily="49" charset="0"/>
                <a:cs typeface="Courier New" panose="02070309020205020404" pitchFamily="49" charset="0"/>
              </a:rPr>
              <a:t>(); </a:t>
            </a:r>
          </a:p>
          <a:p>
            <a:pPr marL="357188" lvl="1" indent="0">
              <a:buNone/>
            </a:pPr>
            <a:r>
              <a:rPr lang="en-IN" sz="1400" dirty="0"/>
              <a:t> (throws </a:t>
            </a:r>
            <a:r>
              <a:rPr lang="en-IN" sz="1400" dirty="0" err="1"/>
              <a:t>SQLException</a:t>
            </a:r>
            <a:r>
              <a:rPr lang="en-IN" sz="1400" dirty="0"/>
              <a:t>)</a:t>
            </a:r>
            <a:endParaRPr lang="en-IN" sz="1400" dirty="0">
              <a:latin typeface="Courier New" panose="02070309020205020404" pitchFamily="49" charset="0"/>
              <a:cs typeface="Courier New" panose="02070309020205020404" pitchFamily="49" charset="0"/>
            </a:endParaRPr>
          </a:p>
          <a:p>
            <a:pPr marL="0" indent="0">
              <a:buNone/>
            </a:pPr>
            <a:r>
              <a:rPr lang="en-IN" dirty="0"/>
              <a:t>4. Executing queries</a:t>
            </a:r>
          </a:p>
          <a:p>
            <a:pPr marL="357188" lvl="1" indent="0">
              <a:buNone/>
            </a:pPr>
            <a:r>
              <a:rPr lang="en-IN" sz="1400" dirty="0" err="1">
                <a:latin typeface="Courier New" panose="02070309020205020404" pitchFamily="49" charset="0"/>
                <a:cs typeface="Courier New" panose="02070309020205020404" pitchFamily="49" charset="0"/>
              </a:rPr>
              <a:t>ResultSet</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rs</a:t>
            </a: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stmt.executeQuery</a:t>
            </a:r>
            <a:r>
              <a:rPr lang="en-IN" sz="1400" dirty="0">
                <a:latin typeface="Courier New" panose="02070309020205020404" pitchFamily="49" charset="0"/>
                <a:cs typeface="Courier New" panose="02070309020205020404" pitchFamily="49" charset="0"/>
              </a:rPr>
              <a:t>("select * from </a:t>
            </a:r>
            <a:r>
              <a:rPr lang="en-IN" sz="1400" dirty="0" err="1">
                <a:latin typeface="Courier New" panose="02070309020205020404" pitchFamily="49" charset="0"/>
                <a:cs typeface="Courier New" panose="02070309020205020404" pitchFamily="49" charset="0"/>
              </a:rPr>
              <a:t>emp</a:t>
            </a:r>
            <a:r>
              <a:rPr lang="en-IN" sz="1400" dirty="0">
                <a:latin typeface="Courier New" panose="02070309020205020404" pitchFamily="49" charset="0"/>
                <a:cs typeface="Courier New" panose="02070309020205020404" pitchFamily="49" charset="0"/>
              </a:rPr>
              <a:t>");   </a:t>
            </a:r>
          </a:p>
          <a:p>
            <a:pPr marL="357188" lvl="1" indent="0">
              <a:buNone/>
            </a:pPr>
            <a:r>
              <a:rPr lang="en-IN" sz="1400" dirty="0">
                <a:latin typeface="Courier New" panose="02070309020205020404" pitchFamily="49" charset="0"/>
                <a:cs typeface="Courier New" panose="02070309020205020404" pitchFamily="49" charset="0"/>
              </a:rPr>
              <a:t>while(</a:t>
            </a:r>
            <a:r>
              <a:rPr lang="en-IN" sz="1400" dirty="0" err="1">
                <a:latin typeface="Courier New" panose="02070309020205020404" pitchFamily="49" charset="0"/>
                <a:cs typeface="Courier New" panose="02070309020205020404" pitchFamily="49" charset="0"/>
              </a:rPr>
              <a:t>rs.next</a:t>
            </a:r>
            <a:r>
              <a:rPr lang="en-IN" sz="1400" dirty="0">
                <a:latin typeface="Courier New" panose="02070309020205020404" pitchFamily="49" charset="0"/>
                <a:cs typeface="Courier New" panose="02070309020205020404" pitchFamily="49" charset="0"/>
              </a:rPr>
              <a:t>()){  </a:t>
            </a:r>
          </a:p>
          <a:p>
            <a:pPr marL="357188" lvl="1"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System.out.println</a:t>
            </a: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rs.getInt</a:t>
            </a:r>
            <a:r>
              <a:rPr lang="en-IN" sz="1400" dirty="0">
                <a:latin typeface="Courier New" panose="02070309020205020404" pitchFamily="49" charset="0"/>
                <a:cs typeface="Courier New" panose="02070309020205020404" pitchFamily="49" charset="0"/>
              </a:rPr>
              <a:t>(1)+" "+</a:t>
            </a:r>
            <a:r>
              <a:rPr lang="en-IN" sz="1400" dirty="0" err="1">
                <a:latin typeface="Courier New" panose="02070309020205020404" pitchFamily="49" charset="0"/>
                <a:cs typeface="Courier New" panose="02070309020205020404" pitchFamily="49" charset="0"/>
              </a:rPr>
              <a:t>rs.getString</a:t>
            </a:r>
            <a:r>
              <a:rPr lang="en-IN" sz="1400" dirty="0">
                <a:latin typeface="Courier New" panose="02070309020205020404" pitchFamily="49" charset="0"/>
                <a:cs typeface="Courier New" panose="02070309020205020404" pitchFamily="49" charset="0"/>
              </a:rPr>
              <a:t>(2));  </a:t>
            </a:r>
          </a:p>
          <a:p>
            <a:pPr marL="357188" lvl="1" indent="0">
              <a:buNone/>
            </a:pPr>
            <a:r>
              <a:rPr lang="en-IN" sz="1400" dirty="0">
                <a:latin typeface="Courier New" panose="02070309020205020404" pitchFamily="49" charset="0"/>
                <a:cs typeface="Courier New" panose="02070309020205020404" pitchFamily="49" charset="0"/>
              </a:rPr>
              <a:t>} </a:t>
            </a:r>
          </a:p>
          <a:p>
            <a:pPr marL="357188" lvl="1" indent="0">
              <a:buNone/>
            </a:pPr>
            <a:r>
              <a:rPr lang="en-IN" sz="1400" dirty="0"/>
              <a:t> (throws </a:t>
            </a:r>
            <a:r>
              <a:rPr lang="en-IN" sz="1400" dirty="0" err="1"/>
              <a:t>SQLException</a:t>
            </a:r>
            <a:r>
              <a:rPr lang="en-IN" sz="1400" dirty="0"/>
              <a:t>)</a:t>
            </a:r>
            <a:endParaRPr lang="en-IN" sz="1400" dirty="0">
              <a:latin typeface="Courier New" panose="02070309020205020404" pitchFamily="49" charset="0"/>
              <a:cs typeface="Courier New" panose="02070309020205020404" pitchFamily="49" charset="0"/>
            </a:endParaRPr>
          </a:p>
          <a:p>
            <a:pPr marL="0" indent="0">
              <a:buNone/>
            </a:pPr>
            <a:r>
              <a:rPr lang="en-IN" dirty="0"/>
              <a:t>5. Closing connection</a:t>
            </a:r>
          </a:p>
          <a:p>
            <a:pPr marL="0" indent="0">
              <a:buNone/>
            </a:pPr>
            <a:r>
              <a:rPr lang="en-IN" dirty="0"/>
              <a:t>     </a:t>
            </a:r>
            <a:r>
              <a:rPr lang="en-IN" sz="1400" dirty="0" err="1">
                <a:latin typeface="Courier New" panose="02070309020205020404" pitchFamily="49" charset="0"/>
                <a:cs typeface="Courier New" panose="02070309020205020404" pitchFamily="49" charset="0"/>
              </a:rPr>
              <a:t>con.close</a:t>
            </a:r>
            <a:r>
              <a:rPr lang="en-IN" sz="1400" dirty="0">
                <a:latin typeface="Courier New" panose="02070309020205020404" pitchFamily="49" charset="0"/>
                <a:cs typeface="Courier New" panose="02070309020205020404" pitchFamily="49" charset="0"/>
              </a:rPr>
              <a:t>();</a:t>
            </a:r>
            <a:r>
              <a:rPr lang="en-IN" dirty="0"/>
              <a:t>  </a:t>
            </a:r>
            <a:r>
              <a:rPr lang="en-IN" sz="1200" dirty="0"/>
              <a:t>// (throws </a:t>
            </a:r>
            <a:r>
              <a:rPr lang="en-IN" sz="1200" dirty="0" err="1"/>
              <a:t>SQLException</a:t>
            </a:r>
            <a:r>
              <a:rPr lang="en-IN" sz="1200" dirty="0"/>
              <a:t>)</a:t>
            </a:r>
          </a:p>
          <a:p>
            <a:pPr marL="0" indent="0">
              <a:buNone/>
            </a:pPr>
            <a:endParaRPr lang="en-IN" dirty="0"/>
          </a:p>
          <a:p>
            <a:endParaRPr lang="en-IN" dirty="0"/>
          </a:p>
        </p:txBody>
      </p:sp>
    </p:spTree>
    <p:extLst>
      <p:ext uri="{BB962C8B-B14F-4D97-AF65-F5344CB8AC3E}">
        <p14:creationId xmlns:p14="http://schemas.microsoft.com/office/powerpoint/2010/main" val="2184972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Databases… Instruction.</a:t>
            </a:r>
          </a:p>
        </p:txBody>
      </p:sp>
      <p:sp>
        <p:nvSpPr>
          <p:cNvPr id="3" name="Content Placeholder 2"/>
          <p:cNvSpPr>
            <a:spLocks noGrp="1"/>
          </p:cNvSpPr>
          <p:nvPr>
            <p:ph idx="1"/>
          </p:nvPr>
        </p:nvSpPr>
        <p:spPr>
          <a:xfrm>
            <a:off x="574675" y="1485900"/>
            <a:ext cx="8024813" cy="4592928"/>
          </a:xfrm>
        </p:spPr>
        <p:txBody>
          <a:bodyPr/>
          <a:lstStyle/>
          <a:p>
            <a:r>
              <a:rPr lang="en-IN" dirty="0"/>
              <a:t>In our class, we will work with Oracle 11g XE (Express Edition).</a:t>
            </a:r>
          </a:p>
          <a:p>
            <a:r>
              <a:rPr lang="en-IN" dirty="0"/>
              <a:t>It is available for download for free from Oracle site:</a:t>
            </a:r>
          </a:p>
          <a:p>
            <a:pPr marL="357188" lvl="1" indent="0">
              <a:buNone/>
            </a:pPr>
            <a:r>
              <a:rPr lang="en-IN" dirty="0">
                <a:hlinkClick r:id="rId2"/>
              </a:rPr>
              <a:t>http://www.oracle.com/technetwork/database/database-technologies/express-edition/downloads/index.html</a:t>
            </a:r>
            <a:endParaRPr lang="en-IN" dirty="0"/>
          </a:p>
          <a:p>
            <a:r>
              <a:rPr lang="en-IN" dirty="0"/>
              <a:t>Download the zip file, extract it, and run the setup file for installing Oracle database.</a:t>
            </a:r>
          </a:p>
          <a:p>
            <a:r>
              <a:rPr lang="en-IN" dirty="0"/>
              <a:t>Oracle database will get installed and use default port 1521.</a:t>
            </a:r>
          </a:p>
          <a:p>
            <a:r>
              <a:rPr lang="en-IN" dirty="0"/>
              <a:t>Then follow instructions here to complete the initial setup.</a:t>
            </a:r>
          </a:p>
          <a:p>
            <a:endParaRPr lang="en-IN" dirty="0"/>
          </a:p>
          <a:p>
            <a:pPr marL="357188" lvl="1" indent="0">
              <a:buNone/>
            </a:pPr>
            <a:r>
              <a:rPr lang="en-IN" dirty="0">
                <a:hlinkClick r:id="rId3"/>
              </a:rPr>
              <a:t>https://docs.oracle.com/cd/E17781_01/admin.112/e18585/toc.htm</a:t>
            </a:r>
            <a:endParaRPr lang="en-IN" dirty="0"/>
          </a:p>
          <a:p>
            <a:pPr marL="357188" lvl="1" indent="0">
              <a:buNone/>
            </a:pPr>
            <a:endParaRPr lang="en-IN" dirty="0"/>
          </a:p>
          <a:p>
            <a:pPr marL="285750" indent="-285750"/>
            <a:r>
              <a:rPr lang="en-IN" dirty="0"/>
              <a:t>We will be working with the HR user/schema in all our examples.</a:t>
            </a:r>
          </a:p>
          <a:p>
            <a:pPr lvl="1">
              <a:buFont typeface="Courier New" panose="02070309020205020404" pitchFamily="49" charset="0"/>
              <a:buChar char="o"/>
            </a:pPr>
            <a:r>
              <a:rPr lang="en-IN" dirty="0"/>
              <a:t>Unlock HR schema: </a:t>
            </a:r>
            <a:r>
              <a:rPr lang="en-IN" sz="1400" dirty="0">
                <a:latin typeface="Corbel" panose="020B0503020204020204" pitchFamily="34" charset="0"/>
              </a:rPr>
              <a:t>ALTER USER HR ACCOUNT UNLOCK</a:t>
            </a:r>
          </a:p>
          <a:p>
            <a:pPr lvl="1">
              <a:buFont typeface="Courier New" panose="02070309020205020404" pitchFamily="49" charset="0"/>
              <a:buChar char="o"/>
            </a:pPr>
            <a:r>
              <a:rPr lang="en-IN" dirty="0"/>
              <a:t>Specify a password for HR: </a:t>
            </a:r>
            <a:r>
              <a:rPr lang="en-IN" sz="1400" dirty="0">
                <a:latin typeface="Corbel" panose="020B0503020204020204" pitchFamily="34" charset="0"/>
              </a:rPr>
              <a:t>ALTER USER HR IDENTIFIED BY &lt;PASSWORD&gt;</a:t>
            </a:r>
            <a:endParaRPr lang="en-IN" dirty="0">
              <a:latin typeface="Corbel" panose="020B0503020204020204" pitchFamily="34" charset="0"/>
            </a:endParaRPr>
          </a:p>
          <a:p>
            <a:endParaRPr lang="en-IN" dirty="0"/>
          </a:p>
        </p:txBody>
      </p:sp>
    </p:spTree>
    <p:extLst>
      <p:ext uri="{BB962C8B-B14F-4D97-AF65-F5344CB8AC3E}">
        <p14:creationId xmlns:p14="http://schemas.microsoft.com/office/powerpoint/2010/main" val="1443458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HR USER / SCHEMA</a:t>
            </a:r>
          </a:p>
        </p:txBody>
      </p:sp>
      <p:sp>
        <p:nvSpPr>
          <p:cNvPr id="3" name="Content Placeholder 2"/>
          <p:cNvSpPr>
            <a:spLocks noGrp="1"/>
          </p:cNvSpPr>
          <p:nvPr>
            <p:ph idx="1"/>
          </p:nvPr>
        </p:nvSpPr>
        <p:spPr/>
        <p:txBody>
          <a:bodyPr/>
          <a:lstStyle/>
          <a:p>
            <a:r>
              <a:rPr lang="en-IN" dirty="0"/>
              <a:t>In Oracle, User and Schema mean the same.</a:t>
            </a:r>
          </a:p>
          <a:p>
            <a:endParaRPr lang="en-IN" dirty="0"/>
          </a:p>
          <a:p>
            <a:endParaRPr lang="en-IN" dirty="0"/>
          </a:p>
        </p:txBody>
      </p:sp>
      <p:pic>
        <p:nvPicPr>
          <p:cNvPr id="4" name="Picture 3"/>
          <p:cNvPicPr>
            <a:picLocks noChangeAspect="1"/>
          </p:cNvPicPr>
          <p:nvPr/>
        </p:nvPicPr>
        <p:blipFill>
          <a:blip r:embed="rId2"/>
          <a:stretch>
            <a:fillRect/>
          </a:stretch>
        </p:blipFill>
        <p:spPr>
          <a:xfrm>
            <a:off x="1643755" y="1940819"/>
            <a:ext cx="5886652" cy="4351584"/>
          </a:xfrm>
          <a:prstGeom prst="rect">
            <a:avLst/>
          </a:prstGeom>
        </p:spPr>
      </p:pic>
    </p:spTree>
    <p:extLst>
      <p:ext uri="{BB962C8B-B14F-4D97-AF65-F5344CB8AC3E}">
        <p14:creationId xmlns:p14="http://schemas.microsoft.com/office/powerpoint/2010/main" val="806527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Demo of HR Schema </a:t>
            </a:r>
          </a:p>
        </p:txBody>
      </p:sp>
      <p:sp>
        <p:nvSpPr>
          <p:cNvPr id="3" name="Content Placeholder 2"/>
          <p:cNvSpPr>
            <a:spLocks noGrp="1"/>
          </p:cNvSpPr>
          <p:nvPr>
            <p:ph idx="1"/>
          </p:nvPr>
        </p:nvSpPr>
        <p:spPr/>
        <p:txBody>
          <a:bodyPr/>
          <a:lstStyle/>
          <a:p>
            <a:r>
              <a:rPr lang="en-IN" dirty="0"/>
              <a:t>Let us look at the Employees and Departments Tables.</a:t>
            </a:r>
          </a:p>
          <a:p>
            <a:endParaRPr lang="en-IN" dirty="0"/>
          </a:p>
          <a:p>
            <a:r>
              <a:rPr lang="en-IN" dirty="0"/>
              <a:t>Basic CRUD operations syntax reference for SQL:</a:t>
            </a:r>
          </a:p>
          <a:p>
            <a:pPr marL="357188" lvl="1" indent="0">
              <a:buNone/>
            </a:pPr>
            <a:r>
              <a:rPr lang="en-IN" dirty="0">
                <a:hlinkClick r:id="rId2"/>
              </a:rPr>
              <a:t>http://www.orafaq.com/wiki/CRUD</a:t>
            </a:r>
            <a:endParaRPr lang="en-IN" dirty="0"/>
          </a:p>
          <a:p>
            <a:endParaRPr lang="en-IN" dirty="0"/>
          </a:p>
        </p:txBody>
      </p:sp>
    </p:spTree>
    <p:extLst>
      <p:ext uri="{BB962C8B-B14F-4D97-AF65-F5344CB8AC3E}">
        <p14:creationId xmlns:p14="http://schemas.microsoft.com/office/powerpoint/2010/main" val="2414754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Ojdbc6.jar</a:t>
            </a:r>
          </a:p>
        </p:txBody>
      </p:sp>
      <p:sp>
        <p:nvSpPr>
          <p:cNvPr id="3" name="Content Placeholder 2"/>
          <p:cNvSpPr>
            <a:spLocks noGrp="1"/>
          </p:cNvSpPr>
          <p:nvPr>
            <p:ph idx="1"/>
          </p:nvPr>
        </p:nvSpPr>
        <p:spPr/>
        <p:txBody>
          <a:bodyPr/>
          <a:lstStyle/>
          <a:p>
            <a:r>
              <a:rPr lang="en-IN" dirty="0"/>
              <a:t>Copy ojdbc6.jar from C:\oraclexe\app\oracle\product\11.2.0\server\jdbc\lib</a:t>
            </a:r>
          </a:p>
          <a:p>
            <a:pPr marL="0" indent="0">
              <a:buNone/>
            </a:pPr>
            <a:r>
              <a:rPr lang="en-IN" dirty="0"/>
              <a:t> to your JRE\lib\</a:t>
            </a:r>
            <a:r>
              <a:rPr lang="en-IN" dirty="0" err="1"/>
              <a:t>ext</a:t>
            </a:r>
            <a:r>
              <a:rPr lang="en-IN" dirty="0"/>
              <a:t> folder.</a:t>
            </a:r>
          </a:p>
          <a:p>
            <a:pPr marL="0" indent="0">
              <a:buNone/>
            </a:pPr>
            <a:endParaRPr lang="en-IN" dirty="0"/>
          </a:p>
          <a:p>
            <a:r>
              <a:rPr lang="en-IN" dirty="0"/>
              <a:t>This has the JDBC driver you will need.</a:t>
            </a:r>
          </a:p>
          <a:p>
            <a:endParaRPr lang="en-IN" dirty="0"/>
          </a:p>
          <a:p>
            <a:r>
              <a:rPr lang="en-IN" dirty="0"/>
              <a:t>Other way of doing is by adding the path to the jar file to your </a:t>
            </a:r>
            <a:r>
              <a:rPr lang="en-IN" dirty="0" err="1"/>
              <a:t>classpath</a:t>
            </a:r>
            <a:endParaRPr lang="en-IN" dirty="0"/>
          </a:p>
          <a:p>
            <a:pPr lvl="1">
              <a:buFont typeface="Courier New" panose="02070309020205020404" pitchFamily="49" charset="0"/>
              <a:buChar char="o"/>
            </a:pPr>
            <a:r>
              <a:rPr lang="en-IN" dirty="0"/>
              <a:t>Temporarily: Set </a:t>
            </a:r>
            <a:r>
              <a:rPr lang="en-IN" dirty="0" err="1"/>
              <a:t>classpath</a:t>
            </a:r>
            <a:r>
              <a:rPr lang="en-IN" dirty="0"/>
              <a:t> in </a:t>
            </a:r>
            <a:r>
              <a:rPr lang="en-IN" dirty="0" err="1"/>
              <a:t>commandline</a:t>
            </a:r>
            <a:r>
              <a:rPr lang="en-IN" dirty="0"/>
              <a:t>.</a:t>
            </a:r>
          </a:p>
          <a:p>
            <a:pPr lvl="1">
              <a:buFont typeface="Courier New" panose="02070309020205020404" pitchFamily="49" charset="0"/>
              <a:buChar char="o"/>
            </a:pPr>
            <a:r>
              <a:rPr lang="en-IN" dirty="0"/>
              <a:t>Permanent: Add path of jar file to </a:t>
            </a:r>
            <a:r>
              <a:rPr lang="en-IN" dirty="0" err="1"/>
              <a:t>classpath</a:t>
            </a:r>
            <a:r>
              <a:rPr lang="en-IN" dirty="0"/>
              <a:t> environment variable.</a:t>
            </a:r>
          </a:p>
        </p:txBody>
      </p:sp>
    </p:spTree>
    <p:extLst>
      <p:ext uri="{BB962C8B-B14F-4D97-AF65-F5344CB8AC3E}">
        <p14:creationId xmlns:p14="http://schemas.microsoft.com/office/powerpoint/2010/main" val="1184679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JDBC Example… Connecting to the database.</a:t>
            </a:r>
          </a:p>
        </p:txBody>
      </p:sp>
      <p:sp>
        <p:nvSpPr>
          <p:cNvPr id="3" name="Content Placeholder 2"/>
          <p:cNvSpPr>
            <a:spLocks noGrp="1"/>
          </p:cNvSpPr>
          <p:nvPr>
            <p:ph idx="1"/>
          </p:nvPr>
        </p:nvSpPr>
        <p:spPr>
          <a:xfrm>
            <a:off x="574675" y="1241201"/>
            <a:ext cx="8024813" cy="5198236"/>
          </a:xfrm>
        </p:spPr>
        <p:txBody>
          <a:bodyPr/>
          <a:lstStyle/>
          <a:p>
            <a:pPr marL="0" indent="0">
              <a:buNone/>
            </a:pPr>
            <a:r>
              <a:rPr lang="en-IN" sz="1100" dirty="0"/>
              <a:t>import </a:t>
            </a:r>
            <a:r>
              <a:rPr lang="en-IN" sz="1100" dirty="0" err="1"/>
              <a:t>java.sql</a:t>
            </a:r>
            <a:r>
              <a:rPr lang="en-IN" sz="1100" dirty="0"/>
              <a:t>.*;  </a:t>
            </a:r>
          </a:p>
          <a:p>
            <a:pPr marL="0" indent="0">
              <a:buNone/>
            </a:pPr>
            <a:r>
              <a:rPr lang="en-IN" sz="1100" dirty="0"/>
              <a:t>class </a:t>
            </a:r>
            <a:r>
              <a:rPr lang="en-IN" sz="1100" dirty="0" err="1"/>
              <a:t>OracleCon</a:t>
            </a:r>
            <a:r>
              <a:rPr lang="en-IN" sz="1100" dirty="0"/>
              <a:t>{  </a:t>
            </a:r>
          </a:p>
          <a:p>
            <a:pPr marL="0" indent="0">
              <a:buNone/>
            </a:pPr>
            <a:r>
              <a:rPr lang="en-IN" sz="1100" dirty="0"/>
              <a:t>public static void main(String </a:t>
            </a:r>
            <a:r>
              <a:rPr lang="en-IN" sz="1100" dirty="0" err="1"/>
              <a:t>args</a:t>
            </a:r>
            <a:r>
              <a:rPr lang="en-IN" sz="1100" dirty="0"/>
              <a:t>[]){  </a:t>
            </a:r>
          </a:p>
          <a:p>
            <a:pPr marL="0" indent="0">
              <a:buNone/>
            </a:pPr>
            <a:r>
              <a:rPr lang="en-IN" sz="1100" dirty="0"/>
              <a:t>try{  </a:t>
            </a:r>
          </a:p>
          <a:p>
            <a:pPr marL="0" indent="0">
              <a:buNone/>
            </a:pPr>
            <a:r>
              <a:rPr lang="en-IN" sz="1100" dirty="0"/>
              <a:t>//step1 load the driver class  </a:t>
            </a:r>
          </a:p>
          <a:p>
            <a:pPr marL="0" indent="0">
              <a:buNone/>
            </a:pPr>
            <a:r>
              <a:rPr lang="en-IN" sz="1100" dirty="0" err="1"/>
              <a:t>Class.forName</a:t>
            </a:r>
            <a:r>
              <a:rPr lang="en-IN" sz="1100" dirty="0"/>
              <a:t>("</a:t>
            </a:r>
            <a:r>
              <a:rPr lang="en-IN" sz="1100" dirty="0" err="1"/>
              <a:t>oracle.jdbc.driver.OracleDriver</a:t>
            </a:r>
            <a:r>
              <a:rPr lang="en-IN" sz="1100" dirty="0"/>
              <a:t>");  </a:t>
            </a:r>
          </a:p>
          <a:p>
            <a:pPr marL="0" indent="0">
              <a:buNone/>
            </a:pPr>
            <a:r>
              <a:rPr lang="en-IN" sz="1100" dirty="0"/>
              <a:t>  </a:t>
            </a:r>
          </a:p>
          <a:p>
            <a:pPr marL="0" indent="0">
              <a:buNone/>
            </a:pPr>
            <a:r>
              <a:rPr lang="en-IN" sz="1100" dirty="0"/>
              <a:t>//step2 create  the connection object  </a:t>
            </a:r>
          </a:p>
          <a:p>
            <a:pPr marL="0" indent="0">
              <a:buNone/>
            </a:pPr>
            <a:r>
              <a:rPr lang="en-IN" sz="1100" dirty="0"/>
              <a:t>Connection con=</a:t>
            </a:r>
            <a:r>
              <a:rPr lang="en-IN" sz="1100" dirty="0" err="1"/>
              <a:t>DriverManager.getConnection</a:t>
            </a:r>
            <a:r>
              <a:rPr lang="en-IN" sz="1100" dirty="0"/>
              <a:t>(  </a:t>
            </a:r>
          </a:p>
          <a:p>
            <a:pPr marL="0" indent="0">
              <a:buNone/>
            </a:pPr>
            <a:r>
              <a:rPr lang="en-IN" sz="1100" dirty="0"/>
              <a:t>"</a:t>
            </a:r>
            <a:r>
              <a:rPr lang="en-IN" sz="1100" dirty="0" err="1"/>
              <a:t>jdbc:oracle:thin</a:t>
            </a:r>
            <a:r>
              <a:rPr lang="en-IN" sz="1100" dirty="0"/>
              <a:t>:@localhost:1521:xe","system","oracle");  </a:t>
            </a:r>
          </a:p>
          <a:p>
            <a:pPr marL="0" indent="0">
              <a:buNone/>
            </a:pPr>
            <a:r>
              <a:rPr lang="en-IN" sz="1100" dirty="0"/>
              <a:t>  </a:t>
            </a:r>
          </a:p>
          <a:p>
            <a:pPr marL="0" indent="0">
              <a:buNone/>
            </a:pPr>
            <a:r>
              <a:rPr lang="en-IN" sz="1100" dirty="0"/>
              <a:t>//step3 create the statement object  </a:t>
            </a:r>
          </a:p>
          <a:p>
            <a:pPr marL="0" indent="0">
              <a:buNone/>
            </a:pPr>
            <a:r>
              <a:rPr lang="en-IN" sz="1100" dirty="0"/>
              <a:t>Statement </a:t>
            </a:r>
            <a:r>
              <a:rPr lang="en-IN" sz="1100" dirty="0" err="1"/>
              <a:t>stmt</a:t>
            </a:r>
            <a:r>
              <a:rPr lang="en-IN" sz="1100" dirty="0"/>
              <a:t>=</a:t>
            </a:r>
            <a:r>
              <a:rPr lang="en-IN" sz="1100" dirty="0" err="1"/>
              <a:t>con.createStatement</a:t>
            </a:r>
            <a:r>
              <a:rPr lang="en-IN" sz="1100" dirty="0"/>
              <a:t>();  </a:t>
            </a:r>
          </a:p>
          <a:p>
            <a:pPr marL="0" indent="0">
              <a:buNone/>
            </a:pPr>
            <a:r>
              <a:rPr lang="en-IN" sz="1100" dirty="0"/>
              <a:t>  </a:t>
            </a:r>
          </a:p>
          <a:p>
            <a:pPr marL="0" indent="0">
              <a:buNone/>
            </a:pPr>
            <a:r>
              <a:rPr lang="en-IN" sz="1100" dirty="0"/>
              <a:t>//step4 execute query  </a:t>
            </a:r>
          </a:p>
          <a:p>
            <a:pPr marL="0" indent="0">
              <a:buNone/>
            </a:pPr>
            <a:r>
              <a:rPr lang="en-IN" sz="1100" dirty="0" err="1"/>
              <a:t>ResultSet</a:t>
            </a:r>
            <a:r>
              <a:rPr lang="en-IN" sz="1100" dirty="0"/>
              <a:t> </a:t>
            </a:r>
            <a:r>
              <a:rPr lang="en-IN" sz="1100" dirty="0" err="1"/>
              <a:t>rs</a:t>
            </a:r>
            <a:r>
              <a:rPr lang="en-IN" sz="1100" dirty="0"/>
              <a:t>=</a:t>
            </a:r>
            <a:r>
              <a:rPr lang="en-IN" sz="1100" dirty="0" err="1"/>
              <a:t>stmt.executeQuery</a:t>
            </a:r>
            <a:r>
              <a:rPr lang="en-IN" sz="1100" dirty="0"/>
              <a:t>("select * from </a:t>
            </a:r>
            <a:r>
              <a:rPr lang="en-IN" sz="1100" dirty="0" err="1"/>
              <a:t>emp</a:t>
            </a:r>
            <a:r>
              <a:rPr lang="en-IN" sz="1100" dirty="0"/>
              <a:t>");  </a:t>
            </a:r>
          </a:p>
          <a:p>
            <a:pPr marL="0" indent="0">
              <a:buNone/>
            </a:pPr>
            <a:r>
              <a:rPr lang="en-IN" sz="1100" dirty="0"/>
              <a:t>while(</a:t>
            </a:r>
            <a:r>
              <a:rPr lang="en-IN" sz="1100" dirty="0" err="1"/>
              <a:t>rs.next</a:t>
            </a:r>
            <a:r>
              <a:rPr lang="en-IN" sz="1100" dirty="0"/>
              <a:t>())  </a:t>
            </a:r>
          </a:p>
          <a:p>
            <a:pPr marL="0" indent="0">
              <a:buNone/>
            </a:pPr>
            <a:r>
              <a:rPr lang="en-IN" sz="1100" dirty="0" err="1"/>
              <a:t>System.out.println</a:t>
            </a:r>
            <a:r>
              <a:rPr lang="en-IN" sz="1100" dirty="0"/>
              <a:t>(</a:t>
            </a:r>
            <a:r>
              <a:rPr lang="en-IN" sz="1100" dirty="0" err="1"/>
              <a:t>rs.getInt</a:t>
            </a:r>
            <a:r>
              <a:rPr lang="en-IN" sz="1100" dirty="0"/>
              <a:t>(1)+"  "+</a:t>
            </a:r>
            <a:r>
              <a:rPr lang="en-IN" sz="1100" dirty="0" err="1"/>
              <a:t>rs.getString</a:t>
            </a:r>
            <a:r>
              <a:rPr lang="en-IN" sz="1100" dirty="0"/>
              <a:t>(2)+"  "+</a:t>
            </a:r>
            <a:r>
              <a:rPr lang="en-IN" sz="1100" dirty="0" err="1"/>
              <a:t>rs.getString</a:t>
            </a:r>
            <a:r>
              <a:rPr lang="en-IN" sz="1100" dirty="0"/>
              <a:t>(3));  </a:t>
            </a:r>
          </a:p>
          <a:p>
            <a:pPr marL="0" indent="0">
              <a:buNone/>
            </a:pPr>
            <a:r>
              <a:rPr lang="en-IN" sz="1100" dirty="0"/>
              <a:t>  </a:t>
            </a:r>
          </a:p>
          <a:p>
            <a:pPr marL="0" indent="0">
              <a:buNone/>
            </a:pPr>
            <a:r>
              <a:rPr lang="en-IN" sz="1100" dirty="0"/>
              <a:t>//step5 close the connection object  </a:t>
            </a:r>
          </a:p>
          <a:p>
            <a:pPr marL="0" indent="0">
              <a:buNone/>
            </a:pPr>
            <a:r>
              <a:rPr lang="en-IN" sz="1100" dirty="0" err="1"/>
              <a:t>con.close</a:t>
            </a:r>
            <a:r>
              <a:rPr lang="en-IN" sz="1100" dirty="0"/>
              <a:t>();  </a:t>
            </a:r>
          </a:p>
          <a:p>
            <a:pPr marL="0" indent="0">
              <a:buNone/>
            </a:pPr>
            <a:r>
              <a:rPr lang="en-IN" sz="1100" dirty="0"/>
              <a:t>  </a:t>
            </a:r>
          </a:p>
          <a:p>
            <a:pPr marL="0" indent="0">
              <a:buNone/>
            </a:pPr>
            <a:r>
              <a:rPr lang="en-IN" sz="1100" dirty="0"/>
              <a:t>}catch(Exception e){ </a:t>
            </a:r>
            <a:r>
              <a:rPr lang="en-IN" sz="1100" dirty="0" err="1"/>
              <a:t>System.out.println</a:t>
            </a:r>
            <a:r>
              <a:rPr lang="en-IN" sz="1100" dirty="0"/>
              <a:t>(e);}  </a:t>
            </a:r>
          </a:p>
          <a:p>
            <a:pPr marL="0" indent="0">
              <a:buNone/>
            </a:pPr>
            <a:r>
              <a:rPr lang="en-IN" sz="1100" dirty="0"/>
              <a:t>  </a:t>
            </a:r>
          </a:p>
          <a:p>
            <a:pPr marL="0" indent="0">
              <a:buNone/>
            </a:pPr>
            <a:r>
              <a:rPr lang="en-IN" sz="1100" dirty="0"/>
              <a:t>}  </a:t>
            </a:r>
          </a:p>
          <a:p>
            <a:pPr marL="0" indent="0">
              <a:buNone/>
            </a:pPr>
            <a:r>
              <a:rPr lang="en-IN" sz="1100" dirty="0"/>
              <a:t>} </a:t>
            </a:r>
          </a:p>
        </p:txBody>
      </p:sp>
    </p:spTree>
    <p:extLst>
      <p:ext uri="{BB962C8B-B14F-4D97-AF65-F5344CB8AC3E}">
        <p14:creationId xmlns:p14="http://schemas.microsoft.com/office/powerpoint/2010/main" val="3178692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331593760"/>
              </p:ext>
            </p:extLst>
          </p:nvPr>
        </p:nvGraphicFramePr>
        <p:xfrm>
          <a:off x="574675" y="3285331"/>
          <a:ext cx="8024812" cy="1351063"/>
        </p:xfrm>
        <a:graphic>
          <a:graphicData uri="http://schemas.openxmlformats.org/drawingml/2006/table">
            <a:tbl>
              <a:tblPr/>
              <a:tblGrid>
                <a:gridCol w="4422328">
                  <a:extLst>
                    <a:ext uri="{9D8B030D-6E8A-4147-A177-3AD203B41FA5}">
                      <a16:colId xmlns:a16="http://schemas.microsoft.com/office/drawing/2014/main" val="20000"/>
                    </a:ext>
                  </a:extLst>
                </a:gridCol>
                <a:gridCol w="3602484">
                  <a:extLst>
                    <a:ext uri="{9D8B030D-6E8A-4147-A177-3AD203B41FA5}">
                      <a16:colId xmlns:a16="http://schemas.microsoft.com/office/drawing/2014/main" val="20001"/>
                    </a:ext>
                  </a:extLst>
                </a:gridCol>
              </a:tblGrid>
              <a:tr h="556320">
                <a:tc>
                  <a:txBody>
                    <a:bodyPr/>
                    <a:lstStyle/>
                    <a:p>
                      <a:pPr algn="l"/>
                      <a:r>
                        <a:rPr lang="en-IN" sz="1200" b="0" i="0" dirty="0">
                          <a:solidFill>
                            <a:srgbClr val="000000"/>
                          </a:solidFill>
                          <a:effectLst/>
                          <a:latin typeface="verdana" panose="020B0604030504040204" pitchFamily="34" charset="0"/>
                        </a:rPr>
                        <a:t>public static Connection </a:t>
                      </a:r>
                      <a:r>
                        <a:rPr lang="en-IN" sz="1200" b="0" i="0" dirty="0" err="1">
                          <a:solidFill>
                            <a:srgbClr val="000000"/>
                          </a:solidFill>
                          <a:effectLst/>
                          <a:latin typeface="verdana" panose="020B0604030504040204" pitchFamily="34" charset="0"/>
                        </a:rPr>
                        <a:t>getConnection</a:t>
                      </a:r>
                      <a:r>
                        <a:rPr lang="en-IN" sz="1200" b="0" i="0" dirty="0">
                          <a:solidFill>
                            <a:srgbClr val="000000"/>
                          </a:solidFill>
                          <a:effectLst/>
                          <a:latin typeface="verdana" panose="020B0604030504040204" pitchFamily="34" charset="0"/>
                        </a:rPr>
                        <a:t>(String </a:t>
                      </a:r>
                      <a:r>
                        <a:rPr lang="en-IN" sz="1200" b="0" i="0" dirty="0" err="1">
                          <a:solidFill>
                            <a:srgbClr val="000000"/>
                          </a:solidFill>
                          <a:effectLst/>
                          <a:latin typeface="verdana" panose="020B0604030504040204" pitchFamily="34" charset="0"/>
                        </a:rPr>
                        <a:t>url</a:t>
                      </a:r>
                      <a:r>
                        <a:rPr lang="en-IN" sz="1200" b="0" i="0" dirty="0">
                          <a:solidFill>
                            <a:srgbClr val="000000"/>
                          </a:solidFill>
                          <a:effectLst/>
                          <a:latin typeface="verdana" panose="020B0604030504040204" pitchFamily="34" charset="0"/>
                        </a:rPr>
                        <a:t>):</a:t>
                      </a:r>
                    </a:p>
                  </a:txBody>
                  <a:tcPr anchor="ctr">
                    <a:lnL>
                      <a:noFill/>
                    </a:lnL>
                    <a:lnR>
                      <a:noFill/>
                    </a:lnR>
                    <a:lnT>
                      <a:noFill/>
                    </a:lnT>
                    <a:lnB>
                      <a:noFill/>
                    </a:lnB>
                    <a:solidFill>
                      <a:srgbClr val="FFFFFF"/>
                    </a:solidFill>
                  </a:tcPr>
                </a:tc>
                <a:tc>
                  <a:txBody>
                    <a:bodyPr/>
                    <a:lstStyle/>
                    <a:p>
                      <a:pPr algn="l"/>
                      <a:r>
                        <a:rPr lang="en-IN" sz="1200" b="0" i="0" dirty="0">
                          <a:solidFill>
                            <a:srgbClr val="000000"/>
                          </a:solidFill>
                          <a:effectLst/>
                          <a:latin typeface="verdana" panose="020B0604030504040204" pitchFamily="34" charset="0"/>
                        </a:rPr>
                        <a:t>is used to establish the connection with the specified </a:t>
                      </a:r>
                      <a:r>
                        <a:rPr lang="en-IN" sz="1200" b="0" i="0" dirty="0" err="1">
                          <a:solidFill>
                            <a:srgbClr val="000000"/>
                          </a:solidFill>
                          <a:effectLst/>
                          <a:latin typeface="verdana" panose="020B0604030504040204" pitchFamily="34" charset="0"/>
                        </a:rPr>
                        <a:t>url</a:t>
                      </a:r>
                      <a:r>
                        <a:rPr lang="en-IN" sz="1200" b="0" i="0" dirty="0">
                          <a:solidFill>
                            <a:srgbClr val="000000"/>
                          </a:solidFill>
                          <a:effectLst/>
                          <a:latin typeface="verdana" panose="020B0604030504040204" pitchFamily="34" charset="0"/>
                        </a:rPr>
                        <a:t>.</a:t>
                      </a:r>
                    </a:p>
                  </a:txBody>
                  <a:tcPr anchor="ctr">
                    <a:lnL>
                      <a:noFill/>
                    </a:lnL>
                    <a:lnR>
                      <a:noFill/>
                    </a:lnR>
                    <a:lnT>
                      <a:noFill/>
                    </a:lnT>
                    <a:lnB>
                      <a:noFill/>
                    </a:lnB>
                    <a:solidFill>
                      <a:srgbClr val="FFFFFF"/>
                    </a:solidFill>
                  </a:tcPr>
                </a:tc>
                <a:extLst>
                  <a:ext uri="{0D108BD9-81ED-4DB2-BD59-A6C34878D82A}">
                    <a16:rowId xmlns:a16="http://schemas.microsoft.com/office/drawing/2014/main" val="10000"/>
                  </a:ext>
                </a:extLst>
              </a:tr>
              <a:tr h="794743">
                <a:tc>
                  <a:txBody>
                    <a:bodyPr/>
                    <a:lstStyle/>
                    <a:p>
                      <a:pPr algn="l"/>
                      <a:r>
                        <a:rPr lang="en-IN" sz="1200" b="0" i="0" dirty="0">
                          <a:solidFill>
                            <a:srgbClr val="000000"/>
                          </a:solidFill>
                          <a:effectLst/>
                          <a:latin typeface="verdana" panose="020B0604030504040204" pitchFamily="34" charset="0"/>
                        </a:rPr>
                        <a:t>public static Connection </a:t>
                      </a:r>
                      <a:r>
                        <a:rPr lang="en-IN" sz="1200" b="0" i="0" dirty="0" err="1">
                          <a:solidFill>
                            <a:srgbClr val="000000"/>
                          </a:solidFill>
                          <a:effectLst/>
                          <a:latin typeface="verdana" panose="020B0604030504040204" pitchFamily="34" charset="0"/>
                        </a:rPr>
                        <a:t>getConnection</a:t>
                      </a:r>
                      <a:r>
                        <a:rPr lang="en-IN" sz="1200" b="0" i="0" dirty="0">
                          <a:solidFill>
                            <a:srgbClr val="000000"/>
                          </a:solidFill>
                          <a:effectLst/>
                          <a:latin typeface="verdana" panose="020B0604030504040204" pitchFamily="34" charset="0"/>
                        </a:rPr>
                        <a:t>(String </a:t>
                      </a:r>
                      <a:r>
                        <a:rPr lang="en-IN" sz="1200" b="0" i="0" dirty="0" err="1">
                          <a:solidFill>
                            <a:srgbClr val="000000"/>
                          </a:solidFill>
                          <a:effectLst/>
                          <a:latin typeface="verdana" panose="020B0604030504040204" pitchFamily="34" charset="0"/>
                        </a:rPr>
                        <a:t>url,String</a:t>
                      </a:r>
                      <a:r>
                        <a:rPr lang="en-IN" sz="1200" b="0" i="0" dirty="0">
                          <a:solidFill>
                            <a:srgbClr val="000000"/>
                          </a:solidFill>
                          <a:effectLst/>
                          <a:latin typeface="verdana" panose="020B0604030504040204" pitchFamily="34" charset="0"/>
                        </a:rPr>
                        <a:t> </a:t>
                      </a:r>
                      <a:r>
                        <a:rPr lang="en-IN" sz="1200" b="0" i="0" dirty="0" err="1">
                          <a:solidFill>
                            <a:srgbClr val="000000"/>
                          </a:solidFill>
                          <a:effectLst/>
                          <a:latin typeface="verdana" panose="020B0604030504040204" pitchFamily="34" charset="0"/>
                        </a:rPr>
                        <a:t>userName,String</a:t>
                      </a:r>
                      <a:r>
                        <a:rPr lang="en-IN" sz="1200" b="0" i="0" dirty="0">
                          <a:solidFill>
                            <a:srgbClr val="000000"/>
                          </a:solidFill>
                          <a:effectLst/>
                          <a:latin typeface="verdana" panose="020B0604030504040204" pitchFamily="34" charset="0"/>
                        </a:rPr>
                        <a:t> password):</a:t>
                      </a:r>
                    </a:p>
                  </a:txBody>
                  <a:tcPr anchor="ctr">
                    <a:lnL>
                      <a:noFill/>
                    </a:lnL>
                    <a:lnR>
                      <a:noFill/>
                    </a:lnR>
                    <a:lnT>
                      <a:noFill/>
                    </a:lnT>
                    <a:lnB>
                      <a:noFill/>
                    </a:lnB>
                    <a:solidFill>
                      <a:srgbClr val="FFFFFF"/>
                    </a:solidFill>
                  </a:tcPr>
                </a:tc>
                <a:tc>
                  <a:txBody>
                    <a:bodyPr/>
                    <a:lstStyle/>
                    <a:p>
                      <a:pPr algn="l"/>
                      <a:r>
                        <a:rPr lang="en-IN" sz="1200" b="0" i="0" dirty="0">
                          <a:solidFill>
                            <a:srgbClr val="000000"/>
                          </a:solidFill>
                          <a:effectLst/>
                          <a:latin typeface="verdana" panose="020B0604030504040204" pitchFamily="34" charset="0"/>
                        </a:rPr>
                        <a:t>is used to establish the connection with the specified </a:t>
                      </a:r>
                      <a:r>
                        <a:rPr lang="en-IN" sz="1200" b="0" i="0" dirty="0" err="1">
                          <a:solidFill>
                            <a:srgbClr val="000000"/>
                          </a:solidFill>
                          <a:effectLst/>
                          <a:latin typeface="verdana" panose="020B0604030504040204" pitchFamily="34" charset="0"/>
                        </a:rPr>
                        <a:t>url</a:t>
                      </a:r>
                      <a:r>
                        <a:rPr lang="en-IN" sz="1200" b="0" i="0" dirty="0">
                          <a:solidFill>
                            <a:srgbClr val="000000"/>
                          </a:solidFill>
                          <a:effectLst/>
                          <a:latin typeface="verdana" panose="020B0604030504040204" pitchFamily="34" charset="0"/>
                        </a:rPr>
                        <a:t>, username and password.</a:t>
                      </a:r>
                    </a:p>
                  </a:txBody>
                  <a:tcPr anchor="ctr">
                    <a:lnL>
                      <a:noFill/>
                    </a:lnL>
                    <a:lnR>
                      <a:noFill/>
                    </a:lnR>
                    <a:lnT>
                      <a:noFill/>
                    </a:lnT>
                    <a:lnB>
                      <a:noFill/>
                    </a:lnB>
                    <a:solidFill>
                      <a:srgbClr val="FFFFFF"/>
                    </a:solidFill>
                  </a:tcPr>
                </a:tc>
                <a:extLst>
                  <a:ext uri="{0D108BD9-81ED-4DB2-BD59-A6C34878D82A}">
                    <a16:rowId xmlns:a16="http://schemas.microsoft.com/office/drawing/2014/main" val="10001"/>
                  </a:ext>
                </a:extLst>
              </a:tr>
            </a:tbl>
          </a:graphicData>
        </a:graphic>
      </p:graphicFrame>
      <p:sp>
        <p:nvSpPr>
          <p:cNvPr id="2" name="Title 1"/>
          <p:cNvSpPr>
            <a:spLocks noGrp="1"/>
          </p:cNvSpPr>
          <p:nvPr>
            <p:ph type="title"/>
          </p:nvPr>
        </p:nvSpPr>
        <p:spPr/>
        <p:txBody>
          <a:bodyPr/>
          <a:lstStyle/>
          <a:p>
            <a:r>
              <a:rPr lang="en-IN" dirty="0" err="1"/>
              <a:t>DriverManager</a:t>
            </a:r>
            <a:r>
              <a:rPr lang="en-IN" dirty="0"/>
              <a:t> class</a:t>
            </a:r>
            <a:br>
              <a:rPr lang="en-IN" dirty="0"/>
            </a:br>
            <a:br>
              <a:rPr lang="en-IN" dirty="0"/>
            </a:br>
            <a:endParaRPr lang="en-IN" dirty="0"/>
          </a:p>
        </p:txBody>
      </p:sp>
      <p:sp>
        <p:nvSpPr>
          <p:cNvPr id="3" name="Content Placeholder 2"/>
          <p:cNvSpPr>
            <a:spLocks noGrp="1"/>
          </p:cNvSpPr>
          <p:nvPr>
            <p:ph idx="1"/>
          </p:nvPr>
        </p:nvSpPr>
        <p:spPr/>
        <p:txBody>
          <a:bodyPr/>
          <a:lstStyle/>
          <a:p>
            <a:r>
              <a:rPr lang="en-IN" dirty="0"/>
              <a:t>The </a:t>
            </a:r>
            <a:r>
              <a:rPr lang="en-IN" dirty="0" err="1"/>
              <a:t>DriverManager</a:t>
            </a:r>
            <a:r>
              <a:rPr lang="en-IN" dirty="0"/>
              <a:t> class acts as an interface between user and drivers. It keeps track of the drivers that are available and handles establishing a connection between a database and the appropriate driver. The </a:t>
            </a:r>
            <a:r>
              <a:rPr lang="en-IN" dirty="0" err="1"/>
              <a:t>DriverManager</a:t>
            </a:r>
            <a:r>
              <a:rPr lang="en-IN" dirty="0"/>
              <a:t> class maintains a list of Driver classes that have registered themselves by calling the method </a:t>
            </a:r>
            <a:r>
              <a:rPr lang="en-IN" dirty="0" err="1"/>
              <a:t>DriverManager.registerDriver</a:t>
            </a:r>
            <a:r>
              <a:rPr lang="en-IN" dirty="0"/>
              <a:t>().</a:t>
            </a:r>
          </a:p>
          <a:p>
            <a:endParaRPr lang="en-IN" dirty="0"/>
          </a:p>
        </p:txBody>
      </p:sp>
    </p:spTree>
    <p:extLst>
      <p:ext uri="{BB962C8B-B14F-4D97-AF65-F5344CB8AC3E}">
        <p14:creationId xmlns:p14="http://schemas.microsoft.com/office/powerpoint/2010/main" val="240308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Connection interface</a:t>
            </a:r>
          </a:p>
        </p:txBody>
      </p:sp>
      <p:sp>
        <p:nvSpPr>
          <p:cNvPr id="3" name="Content Placeholder 2"/>
          <p:cNvSpPr>
            <a:spLocks noGrp="1"/>
          </p:cNvSpPr>
          <p:nvPr>
            <p:ph idx="1"/>
          </p:nvPr>
        </p:nvSpPr>
        <p:spPr>
          <a:xfrm>
            <a:off x="574675" y="1176807"/>
            <a:ext cx="8024813" cy="3598863"/>
          </a:xfrm>
        </p:spPr>
        <p:txBody>
          <a:bodyPr/>
          <a:lstStyle/>
          <a:p>
            <a:r>
              <a:rPr lang="en-IN" sz="1400" dirty="0"/>
              <a:t>A Connection is the session between java application and database. The Connection interface is a factory of Statement, </a:t>
            </a:r>
            <a:r>
              <a:rPr lang="en-IN" sz="1400" dirty="0" err="1"/>
              <a:t>PreparedStatement</a:t>
            </a:r>
            <a:r>
              <a:rPr lang="en-IN" sz="1400" dirty="0"/>
              <a:t>, and </a:t>
            </a:r>
            <a:r>
              <a:rPr lang="en-IN" sz="1400" dirty="0" err="1"/>
              <a:t>DatabaseMetaData</a:t>
            </a:r>
            <a:r>
              <a:rPr lang="en-IN" sz="1400" dirty="0"/>
              <a:t> i.e. object of Connection can be used to get the object of Statement and </a:t>
            </a:r>
            <a:r>
              <a:rPr lang="en-IN" sz="1400" dirty="0" err="1"/>
              <a:t>DatabaseMetaData</a:t>
            </a:r>
            <a:r>
              <a:rPr lang="en-IN" sz="1400" dirty="0"/>
              <a:t>. </a:t>
            </a:r>
          </a:p>
          <a:p>
            <a:r>
              <a:rPr lang="en-IN" sz="1400" dirty="0"/>
              <a:t>The Connection interface provide many methods for transaction management like commit(), rollback() etc.</a:t>
            </a:r>
          </a:p>
          <a:p>
            <a:r>
              <a:rPr lang="en-IN" sz="1400" b="1" i="1" dirty="0"/>
              <a:t>By default, connection commits the changes after executing queries.</a:t>
            </a:r>
          </a:p>
          <a:p>
            <a:r>
              <a:rPr lang="en-IN" sz="1400" dirty="0"/>
              <a:t>Commonly used methods:</a:t>
            </a:r>
          </a:p>
          <a:p>
            <a:endParaRPr lang="en-IN" sz="1400" dirty="0"/>
          </a:p>
        </p:txBody>
      </p:sp>
      <p:graphicFrame>
        <p:nvGraphicFramePr>
          <p:cNvPr id="4" name="Table 3"/>
          <p:cNvGraphicFramePr>
            <a:graphicFrameLocks noGrp="1"/>
          </p:cNvGraphicFramePr>
          <p:nvPr>
            <p:extLst>
              <p:ext uri="{D42A27DB-BD31-4B8C-83A1-F6EECF244321}">
                <p14:modId xmlns:p14="http://schemas.microsoft.com/office/powerpoint/2010/main" val="2760439531"/>
              </p:ext>
            </p:extLst>
          </p:nvPr>
        </p:nvGraphicFramePr>
        <p:xfrm>
          <a:off x="669702" y="3073951"/>
          <a:ext cx="7611414" cy="3429712"/>
        </p:xfrm>
        <a:graphic>
          <a:graphicData uri="http://schemas.openxmlformats.org/drawingml/2006/table">
            <a:tbl>
              <a:tblPr/>
              <a:tblGrid>
                <a:gridCol w="7611414">
                  <a:extLst>
                    <a:ext uri="{9D8B030D-6E8A-4147-A177-3AD203B41FA5}">
                      <a16:colId xmlns:a16="http://schemas.microsoft.com/office/drawing/2014/main" val="20000"/>
                    </a:ext>
                  </a:extLst>
                </a:gridCol>
              </a:tblGrid>
              <a:tr h="495133">
                <a:tc>
                  <a:txBody>
                    <a:bodyPr/>
                    <a:lstStyle/>
                    <a:p>
                      <a:pPr algn="l"/>
                      <a:r>
                        <a:rPr lang="en-IN" sz="1200" b="1" i="0" dirty="0">
                          <a:solidFill>
                            <a:srgbClr val="000000"/>
                          </a:solidFill>
                          <a:effectLst/>
                          <a:latin typeface="verdana" panose="020B0604030504040204" pitchFamily="34" charset="0"/>
                        </a:rPr>
                        <a:t>1) public Statement </a:t>
                      </a:r>
                      <a:r>
                        <a:rPr lang="en-IN" sz="1200" b="1" i="0" dirty="0" err="1">
                          <a:solidFill>
                            <a:srgbClr val="000000"/>
                          </a:solidFill>
                          <a:effectLst/>
                          <a:latin typeface="verdana" panose="020B0604030504040204" pitchFamily="34" charset="0"/>
                        </a:rPr>
                        <a:t>createStatement</a:t>
                      </a:r>
                      <a:r>
                        <a:rPr lang="en-IN" sz="1200" b="1" i="0" dirty="0">
                          <a:solidFill>
                            <a:srgbClr val="000000"/>
                          </a:solidFill>
                          <a:effectLst/>
                          <a:latin typeface="verdana" panose="020B0604030504040204" pitchFamily="34" charset="0"/>
                        </a:rPr>
                        <a:t>():</a:t>
                      </a:r>
                      <a:r>
                        <a:rPr lang="en-IN" sz="1200" b="0" i="0" dirty="0">
                          <a:solidFill>
                            <a:srgbClr val="000000"/>
                          </a:solidFill>
                          <a:effectLst/>
                          <a:latin typeface="verdana" panose="020B0604030504040204" pitchFamily="34" charset="0"/>
                        </a:rPr>
                        <a:t> creates a statement object that can be used to execute SQL queries.</a:t>
                      </a:r>
                    </a:p>
                  </a:txBody>
                  <a:tcPr marL="246836" marR="92563" marT="92563" marB="92563" anchor="ctr">
                    <a:lnL w="28575" cap="flat" cmpd="sng" algn="ctr">
                      <a:solidFill>
                        <a:srgbClr val="FFA500"/>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5332">
                <a:tc>
                  <a:txBody>
                    <a:bodyPr/>
                    <a:lstStyle/>
                    <a:p>
                      <a:pPr algn="l"/>
                      <a:r>
                        <a:rPr lang="en-IN" sz="1200" b="1" i="0">
                          <a:solidFill>
                            <a:srgbClr val="000000"/>
                          </a:solidFill>
                          <a:effectLst/>
                          <a:latin typeface="verdana" panose="020B0604030504040204" pitchFamily="34" charset="0"/>
                        </a:rPr>
                        <a:t>2) public Statement createStatement(int resultSetType,int resultSetConcurrency):</a:t>
                      </a:r>
                      <a:r>
                        <a:rPr lang="en-IN" sz="1200" b="0" i="0">
                          <a:solidFill>
                            <a:srgbClr val="000000"/>
                          </a:solidFill>
                          <a:effectLst/>
                          <a:latin typeface="verdana" panose="020B0604030504040204" pitchFamily="34" charset="0"/>
                        </a:rPr>
                        <a:t> Creates a Statement object that will generate ResultSet objects with the given type and concurrency.</a:t>
                      </a:r>
                    </a:p>
                  </a:txBody>
                  <a:tcPr marL="246836" marR="92563" marT="92563" marB="92563" anchor="ctr">
                    <a:lnL w="28575" cap="flat" cmpd="sng" algn="ctr">
                      <a:solidFill>
                        <a:srgbClr val="FFA500"/>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5133">
                <a:tc>
                  <a:txBody>
                    <a:bodyPr/>
                    <a:lstStyle/>
                    <a:p>
                      <a:pPr algn="l"/>
                      <a:r>
                        <a:rPr lang="en-IN" sz="1200" b="1" i="0">
                          <a:solidFill>
                            <a:srgbClr val="000000"/>
                          </a:solidFill>
                          <a:effectLst/>
                          <a:latin typeface="verdana" panose="020B0604030504040204" pitchFamily="34" charset="0"/>
                        </a:rPr>
                        <a:t>3) public void setAutoCommit(boolean status):</a:t>
                      </a:r>
                      <a:r>
                        <a:rPr lang="en-IN" sz="1200" b="0" i="0">
                          <a:solidFill>
                            <a:srgbClr val="000000"/>
                          </a:solidFill>
                          <a:effectLst/>
                          <a:latin typeface="verdana" panose="020B0604030504040204" pitchFamily="34" charset="0"/>
                        </a:rPr>
                        <a:t> is used to set the commit status.By default it is true.</a:t>
                      </a:r>
                    </a:p>
                  </a:txBody>
                  <a:tcPr marL="246836" marR="92563" marT="92563" marB="92563" anchor="ctr">
                    <a:lnL w="28575" cap="flat" cmpd="sng" algn="ctr">
                      <a:solidFill>
                        <a:srgbClr val="FFA500"/>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5133">
                <a:tc>
                  <a:txBody>
                    <a:bodyPr/>
                    <a:lstStyle/>
                    <a:p>
                      <a:pPr algn="l"/>
                      <a:r>
                        <a:rPr lang="en-IN" sz="1200" b="1" i="0">
                          <a:solidFill>
                            <a:srgbClr val="000000"/>
                          </a:solidFill>
                          <a:effectLst/>
                          <a:latin typeface="verdana" panose="020B0604030504040204" pitchFamily="34" charset="0"/>
                        </a:rPr>
                        <a:t>4) public void commit():</a:t>
                      </a:r>
                      <a:r>
                        <a:rPr lang="en-IN" sz="1200" b="0" i="0">
                          <a:solidFill>
                            <a:srgbClr val="000000"/>
                          </a:solidFill>
                          <a:effectLst/>
                          <a:latin typeface="verdana" panose="020B0604030504040204" pitchFamily="34" charset="0"/>
                        </a:rPr>
                        <a:t> saves the changes made since the previous commit/rollback permanent.</a:t>
                      </a:r>
                    </a:p>
                  </a:txBody>
                  <a:tcPr marL="246836" marR="92563" marT="92563" marB="92563" anchor="ctr">
                    <a:lnL w="28575" cap="flat" cmpd="sng" algn="ctr">
                      <a:solidFill>
                        <a:srgbClr val="FFA500"/>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5861">
                <a:tc>
                  <a:txBody>
                    <a:bodyPr/>
                    <a:lstStyle/>
                    <a:p>
                      <a:pPr algn="l"/>
                      <a:r>
                        <a:rPr lang="en-IN" sz="1200" b="1" i="0">
                          <a:solidFill>
                            <a:srgbClr val="000000"/>
                          </a:solidFill>
                          <a:effectLst/>
                          <a:latin typeface="verdana" panose="020B0604030504040204" pitchFamily="34" charset="0"/>
                        </a:rPr>
                        <a:t>5) public void rollback():</a:t>
                      </a:r>
                      <a:r>
                        <a:rPr lang="en-IN" sz="1200" b="0" i="0">
                          <a:solidFill>
                            <a:srgbClr val="000000"/>
                          </a:solidFill>
                          <a:effectLst/>
                          <a:latin typeface="verdana" panose="020B0604030504040204" pitchFamily="34" charset="0"/>
                        </a:rPr>
                        <a:t> Drops all changes made since the previous commit/rollback.</a:t>
                      </a:r>
                    </a:p>
                  </a:txBody>
                  <a:tcPr marL="246836" marR="92563" marT="92563" marB="92563" anchor="ctr">
                    <a:lnL w="28575" cap="flat" cmpd="sng" algn="ctr">
                      <a:solidFill>
                        <a:srgbClr val="FFA500"/>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5861">
                <a:tc>
                  <a:txBody>
                    <a:bodyPr/>
                    <a:lstStyle/>
                    <a:p>
                      <a:pPr algn="l"/>
                      <a:r>
                        <a:rPr lang="en-IN" sz="1200" b="1" i="0" dirty="0">
                          <a:solidFill>
                            <a:srgbClr val="000000"/>
                          </a:solidFill>
                          <a:effectLst/>
                          <a:latin typeface="verdana" panose="020B0604030504040204" pitchFamily="34" charset="0"/>
                        </a:rPr>
                        <a:t>6) public void close():</a:t>
                      </a:r>
                      <a:r>
                        <a:rPr lang="en-IN" sz="1200" b="0" i="0" dirty="0">
                          <a:solidFill>
                            <a:srgbClr val="000000"/>
                          </a:solidFill>
                          <a:effectLst/>
                          <a:latin typeface="verdana" panose="020B0604030504040204" pitchFamily="34" charset="0"/>
                        </a:rPr>
                        <a:t> closes the connection and Releases a JDBC resources immediately.</a:t>
                      </a:r>
                    </a:p>
                  </a:txBody>
                  <a:tcPr marL="246836" marR="92563" marT="92563" marB="92563" anchor="ctr">
                    <a:lnL w="28575" cap="flat" cmpd="sng" algn="ctr">
                      <a:solidFill>
                        <a:srgbClr val="FFA500"/>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26987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Statement interface</a:t>
            </a:r>
            <a:br>
              <a:rPr lang="en-IN" dirty="0"/>
            </a:br>
            <a:br>
              <a:rPr lang="en-IN" dirty="0"/>
            </a:br>
            <a:endParaRPr lang="en-IN" dirty="0"/>
          </a:p>
        </p:txBody>
      </p:sp>
      <p:sp>
        <p:nvSpPr>
          <p:cNvPr id="3" name="Content Placeholder 2"/>
          <p:cNvSpPr>
            <a:spLocks noGrp="1"/>
          </p:cNvSpPr>
          <p:nvPr>
            <p:ph idx="1"/>
          </p:nvPr>
        </p:nvSpPr>
        <p:spPr/>
        <p:txBody>
          <a:bodyPr/>
          <a:lstStyle/>
          <a:p>
            <a:pPr marL="0" indent="0">
              <a:buNone/>
            </a:pPr>
            <a:r>
              <a:rPr lang="en-IN" dirty="0"/>
              <a:t>The </a:t>
            </a:r>
            <a:r>
              <a:rPr lang="en-IN" b="1" dirty="0"/>
              <a:t>Statement interface</a:t>
            </a:r>
            <a:r>
              <a:rPr lang="en-IN" dirty="0"/>
              <a:t> provides methods to execute queries with the database. The statement interface is a factory of </a:t>
            </a:r>
            <a:r>
              <a:rPr lang="en-IN" dirty="0" err="1"/>
              <a:t>ResultSet</a:t>
            </a:r>
            <a:r>
              <a:rPr lang="en-IN" dirty="0"/>
              <a:t> i.e. it provides factory method to get the object of </a:t>
            </a:r>
            <a:r>
              <a:rPr lang="en-IN" dirty="0" err="1"/>
              <a:t>ResultSet</a:t>
            </a:r>
            <a:r>
              <a:rPr lang="en-IN" dirty="0"/>
              <a:t>.  </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877016657"/>
              </p:ext>
            </p:extLst>
          </p:nvPr>
        </p:nvGraphicFramePr>
        <p:xfrm>
          <a:off x="574675" y="2524443"/>
          <a:ext cx="8024813" cy="1859280"/>
        </p:xfrm>
        <a:graphic>
          <a:graphicData uri="http://schemas.openxmlformats.org/drawingml/2006/table">
            <a:tbl>
              <a:tblPr/>
              <a:tblGrid>
                <a:gridCol w="8024813">
                  <a:extLst>
                    <a:ext uri="{9D8B030D-6E8A-4147-A177-3AD203B41FA5}">
                      <a16:colId xmlns:a16="http://schemas.microsoft.com/office/drawing/2014/main" val="20000"/>
                    </a:ext>
                  </a:extLst>
                </a:gridCol>
              </a:tblGrid>
              <a:tr h="0">
                <a:tc>
                  <a:txBody>
                    <a:bodyPr/>
                    <a:lstStyle/>
                    <a:p>
                      <a:pPr algn="l"/>
                      <a:r>
                        <a:rPr lang="en-IN" sz="1400" b="1" i="0" dirty="0">
                          <a:solidFill>
                            <a:srgbClr val="000000"/>
                          </a:solidFill>
                          <a:effectLst/>
                          <a:latin typeface="verdana" panose="020B0604030504040204" pitchFamily="34" charset="0"/>
                        </a:rPr>
                        <a:t>1) public </a:t>
                      </a:r>
                      <a:r>
                        <a:rPr lang="en-IN" sz="1400" b="1" i="0" dirty="0" err="1">
                          <a:solidFill>
                            <a:srgbClr val="000000"/>
                          </a:solidFill>
                          <a:effectLst/>
                          <a:latin typeface="verdana" panose="020B0604030504040204" pitchFamily="34" charset="0"/>
                        </a:rPr>
                        <a:t>ResultSet</a:t>
                      </a:r>
                      <a:r>
                        <a:rPr lang="en-IN" sz="1400" b="1" i="0" dirty="0">
                          <a:solidFill>
                            <a:srgbClr val="000000"/>
                          </a:solidFill>
                          <a:effectLst/>
                          <a:latin typeface="verdana" panose="020B0604030504040204" pitchFamily="34" charset="0"/>
                        </a:rPr>
                        <a:t> </a:t>
                      </a:r>
                      <a:r>
                        <a:rPr lang="en-IN" sz="1400" b="1" i="0" dirty="0" err="1">
                          <a:solidFill>
                            <a:srgbClr val="000000"/>
                          </a:solidFill>
                          <a:effectLst/>
                          <a:latin typeface="verdana" panose="020B0604030504040204" pitchFamily="34" charset="0"/>
                        </a:rPr>
                        <a:t>executeQuery</a:t>
                      </a:r>
                      <a:r>
                        <a:rPr lang="en-IN" sz="1400" b="1" i="0" dirty="0">
                          <a:solidFill>
                            <a:srgbClr val="000000"/>
                          </a:solidFill>
                          <a:effectLst/>
                          <a:latin typeface="verdana" panose="020B0604030504040204" pitchFamily="34" charset="0"/>
                        </a:rPr>
                        <a:t>(String </a:t>
                      </a:r>
                      <a:r>
                        <a:rPr lang="en-IN" sz="1400" b="1" i="0" dirty="0" err="1">
                          <a:solidFill>
                            <a:srgbClr val="000000"/>
                          </a:solidFill>
                          <a:effectLst/>
                          <a:latin typeface="verdana" panose="020B0604030504040204" pitchFamily="34" charset="0"/>
                        </a:rPr>
                        <a:t>sql</a:t>
                      </a:r>
                      <a:r>
                        <a:rPr lang="en-IN" sz="1400" b="1" i="0" dirty="0">
                          <a:solidFill>
                            <a:srgbClr val="000000"/>
                          </a:solidFill>
                          <a:effectLst/>
                          <a:latin typeface="verdana" panose="020B0604030504040204" pitchFamily="34" charset="0"/>
                        </a:rPr>
                        <a:t>):</a:t>
                      </a:r>
                      <a:r>
                        <a:rPr lang="en-IN" sz="1400" b="0" i="0" dirty="0">
                          <a:solidFill>
                            <a:srgbClr val="000000"/>
                          </a:solidFill>
                          <a:effectLst/>
                          <a:latin typeface="verdana" panose="020B0604030504040204" pitchFamily="34" charset="0"/>
                        </a:rPr>
                        <a:t> is used to execute SELECT query. It returns the object of </a:t>
                      </a:r>
                      <a:r>
                        <a:rPr lang="en-IN" sz="1400" b="0" i="0" dirty="0" err="1">
                          <a:solidFill>
                            <a:srgbClr val="000000"/>
                          </a:solidFill>
                          <a:effectLst/>
                          <a:latin typeface="verdana" panose="020B0604030504040204" pitchFamily="34" charset="0"/>
                        </a:rPr>
                        <a:t>ResultSet</a:t>
                      </a:r>
                      <a:r>
                        <a:rPr lang="en-IN" sz="1400" b="0" i="0" dirty="0">
                          <a:solidFill>
                            <a:srgbClr val="000000"/>
                          </a:solidFill>
                          <a:effectLst/>
                          <a:latin typeface="verdana" panose="020B0604030504040204" pitchFamily="34" charset="0"/>
                        </a:rPr>
                        <a:t>.</a:t>
                      </a:r>
                    </a:p>
                  </a:txBody>
                  <a:tcPr anchor="ctr">
                    <a:lnL>
                      <a:noFill/>
                    </a:lnL>
                    <a:lnR>
                      <a:noFill/>
                    </a:lnR>
                    <a:lnT>
                      <a:noFill/>
                    </a:lnT>
                    <a:lnB>
                      <a:noFill/>
                    </a:lnB>
                    <a:solidFill>
                      <a:srgbClr val="FFFFFF"/>
                    </a:solidFill>
                  </a:tcPr>
                </a:tc>
                <a:extLst>
                  <a:ext uri="{0D108BD9-81ED-4DB2-BD59-A6C34878D82A}">
                    <a16:rowId xmlns:a16="http://schemas.microsoft.com/office/drawing/2014/main" val="10000"/>
                  </a:ext>
                </a:extLst>
              </a:tr>
              <a:tr h="0">
                <a:tc>
                  <a:txBody>
                    <a:bodyPr/>
                    <a:lstStyle/>
                    <a:p>
                      <a:pPr algn="l"/>
                      <a:r>
                        <a:rPr lang="en-IN" sz="1400" b="1" i="0">
                          <a:solidFill>
                            <a:srgbClr val="000000"/>
                          </a:solidFill>
                          <a:effectLst/>
                          <a:latin typeface="verdana" panose="020B0604030504040204" pitchFamily="34" charset="0"/>
                        </a:rPr>
                        <a:t>2) public int executeUpdate(String sql):</a:t>
                      </a:r>
                      <a:r>
                        <a:rPr lang="en-IN" sz="1400" b="0" i="0">
                          <a:solidFill>
                            <a:srgbClr val="000000"/>
                          </a:solidFill>
                          <a:effectLst/>
                          <a:latin typeface="verdana" panose="020B0604030504040204" pitchFamily="34" charset="0"/>
                        </a:rPr>
                        <a:t> is used to execute specified query, it may be create, drop, insert, update, delete etc.</a:t>
                      </a:r>
                    </a:p>
                  </a:txBody>
                  <a:tcPr anchor="ctr">
                    <a:lnL>
                      <a:noFill/>
                    </a:lnL>
                    <a:lnR>
                      <a:noFill/>
                    </a:lnR>
                    <a:lnT>
                      <a:noFill/>
                    </a:lnT>
                    <a:lnB>
                      <a:noFill/>
                    </a:lnB>
                    <a:solidFill>
                      <a:srgbClr val="FFFFFF"/>
                    </a:solidFill>
                  </a:tcPr>
                </a:tc>
                <a:extLst>
                  <a:ext uri="{0D108BD9-81ED-4DB2-BD59-A6C34878D82A}">
                    <a16:rowId xmlns:a16="http://schemas.microsoft.com/office/drawing/2014/main" val="10001"/>
                  </a:ext>
                </a:extLst>
              </a:tr>
              <a:tr h="0">
                <a:tc>
                  <a:txBody>
                    <a:bodyPr/>
                    <a:lstStyle/>
                    <a:p>
                      <a:pPr algn="l"/>
                      <a:r>
                        <a:rPr lang="en-IN" sz="1400" b="1" i="0">
                          <a:solidFill>
                            <a:srgbClr val="000000"/>
                          </a:solidFill>
                          <a:effectLst/>
                          <a:latin typeface="verdana" panose="020B0604030504040204" pitchFamily="34" charset="0"/>
                        </a:rPr>
                        <a:t>3) public boolean execute(String sql):</a:t>
                      </a:r>
                      <a:r>
                        <a:rPr lang="en-IN" sz="1400" b="0" i="0">
                          <a:solidFill>
                            <a:srgbClr val="000000"/>
                          </a:solidFill>
                          <a:effectLst/>
                          <a:latin typeface="verdana" panose="020B0604030504040204" pitchFamily="34" charset="0"/>
                        </a:rPr>
                        <a:t> is used to execute queries that may return multiple results.</a:t>
                      </a:r>
                    </a:p>
                  </a:txBody>
                  <a:tcPr anchor="ctr">
                    <a:lnL>
                      <a:noFill/>
                    </a:lnL>
                    <a:lnR>
                      <a:noFill/>
                    </a:lnR>
                    <a:lnT>
                      <a:noFill/>
                    </a:lnT>
                    <a:lnB>
                      <a:noFill/>
                    </a:lnB>
                    <a:solidFill>
                      <a:srgbClr val="FFFFFF"/>
                    </a:solidFill>
                  </a:tcPr>
                </a:tc>
                <a:extLst>
                  <a:ext uri="{0D108BD9-81ED-4DB2-BD59-A6C34878D82A}">
                    <a16:rowId xmlns:a16="http://schemas.microsoft.com/office/drawing/2014/main" val="10002"/>
                  </a:ext>
                </a:extLst>
              </a:tr>
              <a:tr h="0">
                <a:tc>
                  <a:txBody>
                    <a:bodyPr/>
                    <a:lstStyle/>
                    <a:p>
                      <a:pPr algn="l"/>
                      <a:r>
                        <a:rPr lang="en-IN" sz="1400" b="1" i="0" dirty="0">
                          <a:solidFill>
                            <a:srgbClr val="000000"/>
                          </a:solidFill>
                          <a:effectLst/>
                          <a:latin typeface="verdana" panose="020B0604030504040204" pitchFamily="34" charset="0"/>
                        </a:rPr>
                        <a:t>4) public </a:t>
                      </a:r>
                      <a:r>
                        <a:rPr lang="en-IN" sz="1400" b="1" i="0" dirty="0" err="1">
                          <a:solidFill>
                            <a:srgbClr val="000000"/>
                          </a:solidFill>
                          <a:effectLst/>
                          <a:latin typeface="verdana" panose="020B0604030504040204" pitchFamily="34" charset="0"/>
                        </a:rPr>
                        <a:t>int</a:t>
                      </a:r>
                      <a:r>
                        <a:rPr lang="en-IN" sz="1400" b="1" i="0" dirty="0">
                          <a:solidFill>
                            <a:srgbClr val="000000"/>
                          </a:solidFill>
                          <a:effectLst/>
                          <a:latin typeface="verdana" panose="020B0604030504040204" pitchFamily="34" charset="0"/>
                        </a:rPr>
                        <a:t>[] </a:t>
                      </a:r>
                      <a:r>
                        <a:rPr lang="en-IN" sz="1400" b="1" i="0" dirty="0" err="1">
                          <a:solidFill>
                            <a:srgbClr val="000000"/>
                          </a:solidFill>
                          <a:effectLst/>
                          <a:latin typeface="verdana" panose="020B0604030504040204" pitchFamily="34" charset="0"/>
                        </a:rPr>
                        <a:t>executeBatch</a:t>
                      </a:r>
                      <a:r>
                        <a:rPr lang="en-IN" sz="1400" b="1" i="0" dirty="0">
                          <a:solidFill>
                            <a:srgbClr val="000000"/>
                          </a:solidFill>
                          <a:effectLst/>
                          <a:latin typeface="verdana" panose="020B0604030504040204" pitchFamily="34" charset="0"/>
                        </a:rPr>
                        <a:t>():</a:t>
                      </a:r>
                      <a:r>
                        <a:rPr lang="en-IN" sz="1400" b="0" i="0" dirty="0">
                          <a:solidFill>
                            <a:srgbClr val="000000"/>
                          </a:solidFill>
                          <a:effectLst/>
                          <a:latin typeface="verdana" panose="020B0604030504040204" pitchFamily="34" charset="0"/>
                        </a:rPr>
                        <a:t> is used to execute batch of commands.</a:t>
                      </a:r>
                    </a:p>
                  </a:txBody>
                  <a:tcPr anchor="ctr">
                    <a:lnL>
                      <a:noFill/>
                    </a:lnL>
                    <a:lnR>
                      <a:noFill/>
                    </a:lnR>
                    <a:lnT>
                      <a:noFill/>
                    </a:lnT>
                    <a:lnB>
                      <a:no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40665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Insert, Update and Delete using Statement.</a:t>
            </a:r>
          </a:p>
        </p:txBody>
      </p:sp>
      <p:sp>
        <p:nvSpPr>
          <p:cNvPr id="3" name="Content Placeholder 2"/>
          <p:cNvSpPr>
            <a:spLocks noGrp="1"/>
          </p:cNvSpPr>
          <p:nvPr>
            <p:ph idx="1"/>
          </p:nvPr>
        </p:nvSpPr>
        <p:spPr/>
        <p:txBody>
          <a:bodyPr/>
          <a:lstStyle/>
          <a:p>
            <a:pPr marL="357188" lvl="1" indent="0">
              <a:buNone/>
            </a:pPr>
            <a:r>
              <a:rPr lang="en-IN" dirty="0"/>
              <a:t>import </a:t>
            </a:r>
            <a:r>
              <a:rPr lang="en-IN" dirty="0" err="1"/>
              <a:t>java.sql</a:t>
            </a:r>
            <a:r>
              <a:rPr lang="en-IN" dirty="0"/>
              <a:t>.*;  </a:t>
            </a:r>
          </a:p>
          <a:p>
            <a:pPr marL="357188" lvl="1" indent="0">
              <a:buNone/>
            </a:pPr>
            <a:r>
              <a:rPr lang="en-IN" dirty="0"/>
              <a:t>class </a:t>
            </a:r>
            <a:r>
              <a:rPr lang="en-IN" dirty="0" err="1"/>
              <a:t>FetchRecord</a:t>
            </a:r>
            <a:r>
              <a:rPr lang="en-IN" dirty="0"/>
              <a:t>{  </a:t>
            </a:r>
          </a:p>
          <a:p>
            <a:pPr marL="357188" lvl="1" indent="0">
              <a:buNone/>
            </a:pPr>
            <a:r>
              <a:rPr lang="en-IN" dirty="0"/>
              <a:t>public static void main(String </a:t>
            </a:r>
            <a:r>
              <a:rPr lang="en-IN" dirty="0" err="1"/>
              <a:t>args</a:t>
            </a:r>
            <a:r>
              <a:rPr lang="en-IN" dirty="0"/>
              <a:t>[])throws Exception{  </a:t>
            </a:r>
          </a:p>
          <a:p>
            <a:pPr marL="357188" lvl="1" indent="0">
              <a:buNone/>
            </a:pPr>
            <a:r>
              <a:rPr lang="en-IN" dirty="0" err="1"/>
              <a:t>Class.forName</a:t>
            </a:r>
            <a:r>
              <a:rPr lang="en-IN" dirty="0"/>
              <a:t>("</a:t>
            </a:r>
            <a:r>
              <a:rPr lang="en-IN" dirty="0" err="1"/>
              <a:t>oracle.jdbc.driver.OracleDriver</a:t>
            </a:r>
            <a:r>
              <a:rPr lang="en-IN" dirty="0"/>
              <a:t>");  </a:t>
            </a:r>
          </a:p>
          <a:p>
            <a:pPr marL="357188" lvl="1" indent="0">
              <a:buNone/>
            </a:pPr>
            <a:r>
              <a:rPr lang="en-IN" dirty="0"/>
              <a:t>Connection con=</a:t>
            </a:r>
            <a:r>
              <a:rPr lang="en-IN" dirty="0" err="1"/>
              <a:t>DriverManager.getConnection</a:t>
            </a:r>
            <a:r>
              <a:rPr lang="en-IN" dirty="0"/>
              <a:t>("</a:t>
            </a:r>
            <a:r>
              <a:rPr lang="en-IN" dirty="0" err="1"/>
              <a:t>jdbc:oracle:thin</a:t>
            </a:r>
            <a:r>
              <a:rPr lang="en-IN" dirty="0"/>
              <a:t>:@localhost:1521:xe","system","oracle");  </a:t>
            </a:r>
          </a:p>
          <a:p>
            <a:pPr marL="357188" lvl="1" indent="0">
              <a:buNone/>
            </a:pPr>
            <a:r>
              <a:rPr lang="en-IN" dirty="0"/>
              <a:t>Statement </a:t>
            </a:r>
            <a:r>
              <a:rPr lang="en-IN" dirty="0" err="1"/>
              <a:t>stmt</a:t>
            </a:r>
            <a:r>
              <a:rPr lang="en-IN" dirty="0"/>
              <a:t>=</a:t>
            </a:r>
            <a:r>
              <a:rPr lang="en-IN" dirty="0" err="1"/>
              <a:t>con.createStatement</a:t>
            </a:r>
            <a:r>
              <a:rPr lang="en-IN" dirty="0"/>
              <a:t>();  </a:t>
            </a:r>
          </a:p>
          <a:p>
            <a:pPr marL="357188" lvl="1" indent="0">
              <a:buNone/>
            </a:pPr>
            <a:r>
              <a:rPr lang="en-IN" dirty="0"/>
              <a:t>  </a:t>
            </a:r>
          </a:p>
          <a:p>
            <a:pPr marL="357188" lvl="1" indent="0">
              <a:buNone/>
            </a:pPr>
            <a:r>
              <a:rPr lang="en-IN" dirty="0"/>
              <a:t>//</a:t>
            </a:r>
            <a:r>
              <a:rPr lang="en-IN" dirty="0" err="1"/>
              <a:t>stmt.executeUpdate</a:t>
            </a:r>
            <a:r>
              <a:rPr lang="en-IN" dirty="0"/>
              <a:t>("insert into emp765 values(33,'Irfan',50000)");  </a:t>
            </a:r>
          </a:p>
          <a:p>
            <a:pPr marL="357188" lvl="1" indent="0">
              <a:buNone/>
            </a:pPr>
            <a:r>
              <a:rPr lang="en-IN" dirty="0"/>
              <a:t>//</a:t>
            </a:r>
            <a:r>
              <a:rPr lang="en-IN" dirty="0" err="1"/>
              <a:t>int</a:t>
            </a:r>
            <a:r>
              <a:rPr lang="en-IN" dirty="0"/>
              <a:t> result=</a:t>
            </a:r>
            <a:r>
              <a:rPr lang="en-IN" dirty="0" err="1"/>
              <a:t>stmt.executeUpdate</a:t>
            </a:r>
            <a:r>
              <a:rPr lang="en-IN" dirty="0"/>
              <a:t>("update emp765 set name='</a:t>
            </a:r>
            <a:r>
              <a:rPr lang="en-IN" dirty="0" err="1"/>
              <a:t>Vimal</a:t>
            </a:r>
            <a:r>
              <a:rPr lang="en-IN" dirty="0"/>
              <a:t>',salary=10000 where id=33");  </a:t>
            </a:r>
          </a:p>
          <a:p>
            <a:pPr marL="357188" lvl="1" indent="0">
              <a:buNone/>
            </a:pPr>
            <a:r>
              <a:rPr lang="en-IN" dirty="0" err="1"/>
              <a:t>int</a:t>
            </a:r>
            <a:r>
              <a:rPr lang="en-IN" dirty="0"/>
              <a:t> result=</a:t>
            </a:r>
            <a:r>
              <a:rPr lang="en-IN" dirty="0" err="1"/>
              <a:t>stmt.executeUpdate</a:t>
            </a:r>
            <a:r>
              <a:rPr lang="en-IN" dirty="0"/>
              <a:t>("delete from emp765 where id=33");  </a:t>
            </a:r>
          </a:p>
          <a:p>
            <a:pPr marL="357188" lvl="1" indent="0">
              <a:buNone/>
            </a:pPr>
            <a:r>
              <a:rPr lang="en-IN" dirty="0" err="1"/>
              <a:t>System.out.println</a:t>
            </a:r>
            <a:r>
              <a:rPr lang="en-IN" dirty="0"/>
              <a:t>(result+" records affected");  </a:t>
            </a:r>
          </a:p>
          <a:p>
            <a:pPr marL="357188" lvl="1" indent="0">
              <a:buNone/>
            </a:pPr>
            <a:r>
              <a:rPr lang="en-IN" dirty="0" err="1"/>
              <a:t>con.close</a:t>
            </a:r>
            <a:r>
              <a:rPr lang="en-IN" dirty="0"/>
              <a:t>();  </a:t>
            </a:r>
          </a:p>
          <a:p>
            <a:pPr marL="357188" lvl="1" indent="0">
              <a:buNone/>
            </a:pPr>
            <a:r>
              <a:rPr lang="en-IN" dirty="0"/>
              <a:t>}} </a:t>
            </a:r>
          </a:p>
        </p:txBody>
      </p:sp>
    </p:spTree>
    <p:extLst>
      <p:ext uri="{BB962C8B-B14F-4D97-AF65-F5344CB8AC3E}">
        <p14:creationId xmlns:p14="http://schemas.microsoft.com/office/powerpoint/2010/main" val="3019065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ResultSet</a:t>
            </a:r>
            <a:r>
              <a:rPr lang="en-IN" dirty="0"/>
              <a:t> interface</a:t>
            </a:r>
          </a:p>
        </p:txBody>
      </p:sp>
      <p:sp>
        <p:nvSpPr>
          <p:cNvPr id="3" name="Content Placeholder 2"/>
          <p:cNvSpPr>
            <a:spLocks noGrp="1"/>
          </p:cNvSpPr>
          <p:nvPr>
            <p:ph idx="1"/>
          </p:nvPr>
        </p:nvSpPr>
        <p:spPr/>
        <p:txBody>
          <a:bodyPr/>
          <a:lstStyle/>
          <a:p>
            <a:r>
              <a:rPr lang="en-IN" dirty="0"/>
              <a:t>The object of </a:t>
            </a:r>
            <a:r>
              <a:rPr lang="en-IN" dirty="0" err="1"/>
              <a:t>ResultSet</a:t>
            </a:r>
            <a:r>
              <a:rPr lang="en-IN" dirty="0"/>
              <a:t> maintains a cursor pointing to a row of a table. Initially, cursor points to before the first row.</a:t>
            </a:r>
          </a:p>
          <a:p>
            <a:r>
              <a:rPr lang="en-IN" b="1" dirty="0"/>
              <a:t>By default, </a:t>
            </a:r>
            <a:r>
              <a:rPr lang="en-IN" b="1" dirty="0" err="1"/>
              <a:t>ResultSet</a:t>
            </a:r>
            <a:r>
              <a:rPr lang="en-IN" b="1" dirty="0"/>
              <a:t> object can be moved forward only and it is not updatable.</a:t>
            </a:r>
          </a:p>
          <a:p>
            <a:r>
              <a:rPr lang="en-IN" dirty="0"/>
              <a:t>But we can make this object to move forward and backward direction by passing either TYPE_SCROLL_INSENSITIVE or TYPE_SCROLL_SENSITIVE in </a:t>
            </a:r>
            <a:r>
              <a:rPr lang="en-IN" dirty="0" err="1"/>
              <a:t>createStatement</a:t>
            </a:r>
            <a:r>
              <a:rPr lang="en-IN" dirty="0"/>
              <a:t>(</a:t>
            </a:r>
            <a:r>
              <a:rPr lang="en-IN" dirty="0" err="1"/>
              <a:t>int,int</a:t>
            </a:r>
            <a:r>
              <a:rPr lang="en-IN" dirty="0"/>
              <a:t>) method as well as we can make this object as updatable by:</a:t>
            </a:r>
          </a:p>
          <a:p>
            <a:endParaRPr lang="en-IN" dirty="0"/>
          </a:p>
          <a:p>
            <a:pPr marL="357188" lvl="1" indent="0">
              <a:buNone/>
            </a:pPr>
            <a:r>
              <a:rPr lang="en-IN" sz="1400" dirty="0">
                <a:latin typeface="Courier New" panose="02070309020205020404" pitchFamily="49" charset="0"/>
                <a:cs typeface="Courier New" panose="02070309020205020404" pitchFamily="49" charset="0"/>
              </a:rPr>
              <a:t>Statement </a:t>
            </a:r>
            <a:r>
              <a:rPr lang="en-IN" sz="1400" dirty="0" err="1">
                <a:latin typeface="Courier New" panose="02070309020205020404" pitchFamily="49" charset="0"/>
                <a:cs typeface="Courier New" panose="02070309020205020404" pitchFamily="49" charset="0"/>
              </a:rPr>
              <a:t>stmt</a:t>
            </a:r>
            <a:r>
              <a:rPr lang="en-IN" sz="1400" dirty="0">
                <a:latin typeface="Courier New" panose="02070309020205020404" pitchFamily="49" charset="0"/>
                <a:cs typeface="Courier New" panose="02070309020205020404" pitchFamily="49" charset="0"/>
              </a:rPr>
              <a:t> = </a:t>
            </a:r>
            <a:r>
              <a:rPr lang="en-IN" sz="1400" dirty="0" err="1">
                <a:latin typeface="Courier New" panose="02070309020205020404" pitchFamily="49" charset="0"/>
                <a:cs typeface="Courier New" panose="02070309020205020404" pitchFamily="49" charset="0"/>
              </a:rPr>
              <a:t>con.createStatement</a:t>
            </a: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ResultSet.TYPE_SCROLL_INSENSITIVE</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ResultSet.CONCUR_UPDATABLE</a:t>
            </a:r>
            <a:r>
              <a:rPr lang="en-IN" sz="1400" dirty="0">
                <a:latin typeface="Courier New" panose="02070309020205020404" pitchFamily="49" charset="0"/>
                <a:cs typeface="Courier New" panose="02070309020205020404" pitchFamily="49" charset="0"/>
              </a:rPr>
              <a:t>);  </a:t>
            </a:r>
          </a:p>
          <a:p>
            <a:endParaRPr lang="en-IN" dirty="0"/>
          </a:p>
        </p:txBody>
      </p:sp>
    </p:spTree>
    <p:extLst>
      <p:ext uri="{BB962C8B-B14F-4D97-AF65-F5344CB8AC3E}">
        <p14:creationId xmlns:p14="http://schemas.microsoft.com/office/powerpoint/2010/main" val="3711382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Commonly used methods of </a:t>
            </a:r>
            <a:r>
              <a:rPr lang="en-IN" dirty="0" err="1"/>
              <a:t>ResultSet</a:t>
            </a:r>
            <a:r>
              <a:rPr lang="en-IN" dirty="0"/>
              <a:t> interface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71036496"/>
              </p:ext>
            </p:extLst>
          </p:nvPr>
        </p:nvGraphicFramePr>
        <p:xfrm>
          <a:off x="574675" y="1378041"/>
          <a:ext cx="7539014" cy="4653414"/>
        </p:xfrm>
        <a:graphic>
          <a:graphicData uri="http://schemas.openxmlformats.org/drawingml/2006/table">
            <a:tbl>
              <a:tblPr/>
              <a:tblGrid>
                <a:gridCol w="3868536">
                  <a:extLst>
                    <a:ext uri="{9D8B030D-6E8A-4147-A177-3AD203B41FA5}">
                      <a16:colId xmlns:a16="http://schemas.microsoft.com/office/drawing/2014/main" val="20000"/>
                    </a:ext>
                  </a:extLst>
                </a:gridCol>
                <a:gridCol w="3670478">
                  <a:extLst>
                    <a:ext uri="{9D8B030D-6E8A-4147-A177-3AD203B41FA5}">
                      <a16:colId xmlns:a16="http://schemas.microsoft.com/office/drawing/2014/main" val="20001"/>
                    </a:ext>
                  </a:extLst>
                </a:gridCol>
              </a:tblGrid>
              <a:tr h="463314">
                <a:tc>
                  <a:txBody>
                    <a:bodyPr/>
                    <a:lstStyle/>
                    <a:p>
                      <a:pPr algn="l" fontAlgn="t"/>
                      <a:r>
                        <a:rPr lang="en-IN" sz="1200" b="1" i="0">
                          <a:solidFill>
                            <a:srgbClr val="000000"/>
                          </a:solidFill>
                          <a:effectLst/>
                          <a:latin typeface="verdana" panose="020B0604030504040204" pitchFamily="34" charset="0"/>
                        </a:rPr>
                        <a:t>1) public boolean next():</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IN" sz="1200" b="0" i="0">
                          <a:solidFill>
                            <a:srgbClr val="000000"/>
                          </a:solidFill>
                          <a:effectLst/>
                          <a:latin typeface="verdana" panose="020B0604030504040204" pitchFamily="34" charset="0"/>
                        </a:rPr>
                        <a:t>is used to move the cursor to the one row next from the current position.</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0"/>
                  </a:ext>
                </a:extLst>
              </a:tr>
              <a:tr h="463314">
                <a:tc>
                  <a:txBody>
                    <a:bodyPr/>
                    <a:lstStyle/>
                    <a:p>
                      <a:pPr algn="l" fontAlgn="t"/>
                      <a:r>
                        <a:rPr lang="en-IN" sz="1200" b="1" i="0">
                          <a:solidFill>
                            <a:srgbClr val="000000"/>
                          </a:solidFill>
                          <a:effectLst/>
                          <a:latin typeface="verdana" panose="020B0604030504040204" pitchFamily="34" charset="0"/>
                        </a:rPr>
                        <a:t>2) public boolean previous():</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l" fontAlgn="t"/>
                      <a:r>
                        <a:rPr lang="en-IN" sz="1200" b="0" i="0">
                          <a:solidFill>
                            <a:srgbClr val="000000"/>
                          </a:solidFill>
                          <a:effectLst/>
                          <a:latin typeface="verdana" panose="020B0604030504040204" pitchFamily="34" charset="0"/>
                        </a:rPr>
                        <a:t>is used to move the cursor to the one row previous from the current position.</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897">
                <a:tc>
                  <a:txBody>
                    <a:bodyPr/>
                    <a:lstStyle/>
                    <a:p>
                      <a:pPr algn="l" fontAlgn="t"/>
                      <a:r>
                        <a:rPr lang="en-IN" sz="1200" b="1" i="0">
                          <a:solidFill>
                            <a:srgbClr val="000000"/>
                          </a:solidFill>
                          <a:effectLst/>
                          <a:latin typeface="verdana" panose="020B0604030504040204" pitchFamily="34" charset="0"/>
                        </a:rPr>
                        <a:t>3) public boolean first():</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IN" sz="1200" b="0" i="0">
                          <a:solidFill>
                            <a:srgbClr val="000000"/>
                          </a:solidFill>
                          <a:effectLst/>
                          <a:latin typeface="verdana" panose="020B0604030504040204" pitchFamily="34" charset="0"/>
                        </a:rPr>
                        <a:t>is used to move the cursor to the first row in result set object.</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2"/>
                  </a:ext>
                </a:extLst>
              </a:tr>
              <a:tr h="324897">
                <a:tc>
                  <a:txBody>
                    <a:bodyPr/>
                    <a:lstStyle/>
                    <a:p>
                      <a:pPr algn="l" fontAlgn="t"/>
                      <a:r>
                        <a:rPr lang="en-IN" sz="1200" b="1" i="0">
                          <a:solidFill>
                            <a:srgbClr val="000000"/>
                          </a:solidFill>
                          <a:effectLst/>
                          <a:latin typeface="verdana" panose="020B0604030504040204" pitchFamily="34" charset="0"/>
                        </a:rPr>
                        <a:t>4) public boolean last():</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l" fontAlgn="t"/>
                      <a:r>
                        <a:rPr lang="en-IN" sz="1200" b="0" i="0">
                          <a:solidFill>
                            <a:srgbClr val="000000"/>
                          </a:solidFill>
                          <a:effectLst/>
                          <a:latin typeface="verdana" panose="020B0604030504040204" pitchFamily="34" charset="0"/>
                        </a:rPr>
                        <a:t>is used to move the cursor to the last row in result set object.</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3314">
                <a:tc>
                  <a:txBody>
                    <a:bodyPr/>
                    <a:lstStyle/>
                    <a:p>
                      <a:pPr algn="l" fontAlgn="t"/>
                      <a:r>
                        <a:rPr lang="en-IN" sz="1200" b="1" i="0">
                          <a:solidFill>
                            <a:srgbClr val="000000"/>
                          </a:solidFill>
                          <a:effectLst/>
                          <a:latin typeface="verdana" panose="020B0604030504040204" pitchFamily="34" charset="0"/>
                        </a:rPr>
                        <a:t>5) public boolean absolute(int row):</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IN" sz="1200" b="0" i="0">
                          <a:solidFill>
                            <a:srgbClr val="000000"/>
                          </a:solidFill>
                          <a:effectLst/>
                          <a:latin typeface="verdana" panose="020B0604030504040204" pitchFamily="34" charset="0"/>
                        </a:rPr>
                        <a:t>is used to move the cursor to the specified row number in the ResultSet object.</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4"/>
                  </a:ext>
                </a:extLst>
              </a:tr>
              <a:tr h="601732">
                <a:tc>
                  <a:txBody>
                    <a:bodyPr/>
                    <a:lstStyle/>
                    <a:p>
                      <a:pPr algn="l" fontAlgn="t"/>
                      <a:r>
                        <a:rPr lang="en-IN" sz="1200" b="1" i="0">
                          <a:solidFill>
                            <a:srgbClr val="000000"/>
                          </a:solidFill>
                          <a:effectLst/>
                          <a:latin typeface="verdana" panose="020B0604030504040204" pitchFamily="34" charset="0"/>
                        </a:rPr>
                        <a:t>6) public boolean relative(int row):</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l" fontAlgn="t"/>
                      <a:r>
                        <a:rPr lang="en-IN" sz="1200" b="0" i="0">
                          <a:solidFill>
                            <a:srgbClr val="000000"/>
                          </a:solidFill>
                          <a:effectLst/>
                          <a:latin typeface="verdana" panose="020B0604030504040204" pitchFamily="34" charset="0"/>
                        </a:rPr>
                        <a:t>is used to move the cursor to the relative row number in the ResultSet object, it may be positive or negative.</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3314">
                <a:tc>
                  <a:txBody>
                    <a:bodyPr/>
                    <a:lstStyle/>
                    <a:p>
                      <a:pPr algn="l" fontAlgn="t"/>
                      <a:r>
                        <a:rPr lang="en-IN" sz="1200" b="1" i="0">
                          <a:solidFill>
                            <a:srgbClr val="000000"/>
                          </a:solidFill>
                          <a:effectLst/>
                          <a:latin typeface="verdana" panose="020B0604030504040204" pitchFamily="34" charset="0"/>
                        </a:rPr>
                        <a:t>7) public int getInt(int columnIndex):</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IN" sz="1200" b="0" i="0">
                          <a:solidFill>
                            <a:srgbClr val="000000"/>
                          </a:solidFill>
                          <a:effectLst/>
                          <a:latin typeface="verdana" panose="020B0604030504040204" pitchFamily="34" charset="0"/>
                        </a:rPr>
                        <a:t>is used to return the data of specified column index of the current row as int.</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6"/>
                  </a:ext>
                </a:extLst>
              </a:tr>
              <a:tr h="463314">
                <a:tc>
                  <a:txBody>
                    <a:bodyPr/>
                    <a:lstStyle/>
                    <a:p>
                      <a:pPr algn="l" fontAlgn="t"/>
                      <a:r>
                        <a:rPr lang="en-IN" sz="1200" b="1" i="0" dirty="0">
                          <a:solidFill>
                            <a:srgbClr val="000000"/>
                          </a:solidFill>
                          <a:effectLst/>
                          <a:latin typeface="verdana" panose="020B0604030504040204" pitchFamily="34" charset="0"/>
                        </a:rPr>
                        <a:t>8) public </a:t>
                      </a:r>
                      <a:r>
                        <a:rPr lang="en-IN" sz="1200" b="1" i="0" dirty="0" err="1">
                          <a:solidFill>
                            <a:srgbClr val="000000"/>
                          </a:solidFill>
                          <a:effectLst/>
                          <a:latin typeface="verdana" panose="020B0604030504040204" pitchFamily="34" charset="0"/>
                        </a:rPr>
                        <a:t>int</a:t>
                      </a:r>
                      <a:r>
                        <a:rPr lang="en-IN" sz="1200" b="1" i="0" dirty="0">
                          <a:solidFill>
                            <a:srgbClr val="000000"/>
                          </a:solidFill>
                          <a:effectLst/>
                          <a:latin typeface="verdana" panose="020B0604030504040204" pitchFamily="34" charset="0"/>
                        </a:rPr>
                        <a:t> </a:t>
                      </a:r>
                      <a:r>
                        <a:rPr lang="en-IN" sz="1200" b="1" i="0" dirty="0" err="1">
                          <a:solidFill>
                            <a:srgbClr val="000000"/>
                          </a:solidFill>
                          <a:effectLst/>
                          <a:latin typeface="verdana" panose="020B0604030504040204" pitchFamily="34" charset="0"/>
                        </a:rPr>
                        <a:t>getInt</a:t>
                      </a:r>
                      <a:r>
                        <a:rPr lang="en-IN" sz="1200" b="1" i="0" dirty="0">
                          <a:solidFill>
                            <a:srgbClr val="000000"/>
                          </a:solidFill>
                          <a:effectLst/>
                          <a:latin typeface="verdana" panose="020B0604030504040204" pitchFamily="34" charset="0"/>
                        </a:rPr>
                        <a:t>(String </a:t>
                      </a:r>
                      <a:r>
                        <a:rPr lang="en-IN" sz="1200" b="1" i="0" dirty="0" err="1">
                          <a:solidFill>
                            <a:srgbClr val="000000"/>
                          </a:solidFill>
                          <a:effectLst/>
                          <a:latin typeface="verdana" panose="020B0604030504040204" pitchFamily="34" charset="0"/>
                        </a:rPr>
                        <a:t>columnName</a:t>
                      </a:r>
                      <a:r>
                        <a:rPr lang="en-IN" sz="1200" b="1" i="0" dirty="0">
                          <a:solidFill>
                            <a:srgbClr val="000000"/>
                          </a:solidFill>
                          <a:effectLst/>
                          <a:latin typeface="verdana" panose="020B0604030504040204" pitchFamily="34" charset="0"/>
                        </a:rPr>
                        <a:t>):</a:t>
                      </a:r>
                      <a:endParaRPr lang="en-IN" sz="1200" b="0" i="0" dirty="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l" fontAlgn="t"/>
                      <a:r>
                        <a:rPr lang="en-IN" sz="1200" b="0" i="0">
                          <a:solidFill>
                            <a:srgbClr val="000000"/>
                          </a:solidFill>
                          <a:effectLst/>
                          <a:latin typeface="verdana" panose="020B0604030504040204" pitchFamily="34" charset="0"/>
                        </a:rPr>
                        <a:t>is used to return the data of specified column name of the current row as int.</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3314">
                <a:tc>
                  <a:txBody>
                    <a:bodyPr/>
                    <a:lstStyle/>
                    <a:p>
                      <a:pPr algn="l" fontAlgn="t"/>
                      <a:r>
                        <a:rPr lang="en-IN" sz="1200" b="1" i="0">
                          <a:solidFill>
                            <a:srgbClr val="000000"/>
                          </a:solidFill>
                          <a:effectLst/>
                          <a:latin typeface="verdana" panose="020B0604030504040204" pitchFamily="34" charset="0"/>
                        </a:rPr>
                        <a:t>9) public String getString(int columnIndex):</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IN" sz="1200" b="0" i="0">
                          <a:solidFill>
                            <a:srgbClr val="000000"/>
                          </a:solidFill>
                          <a:effectLst/>
                          <a:latin typeface="verdana" panose="020B0604030504040204" pitchFamily="34" charset="0"/>
                        </a:rPr>
                        <a:t>is used to return the data of specified column index of the current row as String.</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8"/>
                  </a:ext>
                </a:extLst>
              </a:tr>
              <a:tr h="463314">
                <a:tc>
                  <a:txBody>
                    <a:bodyPr/>
                    <a:lstStyle/>
                    <a:p>
                      <a:pPr algn="l" fontAlgn="t"/>
                      <a:r>
                        <a:rPr lang="en-IN" sz="1200" b="1" i="0">
                          <a:solidFill>
                            <a:srgbClr val="000000"/>
                          </a:solidFill>
                          <a:effectLst/>
                          <a:latin typeface="verdana" panose="020B0604030504040204" pitchFamily="34" charset="0"/>
                        </a:rPr>
                        <a:t>10) public String getString(String columnName):</a:t>
                      </a:r>
                      <a:endParaRPr lang="en-IN" sz="1200" b="0" i="0">
                        <a:solidFill>
                          <a:srgbClr val="000000"/>
                        </a:solidFill>
                        <a:effectLst/>
                        <a:latin typeface="verdana" panose="020B0604030504040204" pitchFamily="34" charset="0"/>
                      </a:endParaRP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l" fontAlgn="t"/>
                      <a:r>
                        <a:rPr lang="en-IN" sz="1200" b="0" i="0" dirty="0">
                          <a:solidFill>
                            <a:srgbClr val="000000"/>
                          </a:solidFill>
                          <a:effectLst/>
                          <a:latin typeface="verdana" panose="020B0604030504040204" pitchFamily="34" charset="0"/>
                        </a:rPr>
                        <a:t>is used to return the data of specified column name of the current row as String.</a:t>
                      </a:r>
                    </a:p>
                  </a:txBody>
                  <a:tcPr marL="19241" marR="19241" marT="19241" marB="19241">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986271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Example of Scrollable </a:t>
            </a:r>
            <a:r>
              <a:rPr lang="en-IN" sz="1800" dirty="0" err="1"/>
              <a:t>ResultSet</a:t>
            </a:r>
            <a:r>
              <a:rPr lang="en-IN" sz="1800" dirty="0"/>
              <a:t> (retrieve data of 3</a:t>
            </a:r>
            <a:r>
              <a:rPr lang="en-IN" sz="1800" baseline="30000" dirty="0"/>
              <a:t>rd</a:t>
            </a:r>
            <a:r>
              <a:rPr lang="en-IN" sz="1800" dirty="0"/>
              <a:t> row)</a:t>
            </a:r>
          </a:p>
        </p:txBody>
      </p:sp>
      <p:sp>
        <p:nvSpPr>
          <p:cNvPr id="3" name="Content Placeholder 2"/>
          <p:cNvSpPr>
            <a:spLocks noGrp="1"/>
          </p:cNvSpPr>
          <p:nvPr>
            <p:ph idx="1"/>
          </p:nvPr>
        </p:nvSpPr>
        <p:spPr>
          <a:xfrm>
            <a:off x="574675" y="1228322"/>
            <a:ext cx="8024813" cy="3598863"/>
          </a:xfrm>
        </p:spPr>
        <p:txBody>
          <a:bodyPr/>
          <a:lstStyle/>
          <a:p>
            <a:pPr marL="0" indent="0">
              <a:buNone/>
            </a:pPr>
            <a:r>
              <a:rPr lang="en-IN" dirty="0"/>
              <a:t>import </a:t>
            </a:r>
            <a:r>
              <a:rPr lang="en-IN" dirty="0" err="1"/>
              <a:t>java.sql</a:t>
            </a:r>
            <a:r>
              <a:rPr lang="en-IN" dirty="0"/>
              <a:t>.*;  </a:t>
            </a:r>
          </a:p>
          <a:p>
            <a:pPr marL="0" indent="0">
              <a:buNone/>
            </a:pPr>
            <a:r>
              <a:rPr lang="en-IN" dirty="0"/>
              <a:t>class </a:t>
            </a:r>
            <a:r>
              <a:rPr lang="en-IN" dirty="0" err="1"/>
              <a:t>FetchRecord</a:t>
            </a:r>
            <a:r>
              <a:rPr lang="en-IN" dirty="0"/>
              <a:t>{  </a:t>
            </a:r>
          </a:p>
          <a:p>
            <a:pPr marL="0" indent="0">
              <a:buNone/>
            </a:pPr>
            <a:r>
              <a:rPr lang="en-IN" dirty="0"/>
              <a:t>public static void main(String </a:t>
            </a:r>
            <a:r>
              <a:rPr lang="en-IN" dirty="0" err="1"/>
              <a:t>args</a:t>
            </a:r>
            <a:r>
              <a:rPr lang="en-IN" dirty="0"/>
              <a:t>[])throws Exception{  </a:t>
            </a:r>
          </a:p>
          <a:p>
            <a:pPr marL="0" indent="0">
              <a:buNone/>
            </a:pPr>
            <a:r>
              <a:rPr lang="en-IN" dirty="0"/>
              <a:t>  </a:t>
            </a:r>
          </a:p>
          <a:p>
            <a:pPr marL="0" indent="0">
              <a:buNone/>
            </a:pPr>
            <a:r>
              <a:rPr lang="en-IN" dirty="0" err="1"/>
              <a:t>Class.forName</a:t>
            </a:r>
            <a:r>
              <a:rPr lang="en-IN" dirty="0"/>
              <a:t>("</a:t>
            </a:r>
            <a:r>
              <a:rPr lang="en-IN" dirty="0" err="1"/>
              <a:t>oracle.jdbc.driver.OracleDriver</a:t>
            </a:r>
            <a:r>
              <a:rPr lang="en-IN" dirty="0"/>
              <a:t>");  </a:t>
            </a:r>
          </a:p>
          <a:p>
            <a:pPr marL="0" indent="0">
              <a:buNone/>
            </a:pPr>
            <a:r>
              <a:rPr lang="en-IN" dirty="0"/>
              <a:t>Connection con=</a:t>
            </a:r>
            <a:r>
              <a:rPr lang="en-IN" dirty="0" err="1"/>
              <a:t>DriverManager.getConnection</a:t>
            </a:r>
            <a:r>
              <a:rPr lang="en-IN" dirty="0"/>
              <a:t>("</a:t>
            </a:r>
            <a:r>
              <a:rPr lang="en-IN" dirty="0" err="1"/>
              <a:t>jdbc:oracle:thin</a:t>
            </a:r>
            <a:r>
              <a:rPr lang="en-IN" dirty="0"/>
              <a:t>:@localhost:1521:xe","system","oracle");  </a:t>
            </a:r>
          </a:p>
          <a:p>
            <a:pPr marL="0" indent="0">
              <a:buNone/>
            </a:pPr>
            <a:r>
              <a:rPr lang="en-IN" dirty="0"/>
              <a:t>Statement </a:t>
            </a:r>
            <a:r>
              <a:rPr lang="en-IN" dirty="0" err="1"/>
              <a:t>stmt</a:t>
            </a:r>
            <a:r>
              <a:rPr lang="en-IN" dirty="0"/>
              <a:t>=</a:t>
            </a:r>
            <a:r>
              <a:rPr lang="en-IN" dirty="0" err="1"/>
              <a:t>con.createStatement</a:t>
            </a:r>
            <a:r>
              <a:rPr lang="en-IN" dirty="0"/>
              <a:t>(</a:t>
            </a:r>
            <a:r>
              <a:rPr lang="en-IN" dirty="0" err="1"/>
              <a:t>ResultSet.TYPE_SCROLL_SENSITIVE,ResultSet.CONCUR_UPDATABLE</a:t>
            </a:r>
            <a:r>
              <a:rPr lang="en-IN" dirty="0"/>
              <a:t>);  </a:t>
            </a:r>
          </a:p>
          <a:p>
            <a:pPr marL="0" indent="0">
              <a:buNone/>
            </a:pPr>
            <a:r>
              <a:rPr lang="en-IN" dirty="0" err="1"/>
              <a:t>ResultSet</a:t>
            </a:r>
            <a:r>
              <a:rPr lang="en-IN" dirty="0"/>
              <a:t> </a:t>
            </a:r>
            <a:r>
              <a:rPr lang="en-IN" dirty="0" err="1"/>
              <a:t>rs</a:t>
            </a:r>
            <a:r>
              <a:rPr lang="en-IN" dirty="0"/>
              <a:t>=</a:t>
            </a:r>
            <a:r>
              <a:rPr lang="en-IN" dirty="0" err="1"/>
              <a:t>stmt.executeQuery</a:t>
            </a:r>
            <a:r>
              <a:rPr lang="en-IN" dirty="0"/>
              <a:t>("select * from emp765");  </a:t>
            </a:r>
          </a:p>
          <a:p>
            <a:pPr marL="0" indent="0">
              <a:buNone/>
            </a:pPr>
            <a:r>
              <a:rPr lang="en-IN" dirty="0"/>
              <a:t>  </a:t>
            </a:r>
          </a:p>
          <a:p>
            <a:pPr marL="0" indent="0">
              <a:buNone/>
            </a:pPr>
            <a:r>
              <a:rPr lang="en-IN" dirty="0"/>
              <a:t>//getting the record of 3rd row  </a:t>
            </a:r>
          </a:p>
          <a:p>
            <a:pPr marL="0" indent="0">
              <a:buNone/>
            </a:pPr>
            <a:r>
              <a:rPr lang="en-IN" dirty="0" err="1"/>
              <a:t>rs.absolute</a:t>
            </a:r>
            <a:r>
              <a:rPr lang="en-IN" dirty="0"/>
              <a:t>(3);  </a:t>
            </a:r>
          </a:p>
          <a:p>
            <a:pPr marL="0" indent="0">
              <a:buNone/>
            </a:pPr>
            <a:r>
              <a:rPr lang="en-IN" dirty="0" err="1"/>
              <a:t>System.out.println</a:t>
            </a:r>
            <a:r>
              <a:rPr lang="en-IN" dirty="0"/>
              <a:t>(</a:t>
            </a:r>
            <a:r>
              <a:rPr lang="en-IN" dirty="0" err="1"/>
              <a:t>rs.getString</a:t>
            </a:r>
            <a:r>
              <a:rPr lang="en-IN" dirty="0"/>
              <a:t>(1)+" "+</a:t>
            </a:r>
            <a:r>
              <a:rPr lang="en-IN" dirty="0" err="1"/>
              <a:t>rs.getString</a:t>
            </a:r>
            <a:r>
              <a:rPr lang="en-IN" dirty="0"/>
              <a:t>(2)+" "+</a:t>
            </a:r>
            <a:r>
              <a:rPr lang="en-IN" dirty="0" err="1"/>
              <a:t>rs.getString</a:t>
            </a:r>
            <a:r>
              <a:rPr lang="en-IN" dirty="0"/>
              <a:t>(3));  </a:t>
            </a:r>
          </a:p>
          <a:p>
            <a:pPr marL="0" indent="0">
              <a:buNone/>
            </a:pPr>
            <a:r>
              <a:rPr lang="en-IN" dirty="0"/>
              <a:t>  </a:t>
            </a:r>
          </a:p>
          <a:p>
            <a:pPr marL="0" indent="0">
              <a:buNone/>
            </a:pPr>
            <a:r>
              <a:rPr lang="en-IN" dirty="0" err="1"/>
              <a:t>con.close</a:t>
            </a:r>
            <a:r>
              <a:rPr lang="en-IN" dirty="0"/>
              <a:t>();  </a:t>
            </a:r>
          </a:p>
          <a:p>
            <a:pPr marL="0" indent="0">
              <a:buNone/>
            </a:pPr>
            <a:r>
              <a:rPr lang="en-IN" dirty="0"/>
              <a:t>}} </a:t>
            </a:r>
          </a:p>
        </p:txBody>
      </p:sp>
    </p:spTree>
    <p:extLst>
      <p:ext uri="{BB962C8B-B14F-4D97-AF65-F5344CB8AC3E}">
        <p14:creationId xmlns:p14="http://schemas.microsoft.com/office/powerpoint/2010/main" val="12804506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TYLE" val="AcnSubjectTitle"/>
  <p:tag name="DATE" val="9/12/2009 10:31:47 AM"/>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LLEFT" val=" 210.125"/>
  <p:tag name="LTOP" val=" 469.875"/>
  <p:tag name="RESIZE" val="Yes"/>
</p:tagLst>
</file>

<file path=ppt/theme/theme1.xml><?xml version="1.0" encoding="utf-8"?>
<a:theme xmlns:a="http://schemas.openxmlformats.org/drawingml/2006/main" name="Presentation_ANZ">
  <a:themeElements>
    <a:clrScheme name="Presentation_ANZ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fontScheme name="Presentation_ANZ">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esentation_ANZ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Report_Logo_ANZ">
  <a:themeElements>
    <a:clrScheme name="">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fontScheme name="1_Report_Logo_ANZ">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Report_Logo_ANZ 1">
        <a:dk1>
          <a:srgbClr val="000000"/>
        </a:dk1>
        <a:lt1>
          <a:srgbClr val="FFFFFF"/>
        </a:lt1>
        <a:dk2>
          <a:srgbClr val="004165"/>
        </a:dk2>
        <a:lt2>
          <a:srgbClr val="747678"/>
        </a:lt2>
        <a:accent1>
          <a:srgbClr val="007DBA"/>
        </a:accent1>
        <a:accent2>
          <a:srgbClr val="5BC6E8"/>
        </a:accent2>
        <a:accent3>
          <a:srgbClr val="FFFFFF"/>
        </a:accent3>
        <a:accent4>
          <a:srgbClr val="000000"/>
        </a:accent4>
        <a:accent5>
          <a:srgbClr val="AABFD9"/>
        </a:accent5>
        <a:accent6>
          <a:srgbClr val="52B3D2"/>
        </a:accent6>
        <a:hlink>
          <a:srgbClr val="589199"/>
        </a:hlink>
        <a:folHlink>
          <a:srgbClr val="FDC82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fontScheme name="1_Default Desig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Presentation_ANZ</Template>
  <TotalTime>114644</TotalTime>
  <Words>2604</Words>
  <Application>Microsoft Office PowerPoint</Application>
  <PresentationFormat>On-screen Show (4:3)</PresentationFormat>
  <Paragraphs>718</Paragraphs>
  <Slides>38</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38</vt:i4>
      </vt:variant>
    </vt:vector>
  </HeadingPairs>
  <TitlesOfParts>
    <vt:vector size="48" baseType="lpstr">
      <vt:lpstr>Arial</vt:lpstr>
      <vt:lpstr>Corbel</vt:lpstr>
      <vt:lpstr>Courier New</vt:lpstr>
      <vt:lpstr>Times New Roman</vt:lpstr>
      <vt:lpstr>verdana</vt:lpstr>
      <vt:lpstr>verdana</vt:lpstr>
      <vt:lpstr>Wingdings</vt:lpstr>
      <vt:lpstr>Presentation_ANZ</vt:lpstr>
      <vt:lpstr>1_Report_Logo_ANZ</vt:lpstr>
      <vt:lpstr>1_Default Design</vt:lpstr>
      <vt:lpstr>Java &amp; JEE Training  Day 23 – Examples of File IO &amp; Introduction to JDBC</vt:lpstr>
      <vt:lpstr>Java File IO Examples Contd…</vt:lpstr>
      <vt:lpstr>FileReader Example</vt:lpstr>
      <vt:lpstr>FileWriter Example</vt:lpstr>
      <vt:lpstr>File Example: Creating Directories</vt:lpstr>
      <vt:lpstr>File Example: Listing Directories</vt:lpstr>
      <vt:lpstr>File Example: Create a file </vt:lpstr>
      <vt:lpstr>How to read file in Java – BufferedInputStream </vt:lpstr>
      <vt:lpstr>How to read file in Java using BufferedReader </vt:lpstr>
      <vt:lpstr>How to write to file in Java using BufferedWriter </vt:lpstr>
      <vt:lpstr>Append content to File using FileWriter and BufferedWriter </vt:lpstr>
      <vt:lpstr>Append content to File using PrintWriter </vt:lpstr>
      <vt:lpstr>How to delete file in Java – delete() Method </vt:lpstr>
      <vt:lpstr>How to rename file in Java – renameTo() method </vt:lpstr>
      <vt:lpstr>How to Compress a File in GZIP Format </vt:lpstr>
      <vt:lpstr>How to Copy a File to another File in Java </vt:lpstr>
      <vt:lpstr>How to make a File Read Only in Java </vt:lpstr>
      <vt:lpstr>How to check if a File is hidden in Java </vt:lpstr>
      <vt:lpstr>Java &amp; JEE Training  JDBC – Java Database Connectivity</vt:lpstr>
      <vt:lpstr>Introduction</vt:lpstr>
      <vt:lpstr>Data Hierarchy</vt:lpstr>
      <vt:lpstr>Databases</vt:lpstr>
      <vt:lpstr>JDBC – Java Database Connectivity</vt:lpstr>
      <vt:lpstr>JDBC Driver</vt:lpstr>
      <vt:lpstr>5 Steps to connect to the database in java</vt:lpstr>
      <vt:lpstr>5 Steps to connect to the database in java</vt:lpstr>
      <vt:lpstr>Working with Databases… Instruction.</vt:lpstr>
      <vt:lpstr>HR USER / SCHEMA</vt:lpstr>
      <vt:lpstr>Demo of HR Schema </vt:lpstr>
      <vt:lpstr>Ojdbc6.jar</vt:lpstr>
      <vt:lpstr>JDBC Example… Connecting to the database.</vt:lpstr>
      <vt:lpstr>DriverManager class  </vt:lpstr>
      <vt:lpstr>Connection interface</vt:lpstr>
      <vt:lpstr>Statement interface  </vt:lpstr>
      <vt:lpstr>Example: Insert, Update and Delete using Statement.</vt:lpstr>
      <vt:lpstr>ResultSet interface</vt:lpstr>
      <vt:lpstr>Commonly used methods of ResultSet interface</vt:lpstr>
      <vt:lpstr>Example of Scrollable ResultSet (retrieve data of 3rd row)</vt:lpstr>
    </vt:vector>
  </TitlesOfParts>
  <Company>ANZ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TSM RP05 Antivirus  Steering Committee Meeting – #01  16 March 2012</dc:title>
  <dc:creator>Vijay Singh Sambasivam</dc:creator>
  <cp:lastModifiedBy>Rao, Pawan kumar</cp:lastModifiedBy>
  <cp:revision>5957</cp:revision>
  <dcterms:created xsi:type="dcterms:W3CDTF">2014-11-23T04:41:29Z</dcterms:created>
  <dcterms:modified xsi:type="dcterms:W3CDTF">2017-04-25T02:18:20Z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